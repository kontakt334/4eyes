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twarcie" id="{de1ad3f9-2808-a746-aadd-e30321d03cb9}">
          <p14:sldIdLst>
            <p14:sldId id="256"/>
            <p14:sldId id="257"/>
            <p14:sldId id="258"/>
          </p14:sldIdLst>
        </p14:section>
        <p14:section name="01 Teoria światła i ekspozycji" id="{15ff8715-81a5-27f3-e14d-1e14cb866da5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02 Praktyka podstawowa" id="{28b13ee7-0e8e-da86-b9dd-638348536ef0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03 Zaawansowane setupy" id="{b0e35fb5-ef44-c94f-5f6d-102be4de9c17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4 Fotografia produktu" id="{3d845a5f-f40f-4c4e-ca76-7cd128f33ec1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5 Setupy studyjne" id="{4f9f764b-21db-2ff8-536e-a0a736cf7c2e}">
          <p14:sldIdLst>
            <p14:sldId id="284"/>
            <p14:sldId id="285"/>
            <p14:sldId id="286"/>
            <p14:sldId id="287"/>
            <p14:sldId id="288"/>
          </p14:sldIdLst>
        </p14:section>
        <p14:section name="06 LAB i własne ćwiczenia" id="{7223129e-35b4-6297-7603-a1b8c2084eee}">
          <p14:sldIdLst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07 Podsumowanie" id="{ff13b668-722a-cd08-ab32-8e7fa412e8cd}">
          <p14:sldIdLst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 WARSZTATAMI: wstaw własne zdjęcia A i B w ramki (ta sama twarz albo ten sam flakon, zmienione tylko światło) i usuń napisy „tu wstaw zdjęcie”.
Krótkie „cześć” wystarczy, przedstawisz się na następnym slajdzie.
Pokaż oba zdjęcia obok siebie i nie opisuj ich. Zapytaj grupę: co się zmieniło? Zbierz dwie, trzy odpowiedzi.
Domknij: wszystko, co widzicie, to różnica światła. Dziś uczymy się robić to świadomie, jedną zmianą naraz.
ŚCIĄGA PROWADZĄCEGO
Schemat każdego bloku: przypomnij, co było wcześniej. Powiedz, czego uczestnicy nauczą się teraz. Pokaż demo. Zleć ćwiczenie. Pilnuj jednej zmiany naraz. Zbierz grupę na przegląd. Podsumuj jednym najważniejszym wnioskiem.
Zdanie awaryjne, gdy grupa się gubi: „Zatrzymajmy się. Wróćmy do zdjęcia bazowego i zmieńmy tylko jeden element, żeby zobaczyć, za co dokładnie odpowiada.”
Zasada prowadzenia: slajdy mają przypominać, nie zastępować prowadzącego. Na ekranie tylko najważniejsze hasła, szczegóły ustnie i przez demonstrację. Jeśli brakuje czasu, skróć teorię, ale nie rezygnuj z ćwiczenia i przeglądu.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Przywitaj grupę. Przedstaw krótko siebie i swoje doświadczenie.
Powiedz wprost: celem nie jest tylko zrobienie jednego dobrego zdjęcia. Celem jest zrozumienie procesu, który można później powtórzyć.
Zapowiedz, że na koniec dnia każdy będzie miał wypełnioną kartę setupu (Lighting Bible).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pokaż kolejność całego dnia. Powiedz, że każdy blok ma krótkie wyjaśnienie, demonstrację i ćwiczenie. Wskaż godziny przerw. Pytania można zadawać na bieżąco.
PRZED WARSZTATAMI: uzupełnij godziny w kolumnie GODZ. (w scenariuszu ich nie ma, tylko całość 9:00–17:50).
ZASADY: podkreśl, że nie chodzi o przypadkowe przesuwanie lamp. Każda zmiana ma konkretny cel. Zachęć do notatek w karcie setupu.
BHP (powiedz ustnie, pokazując na planie): kable zabezpieczone, statywy obciążone, lampy ustawione stabilnie, nie dotykamy gorącego sprzętu, zmiany ustawień komunikujemy grupie. Pokaż, gdzie są kable i zasilanie. Ustal, kto może przestawiać sprzęt.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Wyjaśnij każdy element bardzo krótko.
Nie wchodź jeszcze w zaawansowane wartości.
Pokaż ten sam obiekt przy różnych ustawieniach ISO.
Zapytaj: co zmieniło się w obrazie?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przykład zbyt wysokiego ISO.
Wyjaśnij różnicę między ciepłym i zimnym balansem bieli.
W beauty zwróć uwagę na kolor skóry.
Podkreśl, że poprawna ekspozycja zaczyna się przed postprodukcją.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różnicę między światłem ciągłym i błyskiem.
Wyjaśnij, że miękkość zależy między innymi od wielkości źródła względem obiektu.
Powiedz, że przy skórze i produktach ważna jest wierna reprodukcja koloru.
Wspomnij o wyborze świateł o wysokim CRI.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Ustaw jedno światło i obracaj je wokół modela.
Pytaj grupę, jak zmieniają się cienie.
Pokaż, że światło nie tylko rozjaśnia, ale też modeluje.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histogram na aparacie lub monitorze.
Wyjaśnij clipping w światłach i cieniach.
Jeśli masz monitor zewnętrzny, pokaż False Color.
Zaznacz, że oznaczenia kolorów mogą różnić się zależnie od urządzenia.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po jednym przykładzie błędu.
Nie poprawiaj wszystkiego jednocześnie.
Zapytaj grupę, co zmieniliby jako pierwsze.
Przy wideo wspomnij o teście flicker przy wysokiej liczbie klatek.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
Zdanie do przejścia między blokami: „Mamy już podstawę. Teraz zobaczymy, jak ten sam sposób myślenia zastosować w bardziej wymagającym setupie.”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Zademonstruj zmianę mocy lampy.
Pokaż efekt dyfuzora.
Wyjaśnij, kiedy przydaje się HSS.
Przy światłach LED wykonaj krótki test wideo.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Pokaż, jak wydawać krótkie i konkretne polecenia.
Zamiast „wyglądaj naturalnie” używaj instrukcji: „lekko obróć brodę w lewo”.
Zwróć uwagę na komfort i zgodę modela.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Zrób zdjęcie przed zmianą modyfikatora.
Zmień tylko modyfikator.
Zrób drugie zdjęcie.
Porównajcie cienie, kontrast i strukturę skóry.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Ustaw światło nad osią obiektywu.
Pokaż charakterystyczny cień pod nosem.
Przesuwaj źródło i obserwuj zmianę efektu.
Zapytaj, do jakich zdjęć pasuje ten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Podziel uczestników na pary.
Każda para wykonuje trzy krótkie testy.
Pilnuj, aby nie zmieniali kilku rzeczy naraz.
Zbierz grupę na szybki przegląd.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
Zdanie do przejścia między blokami: „Mamy już podstawę. Teraz zobaczymy, jak ten sam sposób myślenia zastosować w bardziej wymagającym setupie.”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Ustaw modela przy oknie.
Pokaż kadr bez blendy.
Dodaj blendę i pokaż różnicę po stronie cienia.
Zapowiedz późniejsze ćwiczenie Window Light + Reflector.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Włączaj każde źródło osobno.
Najpierw pokaż samo key.
Dodaj fill.
Na końcu dodaj rim i wyjaśnij jego funkcję.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skupiaj się na matematyce.
Pokaż wizualną różnicę między 2:1 i 4:1.
Zapytaj, który wariant pasuje do beauty, a który do edytorialu.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Zbuduj trzy warianty przy podobnej pozycji aparatu.
Pokaż zdjęcia obok siebie.
Wskaż, który setup jest najbardziej uniwersalny.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Najpierw ustaw jedną osobę.
Dodaj drugą bez zmiany światła.
Pokaż, gdzie pojawiają się problemy.
Skoryguj ustawienie grupy, nie tylko moc lampy.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
Zdanie do przejścia między blokami: „Mamy już podstawę. Teraz zobaczymy, jak ten sam sposób myślenia zastosować w bardziej wymagającym setupie.”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Ustaw błyszczący produkt.
Przesuwaj źródło i obserwuj odbicie.
Użyj czarnych i białych flag do kontroli refleksów.
Podkreśl: nie każde odbicie jest błędem.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produkt bez namiotu.
Dodaj light tent.
Porównaj odbicia i tło.
Wyjaśnij, że setup jest praktyczny, ale nie zawsze daje najbardziej charakterystyczny obraz marki.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kartę kolorów w danym świetle.
Wyjaśnij, że kolor produktu jest częścią komunikacji marki.
Jeśli masz ColorChecker, pokaż proces od zdjęcia referencyjnego do korekcji.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Zrób trzy szybkie ustawienia.
Porównaj produkt matowy i błyszczący.
Zapytaj grupę, który wariant najlepiej pokazuje cechy produktu.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różnicę między przypadkowym ułożeniem a świadomą kompozycją.
Usuń jeden rekwizyt i zapytaj, czy kadr jest lepszy.
Przypomnij o zastosowaniu zdjęcia: reklama, sklep, social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
Zdanie do przejścia między blokami: „Mamy już podstawę. Teraz zobaczymy, jak ten sam sposób myślenia zastosować w bardziej wymagającym setupie.”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przykładowe konfiguracje.
Wyjaśnij, kiedy klient potrzebuje białego tła, a kiedy bardziej filmowego klimatu.
Przy greenscreenie pokaż znaczenie matowego, równego materiału.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Najpierw ustaw modela lub produkt.
Oświetl obiekt.
Dopiero potem dopasuj światło tła.
Pilnuj, żeby białe tło nie zdominowało obiektu.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Ustaw beauty dish lub softbox nad obiektywem.
Dodaj blendę albo drugie źródło pod modelem.
Pokaż wpływ dolnego fill na cienie pod oczami i brodą.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Połącz technikę ze sprzedażą i brandingiem.
Pokaż, że dobre zdjęcie nie musi być pojedynczym przypadkiem.
Zapytaj: co sprawia, że kilka zdjęć wygląda jak jedna kampania?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
Zdanie do przejścia między blokami: „Mamy już podstawę. Teraz zobaczymy, jak ten sam sposób myślenia zastosować w bardziej wymagającym setupie.”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Zbuduj setup bez lamp studyjnych.
Najpierw pokaż samą twarz lub produkt.
Dodaj blendę i porównaj rezultat.
Wskaż, jak odległość od okna zmienia kontrast.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przykładową kartę setupu.
Wypełnij ją razem z grupą.
Podkreśl, że dokumentacja pozwala wrócić do udanego efektu.
To zamienia eksperyment w powtarzalny proces.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Podziel uczestników na stanowiska.
Każda osoba lub para wybiera model albo produkt.
Nie rozwiązuj problemu od razu — najpierw zadawaj pytania.
Na końcu poproś o krótkie przedstawienie decyzji.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Nagraj kilka sekund zbliżenia oka.
Odtwórz materiał w zwolnieniu.
Pokaż, jak migotanie może być widoczne w catchlight.
Jeśli światło migocze, nie używaj go do slow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Zbuduj scenę z produktem i rekwizytami.
Usuwaj elementy po kolei.
Pytaj, co każdy element wnosi.
Podkreśl, że prostota często poprawia czytelność przekazu.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Przypomnij, co było wcześniej.
Powiedz, czego uczestnicy nauczą się teraz.
Zdanie do przejścia między blokami: „Mamy już podstawę. Teraz zobaczymy, jak ten sam sposób myślenia zastosować w bardziej wymagającym setupie.”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Omawiaj zdjęcia rzeczowo i konkretnie.
Zacznij od tego, co działa.
Daj jedną lub dwie najważniejsze poprawki.
Nie przeciążaj uczestników komentarzami.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Poproś uczestników o podanie własnych wniosków.
Uzupełnij ich odpowiedzi tylko najważniejszymi punktami.
Przejdź do rundy feedbacku.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Każdej osobie daj chwilę na wypowiedź.
Zapisz powtarzające się pytania.
Zbierz informacje, które pomogą ulepszyć kolejne warsztaty.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dokładnie, co uczestnicy otrzymają.
Wskaż sposób udostępnienia materiałów.
Zaproponuj grupę kontaktową na Telegramie lub Instagramie.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Podziękuj uczestnikom.
Odpowiedz na ostatnie pytania.
Zrób zdjęcie grupowe, jeśli wszyscy wyrażą zgodę.
Zakończ konkretnym zadaniem: powtórzyć jeden setup w ciągu tygodnia.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WARCIE_TYTUL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8735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8735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5935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EYEZ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WARCIE_HAS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8735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8735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5935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EYEZ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822960" y="1371600"/>
            <a:ext cx="100584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WARCIE_SEKCJ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8735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8735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5935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EYEZ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 sama scena. Co się zmieniło?</a:t>
            </a:r>
            <a:endParaRPr lang="en-US" sz="4000" dirty="0"/>
          </a:p>
        </p:txBody>
      </p:sp>
      <p:sp>
        <p:nvSpPr>
          <p:cNvPr id="3" name="Ramka zdjecia A"/>
          <p:cNvSpPr/>
          <p:nvPr/>
        </p:nvSpPr>
        <p:spPr>
          <a:xfrm>
            <a:off x="822960" y="1783080"/>
            <a:ext cx="5042916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kst 2"/>
          <p:cNvSpPr txBox="1"/>
          <p:nvPr/>
        </p:nvSpPr>
        <p:spPr>
          <a:xfrm>
            <a:off x="822960" y="3520440"/>
            <a:ext cx="5042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tu wstaw zdjęcie A</a:t>
            </a:r>
            <a:endParaRPr lang="en-US" sz="1400" dirty="0"/>
          </a:p>
        </p:txBody>
      </p:sp>
      <p:sp>
        <p:nvSpPr>
          <p:cNvPr id="5" name="Tekst 3"/>
          <p:cNvSpPr txBox="1"/>
          <p:nvPr/>
        </p:nvSpPr>
        <p:spPr>
          <a:xfrm>
            <a:off x="1097280" y="5074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Ramka zdjecia B"/>
          <p:cNvSpPr/>
          <p:nvPr/>
        </p:nvSpPr>
        <p:spPr>
          <a:xfrm>
            <a:off x="6323076" y="1783080"/>
            <a:ext cx="5042916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kst 5"/>
          <p:cNvSpPr txBox="1"/>
          <p:nvPr/>
        </p:nvSpPr>
        <p:spPr>
          <a:xfrm>
            <a:off x="6323076" y="3520440"/>
            <a:ext cx="5042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tu wstaw zdjęcie B</a:t>
            </a:r>
            <a:endParaRPr lang="en-US" sz="1400" dirty="0"/>
          </a:p>
        </p:txBody>
      </p:sp>
      <p:sp>
        <p:nvSpPr>
          <p:cNvPr id="8" name="Tekst 6"/>
          <p:cNvSpPr txBox="1"/>
          <p:nvPr/>
        </p:nvSpPr>
        <p:spPr>
          <a:xfrm>
            <a:off x="6597396" y="5074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137160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Dziś nie robimy jednego dobrego zdjęcia.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Uczymy się procesu, który da się powtórzyć.</a:t>
            </a:r>
            <a:endParaRPr lang="en-US" sz="4400" dirty="0"/>
          </a:p>
        </p:txBody>
      </p:sp>
      <p:sp>
        <p:nvSpPr>
          <p:cNvPr id="3" name="Tekst 7"/>
          <p:cNvSpPr txBox="1"/>
          <p:nvPr/>
        </p:nvSpPr>
        <p:spPr>
          <a:xfrm>
            <a:off x="822960" y="5074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Warsztaty fotografii i wideo Beauty &amp; Product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Praca ze światłem, modelem i produktem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 dnia</a:t>
            </a:r>
            <a:endParaRPr lang="en-US" sz="4000" dirty="0"/>
          </a:p>
        </p:txBody>
      </p:sp>
      <p:sp>
        <p:nvSpPr>
          <p:cNvPr id="3" name="Tekst 8"/>
          <p:cNvSpPr txBox="1"/>
          <p:nvPr/>
        </p:nvSpPr>
        <p:spPr>
          <a:xfrm>
            <a:off x="6793992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Call sheet · 9:00–17:50</a:t>
            </a:r>
            <a:endParaRPr lang="en-US" sz="1400" dirty="0"/>
          </a:p>
        </p:txBody>
      </p:sp>
      <p:sp>
        <p:nvSpPr>
          <p:cNvPr id="4" name="Tekst 9"/>
          <p:cNvSpPr txBox="1"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BLOK</a:t>
            </a:r>
            <a:endParaRPr lang="en-US" sz="1100" dirty="0"/>
          </a:p>
        </p:txBody>
      </p:sp>
      <p:sp>
        <p:nvSpPr>
          <p:cNvPr id="5" name="Tekst 10"/>
          <p:cNvSpPr txBox="1"/>
          <p:nvPr/>
        </p:nvSpPr>
        <p:spPr>
          <a:xfrm>
            <a:off x="566928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GODZ.</a:t>
            </a:r>
            <a:endParaRPr lang="en-US" sz="1100" dirty="0"/>
          </a:p>
        </p:txBody>
      </p:sp>
      <p:sp>
        <p:nvSpPr>
          <p:cNvPr id="6" name="Linia 11"/>
          <p:cNvSpPr/>
          <p:nvPr/>
        </p:nvSpPr>
        <p:spPr>
          <a:xfrm>
            <a:off x="822960" y="219456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kst 12"/>
          <p:cNvSpPr txBox="1"/>
          <p:nvPr/>
        </p:nvSpPr>
        <p:spPr>
          <a:xfrm>
            <a:off x="82296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kst 13"/>
          <p:cNvSpPr txBox="1"/>
          <p:nvPr/>
        </p:nvSpPr>
        <p:spPr>
          <a:xfrm>
            <a:off x="141732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Teoria światła i ekspozycji</a:t>
            </a:r>
            <a:endParaRPr lang="en-US" sz="1800" dirty="0"/>
          </a:p>
        </p:txBody>
      </p:sp>
      <p:sp>
        <p:nvSpPr>
          <p:cNvPr id="9" name="Tekst 14"/>
          <p:cNvSpPr txBox="1"/>
          <p:nvPr/>
        </p:nvSpPr>
        <p:spPr>
          <a:xfrm>
            <a:off x="566928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10" name="Linia 15"/>
          <p:cNvSpPr/>
          <p:nvPr/>
        </p:nvSpPr>
        <p:spPr>
          <a:xfrm>
            <a:off x="822960" y="269748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Tekst 16"/>
          <p:cNvSpPr txBox="1"/>
          <p:nvPr/>
        </p:nvSpPr>
        <p:spPr>
          <a:xfrm>
            <a:off x="82296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kst 17"/>
          <p:cNvSpPr txBox="1"/>
          <p:nvPr/>
        </p:nvSpPr>
        <p:spPr>
          <a:xfrm>
            <a:off x="141732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Praktyka podstawowa</a:t>
            </a:r>
            <a:endParaRPr lang="en-US" sz="1800" dirty="0"/>
          </a:p>
        </p:txBody>
      </p:sp>
      <p:sp>
        <p:nvSpPr>
          <p:cNvPr id="13" name="Tekst 18"/>
          <p:cNvSpPr txBox="1"/>
          <p:nvPr/>
        </p:nvSpPr>
        <p:spPr>
          <a:xfrm>
            <a:off x="566928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14" name="Linia 19"/>
          <p:cNvSpPr/>
          <p:nvPr/>
        </p:nvSpPr>
        <p:spPr>
          <a:xfrm>
            <a:off x="822960" y="320040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20"/>
          <p:cNvSpPr txBox="1"/>
          <p:nvPr/>
        </p:nvSpPr>
        <p:spPr>
          <a:xfrm>
            <a:off x="82296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kst 21"/>
          <p:cNvSpPr txBox="1"/>
          <p:nvPr/>
        </p:nvSpPr>
        <p:spPr>
          <a:xfrm>
            <a:off x="1417320" y="3200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Zaawansowane setupy</a:t>
            </a:r>
            <a:endParaRPr lang="en-US" sz="1800" dirty="0"/>
          </a:p>
        </p:txBody>
      </p:sp>
      <p:sp>
        <p:nvSpPr>
          <p:cNvPr id="17" name="Tekst 22"/>
          <p:cNvSpPr txBox="1"/>
          <p:nvPr/>
        </p:nvSpPr>
        <p:spPr>
          <a:xfrm>
            <a:off x="566928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18" name="Linia 23"/>
          <p:cNvSpPr/>
          <p:nvPr/>
        </p:nvSpPr>
        <p:spPr>
          <a:xfrm>
            <a:off x="822960" y="370332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Tekst 24"/>
          <p:cNvSpPr txBox="1"/>
          <p:nvPr/>
        </p:nvSpPr>
        <p:spPr>
          <a:xfrm>
            <a:off x="82296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kst 25"/>
          <p:cNvSpPr txBox="1"/>
          <p:nvPr/>
        </p:nvSpPr>
        <p:spPr>
          <a:xfrm>
            <a:off x="141732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Fotografia produktu</a:t>
            </a:r>
            <a:endParaRPr lang="en-US" sz="1800" dirty="0"/>
          </a:p>
        </p:txBody>
      </p:sp>
      <p:sp>
        <p:nvSpPr>
          <p:cNvPr id="21" name="Tekst 26"/>
          <p:cNvSpPr txBox="1"/>
          <p:nvPr/>
        </p:nvSpPr>
        <p:spPr>
          <a:xfrm>
            <a:off x="566928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22" name="Linia 27"/>
          <p:cNvSpPr/>
          <p:nvPr/>
        </p:nvSpPr>
        <p:spPr>
          <a:xfrm>
            <a:off x="822960" y="420624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kst 28"/>
          <p:cNvSpPr txBox="1"/>
          <p:nvPr/>
        </p:nvSpPr>
        <p:spPr>
          <a:xfrm>
            <a:off x="82296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kst 29"/>
          <p:cNvSpPr txBox="1"/>
          <p:nvPr/>
        </p:nvSpPr>
        <p:spPr>
          <a:xfrm>
            <a:off x="141732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Setupy studyjne</a:t>
            </a:r>
            <a:endParaRPr lang="en-US" sz="1800" dirty="0"/>
          </a:p>
        </p:txBody>
      </p:sp>
      <p:sp>
        <p:nvSpPr>
          <p:cNvPr id="25" name="Tekst 30"/>
          <p:cNvSpPr txBox="1"/>
          <p:nvPr/>
        </p:nvSpPr>
        <p:spPr>
          <a:xfrm>
            <a:off x="566928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26" name="Linia 31"/>
          <p:cNvSpPr/>
          <p:nvPr/>
        </p:nvSpPr>
        <p:spPr>
          <a:xfrm>
            <a:off x="822960" y="470916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7" name="Tekst 32"/>
          <p:cNvSpPr txBox="1"/>
          <p:nvPr/>
        </p:nvSpPr>
        <p:spPr>
          <a:xfrm>
            <a:off x="822960" y="4709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kst 33"/>
          <p:cNvSpPr txBox="1"/>
          <p:nvPr/>
        </p:nvSpPr>
        <p:spPr>
          <a:xfrm>
            <a:off x="141732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LAB i własne ćwiczenia</a:t>
            </a:r>
            <a:endParaRPr lang="en-US" sz="1800" dirty="0"/>
          </a:p>
        </p:txBody>
      </p:sp>
      <p:sp>
        <p:nvSpPr>
          <p:cNvPr id="29" name="Tekst 34"/>
          <p:cNvSpPr txBox="1"/>
          <p:nvPr/>
        </p:nvSpPr>
        <p:spPr>
          <a:xfrm>
            <a:off x="5669280" y="4709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30" name="Linia 35"/>
          <p:cNvSpPr/>
          <p:nvPr/>
        </p:nvSpPr>
        <p:spPr>
          <a:xfrm>
            <a:off x="822960" y="521208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1" name="Tekst 36"/>
          <p:cNvSpPr txBox="1"/>
          <p:nvPr/>
        </p:nvSpPr>
        <p:spPr>
          <a:xfrm>
            <a:off x="822960" y="5212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kst 37"/>
          <p:cNvSpPr txBox="1"/>
          <p:nvPr/>
        </p:nvSpPr>
        <p:spPr>
          <a:xfrm>
            <a:off x="141732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Podsumowanie</a:t>
            </a:r>
            <a:endParaRPr lang="en-US" sz="1800" dirty="0"/>
          </a:p>
        </p:txBody>
      </p:sp>
      <p:sp>
        <p:nvSpPr>
          <p:cNvPr id="33" name="Tekst 38"/>
          <p:cNvSpPr txBox="1"/>
          <p:nvPr/>
        </p:nvSpPr>
        <p:spPr>
          <a:xfrm>
            <a:off x="5669280" y="5212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--:--</a:t>
            </a:r>
            <a:endParaRPr lang="en-US" sz="1600" dirty="0"/>
          </a:p>
        </p:txBody>
      </p:sp>
      <p:sp>
        <p:nvSpPr>
          <p:cNvPr id="34" name="Linia 39"/>
          <p:cNvSpPr/>
          <p:nvPr/>
        </p:nvSpPr>
        <p:spPr>
          <a:xfrm>
            <a:off x="822960" y="571500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Karta zasad"/>
          <p:cNvSpPr/>
          <p:nvPr/>
        </p:nvSpPr>
        <p:spPr>
          <a:xfrm>
            <a:off x="7406640" y="1783080"/>
            <a:ext cx="39593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6" name="Tekst 41"/>
          <p:cNvSpPr txBox="1"/>
          <p:nvPr/>
        </p:nvSpPr>
        <p:spPr>
          <a:xfrm>
            <a:off x="7772400" y="20574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ZASADY DNIA</a:t>
            </a:r>
            <a:endParaRPr lang="en-US" sz="1100" dirty="0"/>
          </a:p>
        </p:txBody>
      </p:sp>
      <p:sp>
        <p:nvSpPr>
          <p:cNvPr id="37" name="Lista zasad"/>
          <p:cNvSpPr txBox="1"/>
          <p:nvPr/>
        </p:nvSpPr>
        <p:spPr>
          <a:xfrm>
            <a:off x="7772400" y="2560320"/>
            <a:ext cx="32278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Najpierw obserwujemy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Potem testujemy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Zmieniamy jeden element naraz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Zapisujemy ustawienia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Omawiamy efekty wspólnie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światła i ekspozycji</a:t>
            </a:r>
            <a:endParaRPr lang="en-US" sz="5400" dirty="0"/>
          </a:p>
        </p:txBody>
      </p:sp>
      <p:sp>
        <p:nvSpPr>
          <p:cNvPr id="3" name="Tekst 43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kst 44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 →  DEMO  →  ĆWICZENIE  →  PRZEGLĄD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Trójkąt ekspozycji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TEORIA ŚWIATŁA I EKSPOZYCJI</a:t>
            </a:r>
            <a:endParaRPr lang="en-US" sz="1000" dirty="0"/>
          </a:p>
        </p:txBody>
      </p:sp>
      <p:sp>
        <p:nvSpPr>
          <p:cNvPr id="5" name="Linia 46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47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48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ISO — czułość matrycy</a:t>
            </a:r>
            <a:endParaRPr lang="en-US" sz="1800" dirty="0"/>
          </a:p>
        </p:txBody>
      </p:sp>
      <p:sp>
        <p:nvSpPr>
          <p:cNvPr id="8" name="Linia 49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50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51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Przysłona — ilość światła i głębia ostrości</a:t>
            </a:r>
            <a:endParaRPr lang="en-US" sz="1800" dirty="0"/>
          </a:p>
        </p:txBody>
      </p:sp>
      <p:sp>
        <p:nvSpPr>
          <p:cNvPr id="11" name="Linia 52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53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54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Czas migawki — ruch i ilość światła</a:t>
            </a:r>
            <a:endParaRPr lang="en-US" sz="1800" dirty="0"/>
          </a:p>
        </p:txBody>
      </p:sp>
      <p:sp>
        <p:nvSpPr>
          <p:cNvPr id="14" name="Linia 55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56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57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Zmieniamy jeden parametr naraz</a:t>
            </a:r>
            <a:endParaRPr lang="en-US" sz="1800" dirty="0"/>
          </a:p>
        </p:txBody>
      </p:sp>
      <p:sp>
        <p:nvSpPr>
          <p:cNvPr id="17" name="Linia 58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59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rojkat ekspozycji"/>
          <p:cNvSpPr/>
          <p:nvPr/>
        </p:nvSpPr>
        <p:spPr>
          <a:xfrm>
            <a:off x="7786116" y="2697480"/>
            <a:ext cx="2743200" cy="2286000"/>
          </a:xfrm>
          <a:prstGeom prst="triangl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0" name="Tekst 60"/>
          <p:cNvSpPr txBox="1"/>
          <p:nvPr/>
        </p:nvSpPr>
        <p:spPr>
          <a:xfrm>
            <a:off x="824331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ISO</a:t>
            </a:r>
            <a:endParaRPr lang="en-US" sz="1400" dirty="0"/>
          </a:p>
        </p:txBody>
      </p:sp>
      <p:sp>
        <p:nvSpPr>
          <p:cNvPr id="21" name="Tekst 61"/>
          <p:cNvSpPr txBox="1"/>
          <p:nvPr/>
        </p:nvSpPr>
        <p:spPr>
          <a:xfrm>
            <a:off x="726948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PRZYSŁONA</a:t>
            </a:r>
            <a:endParaRPr lang="en-US" sz="1400" dirty="0"/>
          </a:p>
        </p:txBody>
      </p:sp>
      <p:sp>
        <p:nvSpPr>
          <p:cNvPr id="22" name="Tekst 62"/>
          <p:cNvSpPr txBox="1"/>
          <p:nvPr/>
        </p:nvSpPr>
        <p:spPr>
          <a:xfrm>
            <a:off x="8851392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CZAS MIGAWKI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ISO, WB, przysłona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TEORIA ŚWIATŁA I EKSPOZYCJI</a:t>
            </a:r>
            <a:endParaRPr lang="en-US" sz="1000" dirty="0"/>
          </a:p>
        </p:txBody>
      </p:sp>
      <p:sp>
        <p:nvSpPr>
          <p:cNvPr id="5" name="Karta 64"/>
          <p:cNvSpPr/>
          <p:nvPr/>
        </p:nvSpPr>
        <p:spPr>
          <a:xfrm>
            <a:off x="822960" y="178308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65"/>
          <p:cNvSpPr txBox="1"/>
          <p:nvPr/>
        </p:nvSpPr>
        <p:spPr>
          <a:xfrm>
            <a:off x="1143000" y="2057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NISKIE ISO</a:t>
            </a:r>
            <a:endParaRPr lang="en-US" sz="1200" dirty="0"/>
          </a:p>
        </p:txBody>
      </p:sp>
      <p:sp>
        <p:nvSpPr>
          <p:cNvPr id="7" name="Tekst 66"/>
          <p:cNvSpPr txBox="1"/>
          <p:nvPr/>
        </p:nvSpPr>
        <p:spPr>
          <a:xfrm>
            <a:off x="1143000" y="246888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czystszy obraz</a:t>
            </a:r>
            <a:endParaRPr lang="en-US" sz="3000" dirty="0"/>
          </a:p>
        </p:txBody>
      </p:sp>
      <p:sp>
        <p:nvSpPr>
          <p:cNvPr id="8" name="Karta 67"/>
          <p:cNvSpPr/>
          <p:nvPr/>
        </p:nvSpPr>
        <p:spPr>
          <a:xfrm>
            <a:off x="6277356" y="178308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kst 68"/>
          <p:cNvSpPr txBox="1"/>
          <p:nvPr/>
        </p:nvSpPr>
        <p:spPr>
          <a:xfrm>
            <a:off x="6597396" y="2057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WYSOKIE ISO</a:t>
            </a:r>
            <a:endParaRPr lang="en-US" sz="1200" dirty="0"/>
          </a:p>
        </p:txBody>
      </p:sp>
      <p:sp>
        <p:nvSpPr>
          <p:cNvPr id="10" name="Tekst 69"/>
          <p:cNvSpPr txBox="1"/>
          <p:nvPr/>
        </p:nvSpPr>
        <p:spPr>
          <a:xfrm>
            <a:off x="6597396" y="246888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więcej szumu</a:t>
            </a:r>
            <a:endParaRPr lang="en-US" sz="3000" dirty="0"/>
          </a:p>
        </p:txBody>
      </p:sp>
      <p:sp>
        <p:nvSpPr>
          <p:cNvPr id="11" name="Karta 70"/>
          <p:cNvSpPr/>
          <p:nvPr/>
        </p:nvSpPr>
        <p:spPr>
          <a:xfrm>
            <a:off x="822960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kst 71"/>
          <p:cNvSpPr txBox="1"/>
          <p:nvPr/>
        </p:nvSpPr>
        <p:spPr>
          <a:xfrm>
            <a:off x="1143000" y="420624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WB</a:t>
            </a:r>
            <a:endParaRPr lang="en-US" sz="1200" dirty="0"/>
          </a:p>
        </p:txBody>
      </p:sp>
      <p:sp>
        <p:nvSpPr>
          <p:cNvPr id="13" name="Tekst 72"/>
          <p:cNvSpPr txBox="1"/>
          <p:nvPr/>
        </p:nvSpPr>
        <p:spPr>
          <a:xfrm>
            <a:off x="1143000" y="461772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prawidłowy kolor</a:t>
            </a:r>
            <a:endParaRPr lang="en-US" sz="3000" dirty="0"/>
          </a:p>
        </p:txBody>
      </p:sp>
      <p:sp>
        <p:nvSpPr>
          <p:cNvPr id="14" name="Karta 73"/>
          <p:cNvSpPr/>
          <p:nvPr/>
        </p:nvSpPr>
        <p:spPr>
          <a:xfrm>
            <a:off x="6277356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74"/>
          <p:cNvSpPr txBox="1"/>
          <p:nvPr/>
        </p:nvSpPr>
        <p:spPr>
          <a:xfrm>
            <a:off x="6597396" y="420624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PRZYSŁONA</a:t>
            </a:r>
            <a:endParaRPr lang="en-US" sz="1200" dirty="0"/>
          </a:p>
        </p:txBody>
      </p:sp>
      <p:sp>
        <p:nvSpPr>
          <p:cNvPr id="16" name="Tekst 75"/>
          <p:cNvSpPr txBox="1"/>
          <p:nvPr/>
        </p:nvSpPr>
        <p:spPr>
          <a:xfrm>
            <a:off x="6597396" y="461772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ostrość i tło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Rodzaje światła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TEORIA ŚWIATŁA I EKSPOZYCJI</a:t>
            </a:r>
            <a:endParaRPr lang="en-US" sz="1000" dirty="0"/>
          </a:p>
        </p:txBody>
      </p:sp>
      <p:sp>
        <p:nvSpPr>
          <p:cNvPr id="5" name="Znacznik 77"/>
          <p:cNvSpPr txBox="1"/>
          <p:nvPr/>
        </p:nvSpPr>
        <p:spPr>
          <a:xfrm>
            <a:off x="822960" y="178308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Naturalne</a:t>
            </a:r>
            <a:endParaRPr lang="en-US" sz="2000" dirty="0"/>
          </a:p>
        </p:txBody>
      </p:sp>
      <p:sp>
        <p:nvSpPr>
          <p:cNvPr id="6" name="Znacznik 78"/>
          <p:cNvSpPr txBox="1"/>
          <p:nvPr/>
        </p:nvSpPr>
        <p:spPr>
          <a:xfrm>
            <a:off x="4023360" y="178308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Sztuczne</a:t>
            </a:r>
            <a:endParaRPr lang="en-US" sz="2000" dirty="0"/>
          </a:p>
        </p:txBody>
      </p:sp>
      <p:sp>
        <p:nvSpPr>
          <p:cNvPr id="7" name="Znacznik 79"/>
          <p:cNvSpPr txBox="1"/>
          <p:nvPr/>
        </p:nvSpPr>
        <p:spPr>
          <a:xfrm>
            <a:off x="822960" y="278892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Ciągłe</a:t>
            </a:r>
            <a:endParaRPr lang="en-US" sz="2000" dirty="0"/>
          </a:p>
        </p:txBody>
      </p:sp>
      <p:sp>
        <p:nvSpPr>
          <p:cNvPr id="8" name="Znacznik 80"/>
          <p:cNvSpPr txBox="1"/>
          <p:nvPr/>
        </p:nvSpPr>
        <p:spPr>
          <a:xfrm>
            <a:off x="4023360" y="278892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Błyskowe</a:t>
            </a:r>
            <a:endParaRPr lang="en-US" sz="2000" dirty="0"/>
          </a:p>
        </p:txBody>
      </p:sp>
      <p:sp>
        <p:nvSpPr>
          <p:cNvPr id="9" name="Znacznik 81"/>
          <p:cNvSpPr txBox="1"/>
          <p:nvPr/>
        </p:nvSpPr>
        <p:spPr>
          <a:xfrm>
            <a:off x="822960" y="379476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Miękkie</a:t>
            </a:r>
            <a:endParaRPr lang="en-US" sz="2000" dirty="0"/>
          </a:p>
        </p:txBody>
      </p:sp>
      <p:sp>
        <p:nvSpPr>
          <p:cNvPr id="10" name="Znacznik 82"/>
          <p:cNvSpPr txBox="1"/>
          <p:nvPr/>
        </p:nvSpPr>
        <p:spPr>
          <a:xfrm>
            <a:off x="4023360" y="379476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Twarde</a:t>
            </a:r>
            <a:endParaRPr lang="en-US" sz="2000" dirty="0"/>
          </a:p>
        </p:txBody>
      </p:sp>
      <p:sp>
        <p:nvSpPr>
          <p:cNvPr id="11" name="Znacznik 83"/>
          <p:cNvSpPr txBox="1"/>
          <p:nvPr/>
        </p:nvSpPr>
        <p:spPr>
          <a:xfrm>
            <a:off x="822960" y="480060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Ciepłe</a:t>
            </a:r>
            <a:endParaRPr lang="en-US" sz="2000" dirty="0"/>
          </a:p>
        </p:txBody>
      </p:sp>
      <p:sp>
        <p:nvSpPr>
          <p:cNvPr id="12" name="Znacznik 84"/>
          <p:cNvSpPr txBox="1"/>
          <p:nvPr/>
        </p:nvSpPr>
        <p:spPr>
          <a:xfrm>
            <a:off x="4023360" y="480060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Zimne</a:t>
            </a:r>
            <a:endParaRPr lang="en-US" sz="2000" dirty="0"/>
          </a:p>
        </p:txBody>
      </p:sp>
      <p:sp>
        <p:nvSpPr>
          <p:cNvPr id="13" name="Karta 85"/>
          <p:cNvSpPr/>
          <p:nvPr/>
        </p:nvSpPr>
        <p:spPr>
          <a:xfrm>
            <a:off x="7406640" y="1783080"/>
            <a:ext cx="39593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kst 86"/>
          <p:cNvSpPr txBox="1"/>
          <p:nvPr/>
        </p:nvSpPr>
        <p:spPr>
          <a:xfrm>
            <a:off x="7772400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CRI</a:t>
            </a:r>
            <a:endParaRPr lang="en-US" sz="8000" dirty="0"/>
          </a:p>
        </p:txBody>
      </p:sp>
      <p:sp>
        <p:nvSpPr>
          <p:cNvPr id="15" name="Tekst 87"/>
          <p:cNvSpPr txBox="1"/>
          <p:nvPr/>
        </p:nvSpPr>
        <p:spPr>
          <a:xfrm>
            <a:off x="7772400" y="3931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ma znaczenie dla koloru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Kierunek światła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TEORIA ŚWIATŁA I EKSPOZYCJI</a:t>
            </a:r>
            <a:endParaRPr lang="en-US" sz="1000" dirty="0"/>
          </a:p>
        </p:txBody>
      </p:sp>
      <p:sp>
        <p:nvSpPr>
          <p:cNvPr id="5" name="Karta 89"/>
          <p:cNvSpPr/>
          <p:nvPr/>
        </p:nvSpPr>
        <p:spPr>
          <a:xfrm>
            <a:off x="822960" y="1783080"/>
            <a:ext cx="56692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Linia 90"/>
          <p:cNvSpPr/>
          <p:nvPr/>
        </p:nvSpPr>
        <p:spPr>
          <a:xfrm>
            <a:off x="3657600" y="3787445"/>
            <a:ext cx="0" cy="103693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7" name="Linia 91"/>
          <p:cNvSpPr/>
          <p:nvPr/>
        </p:nvSpPr>
        <p:spPr>
          <a:xfrm flipV="1">
            <a:off x="2972002" y="3513125"/>
            <a:ext cx="685598" cy="979135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8" name="Linia 92"/>
          <p:cNvSpPr/>
          <p:nvPr/>
        </p:nvSpPr>
        <p:spPr>
          <a:xfrm>
            <a:off x="3657600" y="3513125"/>
            <a:ext cx="1344717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9" name="Linia 93"/>
          <p:cNvSpPr/>
          <p:nvPr/>
        </p:nvSpPr>
        <p:spPr>
          <a:xfrm>
            <a:off x="3657600" y="2243115"/>
            <a:ext cx="0" cy="127001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0" name="Linia 94"/>
          <p:cNvSpPr/>
          <p:nvPr/>
        </p:nvSpPr>
        <p:spPr>
          <a:xfrm>
            <a:off x="2312883" y="3513125"/>
            <a:ext cx="1344717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1" name="Model 95"/>
          <p:cNvSpPr/>
          <p:nvPr/>
        </p:nvSpPr>
        <p:spPr>
          <a:xfrm>
            <a:off x="3383280" y="3238805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Aparat 97"/>
          <p:cNvSpPr/>
          <p:nvPr/>
        </p:nvSpPr>
        <p:spPr>
          <a:xfrm>
            <a:off x="3429000" y="4824374"/>
            <a:ext cx="457200" cy="365760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3" name="Znacznik 98"/>
          <p:cNvSpPr txBox="1"/>
          <p:nvPr/>
        </p:nvSpPr>
        <p:spPr>
          <a:xfrm>
            <a:off x="2606242" y="4318524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</a:t>
            </a:r>
            <a:endParaRPr lang="en-US" sz="1100" dirty="0"/>
          </a:p>
        </p:txBody>
      </p:sp>
      <p:sp>
        <p:nvSpPr>
          <p:cNvPr id="14" name="Znacznik 99"/>
          <p:cNvSpPr txBox="1"/>
          <p:nvPr/>
        </p:nvSpPr>
        <p:spPr>
          <a:xfrm>
            <a:off x="4636557" y="3339389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SIDE</a:t>
            </a:r>
            <a:endParaRPr lang="en-US" sz="1100" dirty="0"/>
          </a:p>
        </p:txBody>
      </p:sp>
      <p:sp>
        <p:nvSpPr>
          <p:cNvPr id="15" name="Znacznik 100"/>
          <p:cNvSpPr txBox="1"/>
          <p:nvPr/>
        </p:nvSpPr>
        <p:spPr>
          <a:xfrm>
            <a:off x="3291840" y="2069379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</a:t>
            </a:r>
            <a:endParaRPr lang="en-US" sz="1100" dirty="0"/>
          </a:p>
        </p:txBody>
      </p:sp>
      <p:sp>
        <p:nvSpPr>
          <p:cNvPr id="16" name="Znacznik 101"/>
          <p:cNvSpPr txBox="1"/>
          <p:nvPr/>
        </p:nvSpPr>
        <p:spPr>
          <a:xfrm>
            <a:off x="1947123" y="3339389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TOP</a:t>
            </a:r>
            <a:endParaRPr lang="en-US" sz="1100" dirty="0"/>
          </a:p>
        </p:txBody>
      </p:sp>
      <p:sp>
        <p:nvSpPr>
          <p:cNvPr id="17" name="Linia 102"/>
          <p:cNvSpPr/>
          <p:nvPr/>
        </p:nvSpPr>
        <p:spPr>
          <a:xfrm>
            <a:off x="6858000" y="196596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kst 103"/>
          <p:cNvSpPr txBox="1"/>
          <p:nvPr/>
        </p:nvSpPr>
        <p:spPr>
          <a:xfrm>
            <a:off x="685800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kst 104"/>
          <p:cNvSpPr txBox="1"/>
          <p:nvPr/>
        </p:nvSpPr>
        <p:spPr>
          <a:xfrm>
            <a:off x="7452360" y="196596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Front light</a:t>
            </a:r>
            <a:endParaRPr lang="en-US" sz="2000" dirty="0"/>
          </a:p>
        </p:txBody>
      </p:sp>
      <p:sp>
        <p:nvSpPr>
          <p:cNvPr id="20" name="Linia 105"/>
          <p:cNvSpPr/>
          <p:nvPr/>
        </p:nvSpPr>
        <p:spPr>
          <a:xfrm>
            <a:off x="6858000" y="269748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Tekst 106"/>
          <p:cNvSpPr txBox="1"/>
          <p:nvPr/>
        </p:nvSpPr>
        <p:spPr>
          <a:xfrm>
            <a:off x="685800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kst 107"/>
          <p:cNvSpPr txBox="1"/>
          <p:nvPr/>
        </p:nvSpPr>
        <p:spPr>
          <a:xfrm>
            <a:off x="7452360" y="26974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Side light</a:t>
            </a:r>
            <a:endParaRPr lang="en-US" sz="2000" dirty="0"/>
          </a:p>
        </p:txBody>
      </p:sp>
      <p:sp>
        <p:nvSpPr>
          <p:cNvPr id="23" name="Linia 108"/>
          <p:cNvSpPr/>
          <p:nvPr/>
        </p:nvSpPr>
        <p:spPr>
          <a:xfrm>
            <a:off x="6858000" y="342900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4" name="Tekst 109"/>
          <p:cNvSpPr txBox="1"/>
          <p:nvPr/>
        </p:nvSpPr>
        <p:spPr>
          <a:xfrm>
            <a:off x="685800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kst 110"/>
          <p:cNvSpPr txBox="1"/>
          <p:nvPr/>
        </p:nvSpPr>
        <p:spPr>
          <a:xfrm>
            <a:off x="7452360" y="34290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Back light</a:t>
            </a:r>
            <a:endParaRPr lang="en-US" sz="2000" dirty="0"/>
          </a:p>
        </p:txBody>
      </p:sp>
      <p:sp>
        <p:nvSpPr>
          <p:cNvPr id="26" name="Linia 111"/>
          <p:cNvSpPr/>
          <p:nvPr/>
        </p:nvSpPr>
        <p:spPr>
          <a:xfrm>
            <a:off x="6858000" y="416052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7" name="Tekst 112"/>
          <p:cNvSpPr txBox="1"/>
          <p:nvPr/>
        </p:nvSpPr>
        <p:spPr>
          <a:xfrm>
            <a:off x="6858000" y="4160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kst 113"/>
          <p:cNvSpPr txBox="1"/>
          <p:nvPr/>
        </p:nvSpPr>
        <p:spPr>
          <a:xfrm>
            <a:off x="7452360" y="41605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Top light</a:t>
            </a:r>
            <a:endParaRPr lang="en-US" sz="2000" dirty="0"/>
          </a:p>
        </p:txBody>
      </p:sp>
      <p:sp>
        <p:nvSpPr>
          <p:cNvPr id="29" name="Linia 114"/>
          <p:cNvSpPr/>
          <p:nvPr/>
        </p:nvSpPr>
        <p:spPr>
          <a:xfrm>
            <a:off x="6858000" y="489204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0" name="Tekst 115"/>
          <p:cNvSpPr txBox="1"/>
          <p:nvPr/>
        </p:nvSpPr>
        <p:spPr>
          <a:xfrm>
            <a:off x="6858000" y="502920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Kierunek zmienia kształt twarzy i produktu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Kontrola ekspozycji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TEORIA ŚWIATŁA I EKSPOZYCJI</a:t>
            </a:r>
            <a:endParaRPr lang="en-US" sz="1000" dirty="0"/>
          </a:p>
        </p:txBody>
      </p:sp>
      <p:sp>
        <p:nvSpPr>
          <p:cNvPr id="5" name="Karta 117"/>
          <p:cNvSpPr/>
          <p:nvPr/>
        </p:nvSpPr>
        <p:spPr>
          <a:xfrm>
            <a:off x="822960" y="1783080"/>
            <a:ext cx="56692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Slupek histogramu 118"/>
          <p:cNvSpPr/>
          <p:nvPr/>
        </p:nvSpPr>
        <p:spPr>
          <a:xfrm>
            <a:off x="1207008" y="4506126"/>
            <a:ext cx="153338" cy="34019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lupek histogramu 119"/>
          <p:cNvSpPr/>
          <p:nvPr/>
        </p:nvSpPr>
        <p:spPr>
          <a:xfrm>
            <a:off x="1396922" y="4391962"/>
            <a:ext cx="153338" cy="45435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lupek histogramu 120"/>
          <p:cNvSpPr/>
          <p:nvPr/>
        </p:nvSpPr>
        <p:spPr>
          <a:xfrm>
            <a:off x="1586836" y="4245073"/>
            <a:ext cx="153338" cy="60124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lupek histogramu 121"/>
          <p:cNvSpPr/>
          <p:nvPr/>
        </p:nvSpPr>
        <p:spPr>
          <a:xfrm>
            <a:off x="1776750" y="4067987"/>
            <a:ext cx="153338" cy="77833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Slupek histogramu 122"/>
          <p:cNvSpPr/>
          <p:nvPr/>
        </p:nvSpPr>
        <p:spPr>
          <a:xfrm>
            <a:off x="1966663" y="3869150"/>
            <a:ext cx="153338" cy="97717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Slupek histogramu 123"/>
          <p:cNvSpPr/>
          <p:nvPr/>
        </p:nvSpPr>
        <p:spPr>
          <a:xfrm>
            <a:off x="2156577" y="3663214"/>
            <a:ext cx="153338" cy="118310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Slupek histogramu 124"/>
          <p:cNvSpPr/>
          <p:nvPr/>
        </p:nvSpPr>
        <p:spPr>
          <a:xfrm>
            <a:off x="2346491" y="3469795"/>
            <a:ext cx="153338" cy="137652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Slupek histogramu 125"/>
          <p:cNvSpPr/>
          <p:nvPr/>
        </p:nvSpPr>
        <p:spPr>
          <a:xfrm>
            <a:off x="2536405" y="3310646"/>
            <a:ext cx="153338" cy="153567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lupek histogramu 126"/>
          <p:cNvSpPr/>
          <p:nvPr/>
        </p:nvSpPr>
        <p:spPr>
          <a:xfrm>
            <a:off x="2726319" y="3205710"/>
            <a:ext cx="153338" cy="164061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lupek histogramu 127"/>
          <p:cNvSpPr/>
          <p:nvPr/>
        </p:nvSpPr>
        <p:spPr>
          <a:xfrm>
            <a:off x="2916233" y="3169013"/>
            <a:ext cx="153338" cy="167730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Slupek histogramu 128"/>
          <p:cNvSpPr/>
          <p:nvPr/>
        </p:nvSpPr>
        <p:spPr>
          <a:xfrm>
            <a:off x="3106146" y="3205485"/>
            <a:ext cx="153338" cy="164083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Slupek histogramu 129"/>
          <p:cNvSpPr/>
          <p:nvPr/>
        </p:nvSpPr>
        <p:spPr>
          <a:xfrm>
            <a:off x="3296060" y="3309437"/>
            <a:ext cx="153338" cy="153688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lupek histogramu 130"/>
          <p:cNvSpPr/>
          <p:nvPr/>
        </p:nvSpPr>
        <p:spPr>
          <a:xfrm>
            <a:off x="3485974" y="3464558"/>
            <a:ext cx="153338" cy="138176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lupek histogramu 131"/>
          <p:cNvSpPr/>
          <p:nvPr/>
        </p:nvSpPr>
        <p:spPr>
          <a:xfrm>
            <a:off x="3675888" y="3644573"/>
            <a:ext cx="153338" cy="120174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Slupek histogramu 132"/>
          <p:cNvSpPr/>
          <p:nvPr/>
        </p:nvSpPr>
        <p:spPr>
          <a:xfrm>
            <a:off x="3865802" y="3814575"/>
            <a:ext cx="153338" cy="103174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lupek histogramu 133"/>
          <p:cNvSpPr/>
          <p:nvPr/>
        </p:nvSpPr>
        <p:spPr>
          <a:xfrm>
            <a:off x="4055716" y="3936557"/>
            <a:ext cx="153338" cy="90976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Slupek histogramu 134"/>
          <p:cNvSpPr/>
          <p:nvPr/>
        </p:nvSpPr>
        <p:spPr>
          <a:xfrm>
            <a:off x="4245630" y="3984712"/>
            <a:ext cx="153338" cy="861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Slupek histogramu 135"/>
          <p:cNvSpPr/>
          <p:nvPr/>
        </p:nvSpPr>
        <p:spPr>
          <a:xfrm>
            <a:off x="4435543" y="3967701"/>
            <a:ext cx="153338" cy="87861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Slupek histogramu 136"/>
          <p:cNvSpPr/>
          <p:nvPr/>
        </p:nvSpPr>
        <p:spPr>
          <a:xfrm>
            <a:off x="4625457" y="3937446"/>
            <a:ext cx="153338" cy="90887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upek histogramu 137"/>
          <p:cNvSpPr/>
          <p:nvPr/>
        </p:nvSpPr>
        <p:spPr>
          <a:xfrm>
            <a:off x="4815371" y="3962580"/>
            <a:ext cx="153338" cy="8837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lupek histogramu 138"/>
          <p:cNvSpPr/>
          <p:nvPr/>
        </p:nvSpPr>
        <p:spPr>
          <a:xfrm>
            <a:off x="5005285" y="4078491"/>
            <a:ext cx="153338" cy="76782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Slupek histogramu 139"/>
          <p:cNvSpPr/>
          <p:nvPr/>
        </p:nvSpPr>
        <p:spPr>
          <a:xfrm>
            <a:off x="5195199" y="4260449"/>
            <a:ext cx="153338" cy="58587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Slupek histogramu 140"/>
          <p:cNvSpPr/>
          <p:nvPr/>
        </p:nvSpPr>
        <p:spPr>
          <a:xfrm>
            <a:off x="5385113" y="4447521"/>
            <a:ext cx="153338" cy="39879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Slupek histogramu 141"/>
          <p:cNvSpPr/>
          <p:nvPr/>
        </p:nvSpPr>
        <p:spPr>
          <a:xfrm>
            <a:off x="5575026" y="4590009"/>
            <a:ext cx="153338" cy="25631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Slupek histogramu 142"/>
          <p:cNvSpPr/>
          <p:nvPr/>
        </p:nvSpPr>
        <p:spPr>
          <a:xfrm>
            <a:off x="5764940" y="4674389"/>
            <a:ext cx="153338" cy="171931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1" name="Slupek histogramu 143"/>
          <p:cNvSpPr/>
          <p:nvPr/>
        </p:nvSpPr>
        <p:spPr>
          <a:xfrm>
            <a:off x="5954854" y="4714289"/>
            <a:ext cx="153338" cy="132031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2" name="Linia 144"/>
          <p:cNvSpPr/>
          <p:nvPr/>
        </p:nvSpPr>
        <p:spPr>
          <a:xfrm>
            <a:off x="1188720" y="4846320"/>
            <a:ext cx="493776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33" name="Tekst 145"/>
          <p:cNvSpPr txBox="1"/>
          <p:nvPr/>
        </p:nvSpPr>
        <p:spPr>
          <a:xfrm>
            <a:off x="1188720" y="4983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cienie</a:t>
            </a:r>
            <a:endParaRPr lang="en-US" sz="1400" dirty="0"/>
          </a:p>
        </p:txBody>
      </p:sp>
      <p:sp>
        <p:nvSpPr>
          <p:cNvPr id="34" name="Tekst 146"/>
          <p:cNvSpPr txBox="1"/>
          <p:nvPr/>
        </p:nvSpPr>
        <p:spPr>
          <a:xfrm>
            <a:off x="4754880" y="4983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światła</a:t>
            </a:r>
            <a:endParaRPr lang="en-US" sz="1400" dirty="0"/>
          </a:p>
        </p:txBody>
      </p:sp>
      <p:sp>
        <p:nvSpPr>
          <p:cNvPr id="35" name="Linia 147"/>
          <p:cNvSpPr/>
          <p:nvPr/>
        </p:nvSpPr>
        <p:spPr>
          <a:xfrm>
            <a:off x="6858000" y="196596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6" name="Tekst 148"/>
          <p:cNvSpPr txBox="1"/>
          <p:nvPr/>
        </p:nvSpPr>
        <p:spPr>
          <a:xfrm>
            <a:off x="6858000" y="1965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37" name="Tekst 149"/>
          <p:cNvSpPr txBox="1"/>
          <p:nvPr/>
        </p:nvSpPr>
        <p:spPr>
          <a:xfrm>
            <a:off x="7452360" y="196596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Histogram pokazuje rozkład jasności</a:t>
            </a:r>
            <a:endParaRPr lang="en-US" sz="1800" dirty="0"/>
          </a:p>
        </p:txBody>
      </p:sp>
      <p:sp>
        <p:nvSpPr>
          <p:cNvPr id="38" name="Linia 150"/>
          <p:cNvSpPr/>
          <p:nvPr/>
        </p:nvSpPr>
        <p:spPr>
          <a:xfrm>
            <a:off x="6858000" y="283464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9" name="Tekst 151"/>
          <p:cNvSpPr txBox="1"/>
          <p:nvPr/>
        </p:nvSpPr>
        <p:spPr>
          <a:xfrm>
            <a:off x="6858000" y="2834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40" name="Tekst 152"/>
          <p:cNvSpPr txBox="1"/>
          <p:nvPr/>
        </p:nvSpPr>
        <p:spPr>
          <a:xfrm>
            <a:off x="7452360" y="283464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Sprawdzamy cienie i światła</a:t>
            </a:r>
            <a:endParaRPr lang="en-US" sz="1800" dirty="0"/>
          </a:p>
        </p:txBody>
      </p:sp>
      <p:sp>
        <p:nvSpPr>
          <p:cNvPr id="41" name="Linia 153"/>
          <p:cNvSpPr/>
          <p:nvPr/>
        </p:nvSpPr>
        <p:spPr>
          <a:xfrm>
            <a:off x="6858000" y="370332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2" name="Tekst 154"/>
          <p:cNvSpPr txBox="1"/>
          <p:nvPr/>
        </p:nvSpPr>
        <p:spPr>
          <a:xfrm>
            <a:off x="6858000" y="37033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kst 155"/>
          <p:cNvSpPr txBox="1"/>
          <p:nvPr/>
        </p:nvSpPr>
        <p:spPr>
          <a:xfrm>
            <a:off x="7452360" y="370332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False Color pomaga ocenić ekspozycję</a:t>
            </a:r>
            <a:endParaRPr lang="en-US" sz="1800" dirty="0"/>
          </a:p>
        </p:txBody>
      </p:sp>
      <p:sp>
        <p:nvSpPr>
          <p:cNvPr id="44" name="Linia 156"/>
          <p:cNvSpPr/>
          <p:nvPr/>
        </p:nvSpPr>
        <p:spPr>
          <a:xfrm>
            <a:off x="6858000" y="457200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45" name="Tekst 157"/>
          <p:cNvSpPr txBox="1"/>
          <p:nvPr/>
        </p:nvSpPr>
        <p:spPr>
          <a:xfrm>
            <a:off x="6858000" y="45720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46" name="Tekst 158"/>
          <p:cNvSpPr txBox="1"/>
          <p:nvPr/>
        </p:nvSpPr>
        <p:spPr>
          <a:xfrm>
            <a:off x="7452360" y="457200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Patrzymy na dane, nie tylko na ekran</a:t>
            </a:r>
            <a:endParaRPr lang="en-US" sz="1800" dirty="0"/>
          </a:p>
        </p:txBody>
      </p:sp>
      <p:sp>
        <p:nvSpPr>
          <p:cNvPr id="47" name="Linia 159"/>
          <p:cNvSpPr/>
          <p:nvPr/>
        </p:nvSpPr>
        <p:spPr>
          <a:xfrm>
            <a:off x="6858000" y="544068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Najczęstsze błędy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TEORIA ŚWIATŁA I EKSPOZYCJI</a:t>
            </a:r>
            <a:endParaRPr lang="en-US" sz="1000" dirty="0"/>
          </a:p>
        </p:txBody>
      </p:sp>
      <p:sp>
        <p:nvSpPr>
          <p:cNvPr id="5" name="Karta 161"/>
          <p:cNvSpPr/>
          <p:nvPr/>
        </p:nvSpPr>
        <p:spPr>
          <a:xfrm>
            <a:off x="822960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162"/>
          <p:cNvSpPr txBox="1"/>
          <p:nvPr/>
        </p:nvSpPr>
        <p:spPr>
          <a:xfrm>
            <a:off x="1143000" y="2057400"/>
            <a:ext cx="263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kst 163"/>
          <p:cNvSpPr txBox="1"/>
          <p:nvPr/>
        </p:nvSpPr>
        <p:spPr>
          <a:xfrm>
            <a:off x="1143000" y="2468880"/>
            <a:ext cx="2630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Prześwietlenie</a:t>
            </a:r>
            <a:endParaRPr lang="en-US" sz="2200" dirty="0"/>
          </a:p>
        </p:txBody>
      </p:sp>
      <p:sp>
        <p:nvSpPr>
          <p:cNvPr id="8" name="Karta 164"/>
          <p:cNvSpPr/>
          <p:nvPr/>
        </p:nvSpPr>
        <p:spPr>
          <a:xfrm>
            <a:off x="4459224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kst 165"/>
          <p:cNvSpPr txBox="1"/>
          <p:nvPr/>
        </p:nvSpPr>
        <p:spPr>
          <a:xfrm>
            <a:off x="4779264" y="2057400"/>
            <a:ext cx="263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kst 166"/>
          <p:cNvSpPr txBox="1"/>
          <p:nvPr/>
        </p:nvSpPr>
        <p:spPr>
          <a:xfrm>
            <a:off x="4779264" y="2468880"/>
            <a:ext cx="2630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Niedoświetlenie</a:t>
            </a:r>
            <a:endParaRPr lang="en-US" sz="2200" dirty="0"/>
          </a:p>
        </p:txBody>
      </p:sp>
      <p:sp>
        <p:nvSpPr>
          <p:cNvPr id="11" name="Karta 167"/>
          <p:cNvSpPr/>
          <p:nvPr/>
        </p:nvSpPr>
        <p:spPr>
          <a:xfrm>
            <a:off x="8095488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kst 168"/>
          <p:cNvSpPr txBox="1"/>
          <p:nvPr/>
        </p:nvSpPr>
        <p:spPr>
          <a:xfrm>
            <a:off x="8415528" y="2057400"/>
            <a:ext cx="263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kst 169"/>
          <p:cNvSpPr txBox="1"/>
          <p:nvPr/>
        </p:nvSpPr>
        <p:spPr>
          <a:xfrm>
            <a:off x="8415528" y="2468880"/>
            <a:ext cx="2630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Zły balans bieli</a:t>
            </a:r>
            <a:endParaRPr lang="en-US" sz="2200" dirty="0"/>
          </a:p>
        </p:txBody>
      </p:sp>
      <p:sp>
        <p:nvSpPr>
          <p:cNvPr id="14" name="Karta 170"/>
          <p:cNvSpPr/>
          <p:nvPr/>
        </p:nvSpPr>
        <p:spPr>
          <a:xfrm>
            <a:off x="822960" y="393192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171"/>
          <p:cNvSpPr txBox="1"/>
          <p:nvPr/>
        </p:nvSpPr>
        <p:spPr>
          <a:xfrm>
            <a:off x="1143000" y="4206240"/>
            <a:ext cx="263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kst 172"/>
          <p:cNvSpPr txBox="1"/>
          <p:nvPr/>
        </p:nvSpPr>
        <p:spPr>
          <a:xfrm>
            <a:off x="1143000" y="4617720"/>
            <a:ext cx="2630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Niepotrzebne odbicia</a:t>
            </a:r>
            <a:endParaRPr lang="en-US" sz="2200" dirty="0"/>
          </a:p>
        </p:txBody>
      </p:sp>
      <p:sp>
        <p:nvSpPr>
          <p:cNvPr id="17" name="Karta 173"/>
          <p:cNvSpPr/>
          <p:nvPr/>
        </p:nvSpPr>
        <p:spPr>
          <a:xfrm>
            <a:off x="4459224" y="393192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kst 174"/>
          <p:cNvSpPr txBox="1"/>
          <p:nvPr/>
        </p:nvSpPr>
        <p:spPr>
          <a:xfrm>
            <a:off x="4779264" y="4206240"/>
            <a:ext cx="263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kst 175"/>
          <p:cNvSpPr txBox="1"/>
          <p:nvPr/>
        </p:nvSpPr>
        <p:spPr>
          <a:xfrm>
            <a:off x="4779264" y="4617720"/>
            <a:ext cx="2630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Nieuporządkowane tło</a:t>
            </a:r>
            <a:endParaRPr lang="en-US" sz="2200" dirty="0"/>
          </a:p>
        </p:txBody>
      </p:sp>
      <p:sp>
        <p:nvSpPr>
          <p:cNvPr id="20" name="Karta 176"/>
          <p:cNvSpPr/>
          <p:nvPr/>
        </p:nvSpPr>
        <p:spPr>
          <a:xfrm>
            <a:off x="8095488" y="393192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kst 177"/>
          <p:cNvSpPr txBox="1"/>
          <p:nvPr/>
        </p:nvSpPr>
        <p:spPr>
          <a:xfrm>
            <a:off x="8415528" y="4206240"/>
            <a:ext cx="263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kst 178"/>
          <p:cNvSpPr txBox="1"/>
          <p:nvPr/>
        </p:nvSpPr>
        <p:spPr>
          <a:xfrm>
            <a:off x="8415528" y="4617720"/>
            <a:ext cx="2630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Migotanie światła w wideo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Praktyka podstawowa</a:t>
            </a:r>
            <a:endParaRPr lang="en-US" sz="5400" dirty="0"/>
          </a:p>
        </p:txBody>
      </p:sp>
      <p:sp>
        <p:nvSpPr>
          <p:cNvPr id="3" name="Tekst 179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kst 180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 →  DEMO  →  ĆWICZENIE  →  PRZEGLĄD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Flash i światło ciągłe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PRAKTYKA PODSTAWOWA</a:t>
            </a:r>
            <a:endParaRPr lang="en-US" sz="1000" dirty="0"/>
          </a:p>
        </p:txBody>
      </p:sp>
      <p:sp>
        <p:nvSpPr>
          <p:cNvPr id="5" name="Karta 182"/>
          <p:cNvSpPr/>
          <p:nvPr/>
        </p:nvSpPr>
        <p:spPr>
          <a:xfrm>
            <a:off x="822960" y="1783080"/>
            <a:ext cx="2430018" cy="2011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183"/>
          <p:cNvSpPr txBox="1"/>
          <p:nvPr/>
        </p:nvSpPr>
        <p:spPr>
          <a:xfrm>
            <a:off x="1143000" y="2057400"/>
            <a:ext cx="1789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kst 184"/>
          <p:cNvSpPr txBox="1"/>
          <p:nvPr/>
        </p:nvSpPr>
        <p:spPr>
          <a:xfrm>
            <a:off x="1143000" y="246888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Moc lampy</a:t>
            </a:r>
            <a:endParaRPr lang="en-US" sz="1800" dirty="0"/>
          </a:p>
        </p:txBody>
      </p:sp>
      <p:sp>
        <p:nvSpPr>
          <p:cNvPr id="8" name="Karta 185"/>
          <p:cNvSpPr/>
          <p:nvPr/>
        </p:nvSpPr>
        <p:spPr>
          <a:xfrm>
            <a:off x="3527298" y="1783080"/>
            <a:ext cx="2430018" cy="2011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kst 186"/>
          <p:cNvSpPr txBox="1"/>
          <p:nvPr/>
        </p:nvSpPr>
        <p:spPr>
          <a:xfrm>
            <a:off x="3847338" y="2057400"/>
            <a:ext cx="1789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kst 187"/>
          <p:cNvSpPr txBox="1"/>
          <p:nvPr/>
        </p:nvSpPr>
        <p:spPr>
          <a:xfrm>
            <a:off x="3847338" y="246888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Synchronizacja</a:t>
            </a:r>
            <a:endParaRPr lang="en-US" sz="1800" dirty="0"/>
          </a:p>
        </p:txBody>
      </p:sp>
      <p:sp>
        <p:nvSpPr>
          <p:cNvPr id="11" name="Karta 188"/>
          <p:cNvSpPr/>
          <p:nvPr/>
        </p:nvSpPr>
        <p:spPr>
          <a:xfrm>
            <a:off x="6231636" y="1783080"/>
            <a:ext cx="2430018" cy="2011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kst 189"/>
          <p:cNvSpPr txBox="1"/>
          <p:nvPr/>
        </p:nvSpPr>
        <p:spPr>
          <a:xfrm>
            <a:off x="6551676" y="2057400"/>
            <a:ext cx="1789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kst 190"/>
          <p:cNvSpPr txBox="1"/>
          <p:nvPr/>
        </p:nvSpPr>
        <p:spPr>
          <a:xfrm>
            <a:off x="6551676" y="246888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Dyfuzja</a:t>
            </a:r>
            <a:endParaRPr lang="en-US" sz="1800" dirty="0"/>
          </a:p>
        </p:txBody>
      </p:sp>
      <p:sp>
        <p:nvSpPr>
          <p:cNvPr id="14" name="Karta 191"/>
          <p:cNvSpPr/>
          <p:nvPr/>
        </p:nvSpPr>
        <p:spPr>
          <a:xfrm>
            <a:off x="8935974" y="1783080"/>
            <a:ext cx="2430018" cy="2011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192"/>
          <p:cNvSpPr txBox="1"/>
          <p:nvPr/>
        </p:nvSpPr>
        <p:spPr>
          <a:xfrm>
            <a:off x="9256014" y="2057400"/>
            <a:ext cx="1789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kst 193"/>
          <p:cNvSpPr txBox="1"/>
          <p:nvPr/>
        </p:nvSpPr>
        <p:spPr>
          <a:xfrm>
            <a:off x="9256014" y="246888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HSS</a:t>
            </a:r>
            <a:endParaRPr lang="en-US" sz="1800" dirty="0"/>
          </a:p>
        </p:txBody>
      </p:sp>
      <p:sp>
        <p:nvSpPr>
          <p:cNvPr id="17" name="Pasek testu"/>
          <p:cNvSpPr/>
          <p:nvPr/>
        </p:nvSpPr>
        <p:spPr>
          <a:xfrm>
            <a:off x="822960" y="4069080"/>
            <a:ext cx="10543032" cy="1645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kst 195"/>
          <p:cNvSpPr txBox="1"/>
          <p:nvPr/>
        </p:nvSpPr>
        <p:spPr>
          <a:xfrm>
            <a:off x="1280160" y="40690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przed właściwym nagraniem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Praca z modelem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PRAKTYKA PODSTAWOWA</a:t>
            </a:r>
            <a:endParaRPr lang="en-US" sz="1000" dirty="0"/>
          </a:p>
        </p:txBody>
      </p:sp>
      <p:sp>
        <p:nvSpPr>
          <p:cNvPr id="5" name="Linia 197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198"/>
          <p:cNvSpPr txBox="1"/>
          <p:nvPr/>
        </p:nvSpPr>
        <p:spPr>
          <a:xfrm>
            <a:off x="822960" y="19659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199"/>
          <p:cNvSpPr txBox="1"/>
          <p:nvPr/>
        </p:nvSpPr>
        <p:spPr>
          <a:xfrm>
            <a:off x="1417320" y="19659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Kierunek ciała</a:t>
            </a:r>
            <a:endParaRPr lang="en-US" sz="2000" dirty="0"/>
          </a:p>
        </p:txBody>
      </p:sp>
      <p:sp>
        <p:nvSpPr>
          <p:cNvPr id="8" name="Linia 200"/>
          <p:cNvSpPr/>
          <p:nvPr/>
        </p:nvSpPr>
        <p:spPr>
          <a:xfrm>
            <a:off x="822960" y="26517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201"/>
          <p:cNvSpPr txBox="1"/>
          <p:nvPr/>
        </p:nvSpPr>
        <p:spPr>
          <a:xfrm>
            <a:off x="822960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202"/>
          <p:cNvSpPr txBox="1"/>
          <p:nvPr/>
        </p:nvSpPr>
        <p:spPr>
          <a:xfrm>
            <a:off x="1417320" y="26517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Ułożenie głowy</a:t>
            </a:r>
            <a:endParaRPr lang="en-US" sz="2000" dirty="0"/>
          </a:p>
        </p:txBody>
      </p:sp>
      <p:sp>
        <p:nvSpPr>
          <p:cNvPr id="11" name="Linia 203"/>
          <p:cNvSpPr/>
          <p:nvPr/>
        </p:nvSpPr>
        <p:spPr>
          <a:xfrm>
            <a:off x="822960" y="33375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204"/>
          <p:cNvSpPr txBox="1"/>
          <p:nvPr/>
        </p:nvSpPr>
        <p:spPr>
          <a:xfrm>
            <a:off x="822960" y="3337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205"/>
          <p:cNvSpPr txBox="1"/>
          <p:nvPr/>
        </p:nvSpPr>
        <p:spPr>
          <a:xfrm>
            <a:off x="1417320" y="33375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Wzrok</a:t>
            </a:r>
            <a:endParaRPr lang="en-US" sz="2000" dirty="0"/>
          </a:p>
        </p:txBody>
      </p:sp>
      <p:sp>
        <p:nvSpPr>
          <p:cNvPr id="14" name="Linia 206"/>
          <p:cNvSpPr/>
          <p:nvPr/>
        </p:nvSpPr>
        <p:spPr>
          <a:xfrm>
            <a:off x="822960" y="40233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207"/>
          <p:cNvSpPr txBox="1"/>
          <p:nvPr/>
        </p:nvSpPr>
        <p:spPr>
          <a:xfrm>
            <a:off x="822960" y="4023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208"/>
          <p:cNvSpPr txBox="1"/>
          <p:nvPr/>
        </p:nvSpPr>
        <p:spPr>
          <a:xfrm>
            <a:off x="1417320" y="40233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Dłonie</a:t>
            </a:r>
            <a:endParaRPr lang="en-US" sz="2000" dirty="0"/>
          </a:p>
        </p:txBody>
      </p:sp>
      <p:sp>
        <p:nvSpPr>
          <p:cNvPr id="17" name="Linia 209"/>
          <p:cNvSpPr/>
          <p:nvPr/>
        </p:nvSpPr>
        <p:spPr>
          <a:xfrm>
            <a:off x="822960" y="47091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kst 210"/>
          <p:cNvSpPr txBox="1"/>
          <p:nvPr/>
        </p:nvSpPr>
        <p:spPr>
          <a:xfrm>
            <a:off x="822960" y="4709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kst 211"/>
          <p:cNvSpPr txBox="1"/>
          <p:nvPr/>
        </p:nvSpPr>
        <p:spPr>
          <a:xfrm>
            <a:off x="1417320" y="47091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Jasne komunikaty</a:t>
            </a:r>
            <a:endParaRPr lang="en-US" sz="2000" dirty="0"/>
          </a:p>
        </p:txBody>
      </p:sp>
      <p:sp>
        <p:nvSpPr>
          <p:cNvPr id="20" name="Linia 212"/>
          <p:cNvSpPr/>
          <p:nvPr/>
        </p:nvSpPr>
        <p:spPr>
          <a:xfrm>
            <a:off x="822960" y="5394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Karta 213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Tekst 214"/>
          <p:cNvSpPr txBox="1"/>
          <p:nvPr/>
        </p:nvSpPr>
        <p:spPr>
          <a:xfrm>
            <a:off x="7315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ZAMIAST</a:t>
            </a:r>
            <a:endParaRPr lang="en-US" sz="1200" dirty="0"/>
          </a:p>
        </p:txBody>
      </p:sp>
      <p:sp>
        <p:nvSpPr>
          <p:cNvPr id="23" name="Tekst 215"/>
          <p:cNvSpPr txBox="1"/>
          <p:nvPr/>
        </p:nvSpPr>
        <p:spPr>
          <a:xfrm>
            <a:off x="7315200" y="2468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trike="sngStrike" dirty="0">
                <a:solidFill>
                  <a:schemeClr val="bg2"/>
                </a:solidFill>
              </a:rPr>
              <a:t>„wyglądaj naturalnie”</a:t>
            </a:r>
            <a:endParaRPr lang="en-US" sz="2200" dirty="0"/>
          </a:p>
        </p:txBody>
      </p:sp>
      <p:sp>
        <p:nvSpPr>
          <p:cNvPr id="24" name="Tekst 216"/>
          <p:cNvSpPr txBox="1"/>
          <p:nvPr/>
        </p:nvSpPr>
        <p:spPr>
          <a:xfrm>
            <a:off x="7315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MÓW</a:t>
            </a:r>
            <a:endParaRPr lang="en-US" sz="1200" dirty="0"/>
          </a:p>
        </p:txBody>
      </p:sp>
      <p:sp>
        <p:nvSpPr>
          <p:cNvPr id="25" name="Tekst 217"/>
          <p:cNvSpPr txBox="1"/>
          <p:nvPr/>
        </p:nvSpPr>
        <p:spPr>
          <a:xfrm>
            <a:off x="7315200" y="39319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„lekko obróć brodę w lewo”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Soft light i hard light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PRAKTYKA PODSTAWOWA</a:t>
            </a:r>
            <a:endParaRPr lang="en-US" sz="1000" dirty="0"/>
          </a:p>
        </p:txBody>
      </p:sp>
      <p:sp>
        <p:nvSpPr>
          <p:cNvPr id="5" name="Karta 219"/>
          <p:cNvSpPr/>
          <p:nvPr/>
        </p:nvSpPr>
        <p:spPr>
          <a:xfrm>
            <a:off x="822960" y="1783080"/>
            <a:ext cx="5088636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220"/>
          <p:cNvSpPr txBox="1"/>
          <p:nvPr/>
        </p:nvSpPr>
        <p:spPr>
          <a:xfrm>
            <a:off x="118872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SOFT</a:t>
            </a:r>
            <a:endParaRPr lang="en-US" sz="1200" dirty="0"/>
          </a:p>
        </p:txBody>
      </p:sp>
      <p:sp>
        <p:nvSpPr>
          <p:cNvPr id="7" name="Tekst 221"/>
          <p:cNvSpPr txBox="1"/>
          <p:nvPr/>
        </p:nvSpPr>
        <p:spPr>
          <a:xfrm>
            <a:off x="118872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Softbox / parasolka</a:t>
            </a:r>
            <a:endParaRPr lang="en-US" sz="2200" dirty="0"/>
          </a:p>
        </p:txBody>
      </p:sp>
      <p:sp>
        <p:nvSpPr>
          <p:cNvPr id="8" name="Tekst 222"/>
          <p:cNvSpPr txBox="1"/>
          <p:nvPr/>
        </p:nvSpPr>
        <p:spPr>
          <a:xfrm>
            <a:off x="118872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miękkie przejścia</a:t>
            </a:r>
            <a:endParaRPr lang="en-US" sz="2000" dirty="0"/>
          </a:p>
        </p:txBody>
      </p:sp>
      <p:sp>
        <p:nvSpPr>
          <p:cNvPr id="9" name="Obiekt"/>
          <p:cNvSpPr/>
          <p:nvPr/>
        </p:nvSpPr>
        <p:spPr>
          <a:xfrm>
            <a:off x="4219956" y="23774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Kolo 224"/>
          <p:cNvSpPr/>
          <p:nvPr/>
        </p:nvSpPr>
        <p:spPr>
          <a:xfrm>
            <a:off x="4494276" y="2743200"/>
            <a:ext cx="1325880" cy="566928"/>
          </a:xfrm>
          <a:prstGeom prst="ellipse">
            <a:avLst/>
          </a:prstGeom>
          <a:solidFill>
            <a:schemeClr val="bg2">
              <a:alpha val="8000"/>
            </a:schemeClr>
          </a:solidFill>
          <a:ln/>
        </p:spPr>
      </p:sp>
      <p:sp>
        <p:nvSpPr>
          <p:cNvPr id="11" name="Kolo 225"/>
          <p:cNvSpPr/>
          <p:nvPr/>
        </p:nvSpPr>
        <p:spPr>
          <a:xfrm>
            <a:off x="4585716" y="2798064"/>
            <a:ext cx="1097280" cy="457200"/>
          </a:xfrm>
          <a:prstGeom prst="ellipse">
            <a:avLst/>
          </a:prstGeom>
          <a:solidFill>
            <a:schemeClr val="bg2">
              <a:alpha val="18000"/>
            </a:schemeClr>
          </a:solidFill>
          <a:ln/>
        </p:spPr>
      </p:sp>
      <p:sp>
        <p:nvSpPr>
          <p:cNvPr id="12" name="Kolo 226"/>
          <p:cNvSpPr/>
          <p:nvPr/>
        </p:nvSpPr>
        <p:spPr>
          <a:xfrm>
            <a:off x="4677156" y="2852928"/>
            <a:ext cx="868680" cy="347472"/>
          </a:xfrm>
          <a:prstGeom prst="ellipse">
            <a:avLst/>
          </a:prstGeom>
          <a:solidFill>
            <a:schemeClr val="bg2">
              <a:alpha val="35000"/>
            </a:schemeClr>
          </a:solidFill>
          <a:ln/>
        </p:spPr>
      </p:sp>
      <p:sp>
        <p:nvSpPr>
          <p:cNvPr id="13" name="Karta 227"/>
          <p:cNvSpPr/>
          <p:nvPr/>
        </p:nvSpPr>
        <p:spPr>
          <a:xfrm>
            <a:off x="6277356" y="1783080"/>
            <a:ext cx="5088636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kst 228"/>
          <p:cNvSpPr txBox="1"/>
          <p:nvPr/>
        </p:nvSpPr>
        <p:spPr>
          <a:xfrm>
            <a:off x="6643116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HARD</a:t>
            </a:r>
            <a:endParaRPr lang="en-US" sz="1200" dirty="0"/>
          </a:p>
        </p:txBody>
      </p:sp>
      <p:sp>
        <p:nvSpPr>
          <p:cNvPr id="15" name="Tekst 229"/>
          <p:cNvSpPr txBox="1"/>
          <p:nvPr/>
        </p:nvSpPr>
        <p:spPr>
          <a:xfrm>
            <a:off x="6643116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Reflektor / gobo</a:t>
            </a:r>
            <a:endParaRPr lang="en-US" sz="2200" dirty="0"/>
          </a:p>
        </p:txBody>
      </p:sp>
      <p:sp>
        <p:nvSpPr>
          <p:cNvPr id="16" name="Tekst 230"/>
          <p:cNvSpPr txBox="1"/>
          <p:nvPr/>
        </p:nvSpPr>
        <p:spPr>
          <a:xfrm>
            <a:off x="6643116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mocne cienie</a:t>
            </a:r>
            <a:endParaRPr lang="en-US" sz="2000" dirty="0"/>
          </a:p>
        </p:txBody>
      </p:sp>
      <p:sp>
        <p:nvSpPr>
          <p:cNvPr id="17" name="Obiekt"/>
          <p:cNvSpPr/>
          <p:nvPr/>
        </p:nvSpPr>
        <p:spPr>
          <a:xfrm>
            <a:off x="9674352" y="23774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Kolo 232"/>
          <p:cNvSpPr/>
          <p:nvPr/>
        </p:nvSpPr>
        <p:spPr>
          <a:xfrm>
            <a:off x="10131552" y="2852928"/>
            <a:ext cx="868680" cy="347472"/>
          </a:xfrm>
          <a:prstGeom prst="ellipse">
            <a:avLst/>
          </a:prstGeom>
          <a:solidFill>
            <a:schemeClr val="bg2">
              <a:alpha val="70000"/>
            </a:schemeClr>
          </a:solidFill>
          <a:ln/>
        </p:spPr>
      </p:sp>
      <p:sp>
        <p:nvSpPr>
          <p:cNvPr id="19" name="Tekst 233"/>
          <p:cNvSpPr txBox="1"/>
          <p:nvPr/>
        </p:nvSpPr>
        <p:spPr>
          <a:xfrm>
            <a:off x="822960" y="48463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Dobieramy światło do celu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Butterfly / Paramount lighting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PRAKTYKA PODSTAWOWA</a:t>
            </a:r>
            <a:endParaRPr lang="en-US" sz="1000" dirty="0"/>
          </a:p>
        </p:txBody>
      </p:sp>
      <p:sp>
        <p:nvSpPr>
          <p:cNvPr id="5" name="Karta 235"/>
          <p:cNvSpPr/>
          <p:nvPr/>
        </p:nvSpPr>
        <p:spPr>
          <a:xfrm>
            <a:off x="822960" y="1783080"/>
            <a:ext cx="56692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Linia 236"/>
          <p:cNvSpPr/>
          <p:nvPr/>
        </p:nvSpPr>
        <p:spPr>
          <a:xfrm>
            <a:off x="2075688" y="3984955"/>
            <a:ext cx="2326234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7" name="Linia 237"/>
          <p:cNvSpPr/>
          <p:nvPr/>
        </p:nvSpPr>
        <p:spPr>
          <a:xfrm>
            <a:off x="3070106" y="2332952"/>
            <a:ext cx="1834735" cy="1652003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8" name="Glowa modela 238"/>
          <p:cNvSpPr/>
          <p:nvPr/>
        </p:nvSpPr>
        <p:spPr>
          <a:xfrm>
            <a:off x="4447642" y="3482035"/>
            <a:ext cx="914400" cy="10058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9" name="Aparat 240"/>
          <p:cNvSpPr/>
          <p:nvPr/>
        </p:nvSpPr>
        <p:spPr>
          <a:xfrm>
            <a:off x="1389888" y="3756355"/>
            <a:ext cx="502920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Obiektyw 242"/>
          <p:cNvSpPr/>
          <p:nvPr/>
        </p:nvSpPr>
        <p:spPr>
          <a:xfrm>
            <a:off x="1892808" y="3847795"/>
            <a:ext cx="182880" cy="2743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1" name="Znacznik 244"/>
          <p:cNvSpPr txBox="1"/>
          <p:nvPr/>
        </p:nvSpPr>
        <p:spPr>
          <a:xfrm>
            <a:off x="2658626" y="2159216"/>
            <a:ext cx="82296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100" dirty="0"/>
          </a:p>
        </p:txBody>
      </p:sp>
      <p:sp>
        <p:nvSpPr>
          <p:cNvPr id="12" name="Tekst 245"/>
          <p:cNvSpPr txBox="1"/>
          <p:nvPr/>
        </p:nvSpPr>
        <p:spPr>
          <a:xfrm>
            <a:off x="3527306" y="2195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≈45° w dół</a:t>
            </a:r>
            <a:endParaRPr lang="en-US" sz="1200" dirty="0"/>
          </a:p>
        </p:txBody>
      </p:sp>
      <p:sp>
        <p:nvSpPr>
          <p:cNvPr id="13" name="Linia 246"/>
          <p:cNvSpPr/>
          <p:nvPr/>
        </p:nvSpPr>
        <p:spPr>
          <a:xfrm>
            <a:off x="6858000" y="196596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kst 247"/>
          <p:cNvSpPr txBox="1"/>
          <p:nvPr/>
        </p:nvSpPr>
        <p:spPr>
          <a:xfrm>
            <a:off x="685800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kst 248"/>
          <p:cNvSpPr txBox="1"/>
          <p:nvPr/>
        </p:nvSpPr>
        <p:spPr>
          <a:xfrm>
            <a:off x="7452360" y="196596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Źródło nad obiektywem</a:t>
            </a:r>
            <a:endParaRPr lang="en-US" sz="1800" dirty="0"/>
          </a:p>
        </p:txBody>
      </p:sp>
      <p:sp>
        <p:nvSpPr>
          <p:cNvPr id="16" name="Linia 249"/>
          <p:cNvSpPr/>
          <p:nvPr/>
        </p:nvSpPr>
        <p:spPr>
          <a:xfrm>
            <a:off x="6858000" y="269748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kst 250"/>
          <p:cNvSpPr txBox="1"/>
          <p:nvPr/>
        </p:nvSpPr>
        <p:spPr>
          <a:xfrm>
            <a:off x="685800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kst 251"/>
          <p:cNvSpPr txBox="1"/>
          <p:nvPr/>
        </p:nvSpPr>
        <p:spPr>
          <a:xfrm>
            <a:off x="7452360" y="26974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Kierunek około 45° w dół</a:t>
            </a:r>
            <a:endParaRPr lang="en-US" sz="1800" dirty="0"/>
          </a:p>
        </p:txBody>
      </p:sp>
      <p:sp>
        <p:nvSpPr>
          <p:cNvPr id="19" name="Linia 252"/>
          <p:cNvSpPr/>
          <p:nvPr/>
        </p:nvSpPr>
        <p:spPr>
          <a:xfrm>
            <a:off x="6858000" y="342900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kst 253"/>
          <p:cNvSpPr txBox="1"/>
          <p:nvPr/>
        </p:nvSpPr>
        <p:spPr>
          <a:xfrm>
            <a:off x="685800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kst 254"/>
          <p:cNvSpPr txBox="1"/>
          <p:nvPr/>
        </p:nvSpPr>
        <p:spPr>
          <a:xfrm>
            <a:off x="7452360" y="34290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Cień pod nosem</a:t>
            </a:r>
            <a:endParaRPr lang="en-US" sz="1800" dirty="0"/>
          </a:p>
        </p:txBody>
      </p:sp>
      <p:sp>
        <p:nvSpPr>
          <p:cNvPr id="22" name="Linia 255"/>
          <p:cNvSpPr/>
          <p:nvPr/>
        </p:nvSpPr>
        <p:spPr>
          <a:xfrm>
            <a:off x="6858000" y="416052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Tekst 256"/>
          <p:cNvSpPr txBox="1"/>
          <p:nvPr/>
        </p:nvSpPr>
        <p:spPr>
          <a:xfrm>
            <a:off x="6858000" y="4160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kst 257"/>
          <p:cNvSpPr txBox="1"/>
          <p:nvPr/>
        </p:nvSpPr>
        <p:spPr>
          <a:xfrm>
            <a:off x="7452360" y="41605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Efekt glamour / beauty</a:t>
            </a:r>
            <a:endParaRPr lang="en-US" sz="1800" dirty="0"/>
          </a:p>
        </p:txBody>
      </p:sp>
      <p:sp>
        <p:nvSpPr>
          <p:cNvPr id="25" name="Linia 258"/>
          <p:cNvSpPr/>
          <p:nvPr/>
        </p:nvSpPr>
        <p:spPr>
          <a:xfrm>
            <a:off x="6858000" y="489204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Ćwiczenie: trzy zmiany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PRAKTYKA PODSTAWOWA</a:t>
            </a:r>
            <a:endParaRPr lang="en-US" sz="1000" dirty="0"/>
          </a:p>
        </p:txBody>
      </p:sp>
      <p:sp>
        <p:nvSpPr>
          <p:cNvPr id="5" name="Tekst 260"/>
          <p:cNvSpPr txBox="1"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ĆWICZENIE</a:t>
            </a:r>
            <a:endParaRPr lang="en-US" sz="1200" dirty="0"/>
          </a:p>
        </p:txBody>
      </p:sp>
      <p:sp>
        <p:nvSpPr>
          <p:cNvPr id="6" name="Karta 261"/>
          <p:cNvSpPr/>
          <p:nvPr/>
        </p:nvSpPr>
        <p:spPr>
          <a:xfrm>
            <a:off x="822960" y="228600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kst 262"/>
          <p:cNvSpPr txBox="1"/>
          <p:nvPr/>
        </p:nvSpPr>
        <p:spPr>
          <a:xfrm>
            <a:off x="109728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kst 263"/>
          <p:cNvSpPr txBox="1"/>
          <p:nvPr/>
        </p:nvSpPr>
        <p:spPr>
          <a:xfrm>
            <a:off x="1097280" y="3200400"/>
            <a:ext cx="174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Zdjęcie bazowe</a:t>
            </a:r>
            <a:endParaRPr lang="en-US" sz="1800" dirty="0"/>
          </a:p>
        </p:txBody>
      </p:sp>
      <p:sp>
        <p:nvSpPr>
          <p:cNvPr id="9" name="Tekst 264"/>
          <p:cNvSpPr txBox="1"/>
          <p:nvPr/>
        </p:nvSpPr>
        <p:spPr>
          <a:xfrm>
            <a:off x="3115818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Karta 265"/>
          <p:cNvSpPr/>
          <p:nvPr/>
        </p:nvSpPr>
        <p:spPr>
          <a:xfrm>
            <a:off x="3573018" y="228600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kst 266"/>
          <p:cNvSpPr txBox="1"/>
          <p:nvPr/>
        </p:nvSpPr>
        <p:spPr>
          <a:xfrm>
            <a:off x="3847338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kst 267"/>
          <p:cNvSpPr txBox="1"/>
          <p:nvPr/>
        </p:nvSpPr>
        <p:spPr>
          <a:xfrm>
            <a:off x="3847338" y="3200400"/>
            <a:ext cx="174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Zmieniamy jeden parametr</a:t>
            </a:r>
            <a:endParaRPr lang="en-US" sz="1800" dirty="0"/>
          </a:p>
        </p:txBody>
      </p:sp>
      <p:sp>
        <p:nvSpPr>
          <p:cNvPr id="13" name="Tekst 268"/>
          <p:cNvSpPr txBox="1"/>
          <p:nvPr/>
        </p:nvSpPr>
        <p:spPr>
          <a:xfrm>
            <a:off x="5865876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Karta 269"/>
          <p:cNvSpPr/>
          <p:nvPr/>
        </p:nvSpPr>
        <p:spPr>
          <a:xfrm>
            <a:off x="6323076" y="228600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270"/>
          <p:cNvSpPr txBox="1"/>
          <p:nvPr/>
        </p:nvSpPr>
        <p:spPr>
          <a:xfrm>
            <a:off x="6597396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kst 271"/>
          <p:cNvSpPr txBox="1"/>
          <p:nvPr/>
        </p:nvSpPr>
        <p:spPr>
          <a:xfrm>
            <a:off x="6597396" y="3200400"/>
            <a:ext cx="174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Zdjęcie po zmianie</a:t>
            </a:r>
            <a:endParaRPr lang="en-US" sz="1800" dirty="0"/>
          </a:p>
        </p:txBody>
      </p:sp>
      <p:sp>
        <p:nvSpPr>
          <p:cNvPr id="17" name="Tekst 272"/>
          <p:cNvSpPr txBox="1"/>
          <p:nvPr/>
        </p:nvSpPr>
        <p:spPr>
          <a:xfrm>
            <a:off x="8615934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Karta 273"/>
          <p:cNvSpPr/>
          <p:nvPr/>
        </p:nvSpPr>
        <p:spPr>
          <a:xfrm>
            <a:off x="9073134" y="228600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kst 274"/>
          <p:cNvSpPr txBox="1"/>
          <p:nvPr/>
        </p:nvSpPr>
        <p:spPr>
          <a:xfrm>
            <a:off x="9347454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kst 275"/>
          <p:cNvSpPr txBox="1"/>
          <p:nvPr/>
        </p:nvSpPr>
        <p:spPr>
          <a:xfrm>
            <a:off x="9347454" y="3200400"/>
            <a:ext cx="174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Porównujemy before / after</a:t>
            </a:r>
            <a:endParaRPr lang="en-US" sz="1800" dirty="0"/>
          </a:p>
        </p:txBody>
      </p:sp>
      <p:sp>
        <p:nvSpPr>
          <p:cNvPr id="21" name="Tekst 276"/>
          <p:cNvSpPr txBox="1"/>
          <p:nvPr/>
        </p:nvSpPr>
        <p:spPr>
          <a:xfrm>
            <a:off x="822960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 parach. Trzy krótkie testy.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Zaawansowane setupy</a:t>
            </a:r>
            <a:endParaRPr lang="en-US" sz="5400" dirty="0"/>
          </a:p>
        </p:txBody>
      </p:sp>
      <p:sp>
        <p:nvSpPr>
          <p:cNvPr id="3" name="Tekst 277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kst 278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 →  DEMO  →  ĆWICZENIE  →  PRZEGLĄD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Blenda i światło naturalne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ZAAWANSOWANE SETUPY</a:t>
            </a:r>
            <a:endParaRPr lang="en-US" sz="1000" dirty="0"/>
          </a:p>
        </p:txBody>
      </p:sp>
      <p:sp>
        <p:nvSpPr>
          <p:cNvPr id="5" name="Karta 280"/>
          <p:cNvSpPr/>
          <p:nvPr/>
        </p:nvSpPr>
        <p:spPr>
          <a:xfrm>
            <a:off x="822960" y="1783080"/>
            <a:ext cx="3270504" cy="2834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Probka blendy Biała"/>
          <p:cNvSpPr/>
          <p:nvPr/>
        </p:nvSpPr>
        <p:spPr>
          <a:xfrm>
            <a:off x="1188720" y="2148840"/>
            <a:ext cx="1005840" cy="1005840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7" name="Tekst 282"/>
          <p:cNvSpPr txBox="1"/>
          <p:nvPr/>
        </p:nvSpPr>
        <p:spPr>
          <a:xfrm>
            <a:off x="1188720" y="338328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Biała</a:t>
            </a:r>
            <a:endParaRPr lang="en-US" sz="2800" dirty="0"/>
          </a:p>
        </p:txBody>
      </p:sp>
      <p:sp>
        <p:nvSpPr>
          <p:cNvPr id="8" name="Tekst 283"/>
          <p:cNvSpPr txBox="1"/>
          <p:nvPr/>
        </p:nvSpPr>
        <p:spPr>
          <a:xfrm>
            <a:off x="1188720" y="388620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delikatne odbicie</a:t>
            </a:r>
            <a:endParaRPr lang="en-US" sz="1800" dirty="0"/>
          </a:p>
        </p:txBody>
      </p:sp>
      <p:sp>
        <p:nvSpPr>
          <p:cNvPr id="9" name="Karta 284"/>
          <p:cNvSpPr/>
          <p:nvPr/>
        </p:nvSpPr>
        <p:spPr>
          <a:xfrm>
            <a:off x="4459224" y="1783080"/>
            <a:ext cx="3270504" cy="2834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Probka blendy Srebrna"/>
          <p:cNvSpPr/>
          <p:nvPr/>
        </p:nvSpPr>
        <p:spPr>
          <a:xfrm>
            <a:off x="4824984" y="2148840"/>
            <a:ext cx="1005840" cy="1005840"/>
          </a:xfrm>
          <a:prstGeom prst="ellipse">
            <a:avLst/>
          </a:prstGeom>
          <a:solidFill>
            <a:srgbClr val="C4C7CC"/>
          </a:solidFill>
          <a:ln/>
        </p:spPr>
      </p:sp>
      <p:sp>
        <p:nvSpPr>
          <p:cNvPr id="11" name="Tekst 286"/>
          <p:cNvSpPr txBox="1"/>
          <p:nvPr/>
        </p:nvSpPr>
        <p:spPr>
          <a:xfrm>
            <a:off x="4824984" y="338328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Srebrna</a:t>
            </a:r>
            <a:endParaRPr lang="en-US" sz="2800" dirty="0"/>
          </a:p>
        </p:txBody>
      </p:sp>
      <p:sp>
        <p:nvSpPr>
          <p:cNvPr id="12" name="Tekst 287"/>
          <p:cNvSpPr txBox="1"/>
          <p:nvPr/>
        </p:nvSpPr>
        <p:spPr>
          <a:xfrm>
            <a:off x="4824984" y="388620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mocniejsze odbicie</a:t>
            </a:r>
            <a:endParaRPr lang="en-US" sz="1800" dirty="0"/>
          </a:p>
        </p:txBody>
      </p:sp>
      <p:sp>
        <p:nvSpPr>
          <p:cNvPr id="13" name="Karta 288"/>
          <p:cNvSpPr/>
          <p:nvPr/>
        </p:nvSpPr>
        <p:spPr>
          <a:xfrm>
            <a:off x="8095488" y="1783080"/>
            <a:ext cx="3270504" cy="2834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Probka blendy Złota"/>
          <p:cNvSpPr/>
          <p:nvPr/>
        </p:nvSpPr>
        <p:spPr>
          <a:xfrm>
            <a:off x="8461248" y="2148840"/>
            <a:ext cx="1005840" cy="1005840"/>
          </a:xfrm>
          <a:prstGeom prst="ellipse">
            <a:avLst/>
          </a:prstGeom>
          <a:solidFill>
            <a:srgbClr val="D9B24C"/>
          </a:solidFill>
          <a:ln/>
        </p:spPr>
      </p:sp>
      <p:sp>
        <p:nvSpPr>
          <p:cNvPr id="15" name="Tekst 290"/>
          <p:cNvSpPr txBox="1"/>
          <p:nvPr/>
        </p:nvSpPr>
        <p:spPr>
          <a:xfrm>
            <a:off x="8461248" y="338328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Złota</a:t>
            </a:r>
            <a:endParaRPr lang="en-US" sz="2800" dirty="0"/>
          </a:p>
        </p:txBody>
      </p:sp>
      <p:sp>
        <p:nvSpPr>
          <p:cNvPr id="16" name="Tekst 291"/>
          <p:cNvSpPr txBox="1"/>
          <p:nvPr/>
        </p:nvSpPr>
        <p:spPr>
          <a:xfrm>
            <a:off x="8461248" y="388620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cieplejszy efekt</a:t>
            </a:r>
            <a:endParaRPr lang="en-US" sz="1800" dirty="0"/>
          </a:p>
        </p:txBody>
      </p:sp>
      <p:sp>
        <p:nvSpPr>
          <p:cNvPr id="17" name="Tekst 292"/>
          <p:cNvSpPr txBox="1"/>
          <p:nvPr/>
        </p:nvSpPr>
        <p:spPr>
          <a:xfrm>
            <a:off x="822960" y="48920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Blenda działa jako fill light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Trzy źródła światła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ZAAWANSOWANE SETUPY</a:t>
            </a:r>
            <a:endParaRPr lang="en-US" sz="1000" dirty="0"/>
          </a:p>
        </p:txBody>
      </p:sp>
      <p:sp>
        <p:nvSpPr>
          <p:cNvPr id="5" name="Linia 294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295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296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Key light — główne światło</a:t>
            </a:r>
            <a:endParaRPr lang="en-US" sz="1800" dirty="0"/>
          </a:p>
        </p:txBody>
      </p:sp>
      <p:sp>
        <p:nvSpPr>
          <p:cNvPr id="8" name="Linia 297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298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299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Fill light — kontrola cieni</a:t>
            </a:r>
            <a:endParaRPr lang="en-US" sz="1800" dirty="0"/>
          </a:p>
        </p:txBody>
      </p:sp>
      <p:sp>
        <p:nvSpPr>
          <p:cNvPr id="11" name="Linia 300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301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302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Rim / back light — separacja od tła</a:t>
            </a:r>
            <a:endParaRPr lang="en-US" sz="1800" dirty="0"/>
          </a:p>
        </p:txBody>
      </p:sp>
      <p:sp>
        <p:nvSpPr>
          <p:cNvPr id="14" name="Linia 303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304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305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Balans mocy</a:t>
            </a:r>
            <a:endParaRPr lang="en-US" sz="1800" dirty="0"/>
          </a:p>
        </p:txBody>
      </p:sp>
      <p:sp>
        <p:nvSpPr>
          <p:cNvPr id="17" name="Linia 306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307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Linia 308"/>
          <p:cNvSpPr/>
          <p:nvPr/>
        </p:nvSpPr>
        <p:spPr>
          <a:xfrm>
            <a:off x="9157716" y="3787445"/>
            <a:ext cx="0" cy="103693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0" name="Linia 309"/>
          <p:cNvSpPr/>
          <p:nvPr/>
        </p:nvSpPr>
        <p:spPr>
          <a:xfrm flipV="1">
            <a:off x="8259683" y="3513125"/>
            <a:ext cx="898033" cy="898033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1" name="Linia 310"/>
          <p:cNvSpPr/>
          <p:nvPr/>
        </p:nvSpPr>
        <p:spPr>
          <a:xfrm>
            <a:off x="9157716" y="3513125"/>
            <a:ext cx="845207" cy="845207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2" name="Linia 311"/>
          <p:cNvSpPr/>
          <p:nvPr/>
        </p:nvSpPr>
        <p:spPr>
          <a:xfrm>
            <a:off x="9157716" y="2243115"/>
            <a:ext cx="0" cy="127001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3" name="Model 312"/>
          <p:cNvSpPr/>
          <p:nvPr/>
        </p:nvSpPr>
        <p:spPr>
          <a:xfrm>
            <a:off x="8883396" y="3238805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Aparat 314"/>
          <p:cNvSpPr/>
          <p:nvPr/>
        </p:nvSpPr>
        <p:spPr>
          <a:xfrm>
            <a:off x="8929116" y="4824374"/>
            <a:ext cx="457200" cy="365760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25" name="Znacznik 315"/>
          <p:cNvSpPr txBox="1"/>
          <p:nvPr/>
        </p:nvSpPr>
        <p:spPr>
          <a:xfrm>
            <a:off x="7893923" y="4237422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100" dirty="0"/>
          </a:p>
        </p:txBody>
      </p:sp>
      <p:sp>
        <p:nvSpPr>
          <p:cNvPr id="26" name="Znacznik 316"/>
          <p:cNvSpPr txBox="1"/>
          <p:nvPr/>
        </p:nvSpPr>
        <p:spPr>
          <a:xfrm>
            <a:off x="9682883" y="4184596"/>
            <a:ext cx="640080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FILL</a:t>
            </a:r>
            <a:endParaRPr lang="en-US" sz="1100" dirty="0"/>
          </a:p>
        </p:txBody>
      </p:sp>
      <p:sp>
        <p:nvSpPr>
          <p:cNvPr id="27" name="Znacznik 317"/>
          <p:cNvSpPr txBox="1"/>
          <p:nvPr/>
        </p:nvSpPr>
        <p:spPr>
          <a:xfrm>
            <a:off x="8791956" y="2069379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Kontrast i ratio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ZAAWANSOWANE SETUPY</a:t>
            </a:r>
            <a:endParaRPr lang="en-US" sz="1000" dirty="0"/>
          </a:p>
        </p:txBody>
      </p:sp>
      <p:sp>
        <p:nvSpPr>
          <p:cNvPr id="5" name="Karta 319"/>
          <p:cNvSpPr/>
          <p:nvPr/>
        </p:nvSpPr>
        <p:spPr>
          <a:xfrm>
            <a:off x="822960" y="1783080"/>
            <a:ext cx="5088636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320"/>
          <p:cNvSpPr txBox="1"/>
          <p:nvPr/>
        </p:nvSpPr>
        <p:spPr>
          <a:xfrm>
            <a:off x="118872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2:1</a:t>
            </a:r>
            <a:endParaRPr lang="en-US" sz="6400" dirty="0"/>
          </a:p>
        </p:txBody>
      </p:sp>
      <p:sp>
        <p:nvSpPr>
          <p:cNvPr id="7" name="Tekst 321"/>
          <p:cNvSpPr txBox="1"/>
          <p:nvPr/>
        </p:nvSpPr>
        <p:spPr>
          <a:xfrm>
            <a:off x="118872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delikatny kontrast</a:t>
            </a:r>
            <a:endParaRPr lang="en-US" sz="2000" dirty="0"/>
          </a:p>
        </p:txBody>
      </p:sp>
      <p:sp>
        <p:nvSpPr>
          <p:cNvPr id="8" name="Cien"/>
          <p:cNvSpPr/>
          <p:nvPr/>
        </p:nvSpPr>
        <p:spPr>
          <a:xfrm>
            <a:off x="3534156" y="3886200"/>
            <a:ext cx="82296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wiatlo"/>
          <p:cNvSpPr/>
          <p:nvPr/>
        </p:nvSpPr>
        <p:spPr>
          <a:xfrm>
            <a:off x="3534156" y="3383280"/>
            <a:ext cx="822960" cy="502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Tekst 324"/>
          <p:cNvSpPr txBox="1"/>
          <p:nvPr/>
        </p:nvSpPr>
        <p:spPr>
          <a:xfrm>
            <a:off x="4494276" y="3886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cień</a:t>
            </a:r>
            <a:endParaRPr lang="en-US" sz="1400" dirty="0"/>
          </a:p>
        </p:txBody>
      </p:sp>
      <p:sp>
        <p:nvSpPr>
          <p:cNvPr id="11" name="Tekst 325"/>
          <p:cNvSpPr txBox="1"/>
          <p:nvPr/>
        </p:nvSpPr>
        <p:spPr>
          <a:xfrm>
            <a:off x="4494276" y="3383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światło</a:t>
            </a:r>
            <a:endParaRPr lang="en-US" sz="1400" dirty="0"/>
          </a:p>
        </p:txBody>
      </p:sp>
      <p:sp>
        <p:nvSpPr>
          <p:cNvPr id="12" name="Karta 326"/>
          <p:cNvSpPr/>
          <p:nvPr/>
        </p:nvSpPr>
        <p:spPr>
          <a:xfrm>
            <a:off x="6277356" y="1783080"/>
            <a:ext cx="5088636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Tekst 327"/>
          <p:cNvSpPr txBox="1"/>
          <p:nvPr/>
        </p:nvSpPr>
        <p:spPr>
          <a:xfrm>
            <a:off x="6643116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4:1</a:t>
            </a:r>
            <a:endParaRPr lang="en-US" sz="6400" dirty="0"/>
          </a:p>
        </p:txBody>
      </p:sp>
      <p:sp>
        <p:nvSpPr>
          <p:cNvPr id="14" name="Tekst 328"/>
          <p:cNvSpPr txBox="1"/>
          <p:nvPr/>
        </p:nvSpPr>
        <p:spPr>
          <a:xfrm>
            <a:off x="6643116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mocniejszy kontrast</a:t>
            </a:r>
            <a:endParaRPr lang="en-US" sz="2000" dirty="0"/>
          </a:p>
        </p:txBody>
      </p:sp>
      <p:sp>
        <p:nvSpPr>
          <p:cNvPr id="15" name="Cien"/>
          <p:cNvSpPr/>
          <p:nvPr/>
        </p:nvSpPr>
        <p:spPr>
          <a:xfrm>
            <a:off x="8988552" y="3886200"/>
            <a:ext cx="82296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wiatlo"/>
          <p:cNvSpPr/>
          <p:nvPr/>
        </p:nvSpPr>
        <p:spPr>
          <a:xfrm>
            <a:off x="8988552" y="2880360"/>
            <a:ext cx="822960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kst 331"/>
          <p:cNvSpPr txBox="1"/>
          <p:nvPr/>
        </p:nvSpPr>
        <p:spPr>
          <a:xfrm>
            <a:off x="9948672" y="3886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cień</a:t>
            </a:r>
            <a:endParaRPr lang="en-US" sz="1400" dirty="0"/>
          </a:p>
        </p:txBody>
      </p:sp>
      <p:sp>
        <p:nvSpPr>
          <p:cNvPr id="18" name="Tekst 332"/>
          <p:cNvSpPr txBox="1"/>
          <p:nvPr/>
        </p:nvSpPr>
        <p:spPr>
          <a:xfrm>
            <a:off x="9948672" y="2880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światło</a:t>
            </a:r>
            <a:endParaRPr lang="en-US" sz="1400" dirty="0"/>
          </a:p>
        </p:txBody>
      </p:sp>
      <p:sp>
        <p:nvSpPr>
          <p:cNvPr id="19" name="Tekst 333"/>
          <p:cNvSpPr txBox="1"/>
          <p:nvPr/>
        </p:nvSpPr>
        <p:spPr>
          <a:xfrm>
            <a:off x="822960" y="4937760"/>
            <a:ext cx="50886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Więcej fill = mniej cieni</a:t>
            </a:r>
            <a:endParaRPr lang="en-US" sz="2000" dirty="0"/>
          </a:p>
        </p:txBody>
      </p:sp>
      <p:sp>
        <p:nvSpPr>
          <p:cNvPr id="20" name="Tekst 334"/>
          <p:cNvSpPr txBox="1"/>
          <p:nvPr/>
        </p:nvSpPr>
        <p:spPr>
          <a:xfrm>
            <a:off x="6277356" y="4937760"/>
            <a:ext cx="50886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Mniej fill = bardziej dramatyczny obraz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Rembrandt, Split, Loop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ZAAWANSOWANE SETUPY</a:t>
            </a:r>
            <a:endParaRPr lang="en-US" sz="1000" dirty="0"/>
          </a:p>
        </p:txBody>
      </p:sp>
      <p:sp>
        <p:nvSpPr>
          <p:cNvPr id="5" name="Karta 336"/>
          <p:cNvSpPr/>
          <p:nvPr/>
        </p:nvSpPr>
        <p:spPr>
          <a:xfrm>
            <a:off x="822960" y="1783080"/>
            <a:ext cx="3270504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Linia 337"/>
          <p:cNvSpPr/>
          <p:nvPr/>
        </p:nvSpPr>
        <p:spPr>
          <a:xfrm>
            <a:off x="2458212" y="3355848"/>
            <a:ext cx="0" cy="596189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7" name="Linia 338"/>
          <p:cNvSpPr/>
          <p:nvPr/>
        </p:nvSpPr>
        <p:spPr>
          <a:xfrm flipV="1">
            <a:off x="1811634" y="3154680"/>
            <a:ext cx="646578" cy="646578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8" name="Model 339"/>
          <p:cNvSpPr/>
          <p:nvPr/>
        </p:nvSpPr>
        <p:spPr>
          <a:xfrm>
            <a:off x="2257044" y="2953512"/>
            <a:ext cx="402336" cy="40233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9" name="Aparat 341"/>
          <p:cNvSpPr/>
          <p:nvPr/>
        </p:nvSpPr>
        <p:spPr>
          <a:xfrm>
            <a:off x="2311908" y="3952037"/>
            <a:ext cx="292608" cy="234086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0" name="Znacznik 342"/>
          <p:cNvSpPr txBox="1"/>
          <p:nvPr/>
        </p:nvSpPr>
        <p:spPr>
          <a:xfrm>
            <a:off x="1560174" y="3664098"/>
            <a:ext cx="502920" cy="27432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000" dirty="0"/>
          </a:p>
        </p:txBody>
      </p:sp>
      <p:sp>
        <p:nvSpPr>
          <p:cNvPr id="11" name="Tekst 343"/>
          <p:cNvSpPr txBox="1"/>
          <p:nvPr/>
        </p:nvSpPr>
        <p:spPr>
          <a:xfrm>
            <a:off x="1188720" y="457200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Rembrandt</a:t>
            </a:r>
            <a:endParaRPr lang="en-US" sz="2400" dirty="0"/>
          </a:p>
        </p:txBody>
      </p:sp>
      <p:sp>
        <p:nvSpPr>
          <p:cNvPr id="12" name="Tekst 344"/>
          <p:cNvSpPr txBox="1"/>
          <p:nvPr/>
        </p:nvSpPr>
        <p:spPr>
          <a:xfrm>
            <a:off x="1188720" y="502920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trójkąt światła na policzku</a:t>
            </a:r>
            <a:endParaRPr lang="en-US" sz="1600" dirty="0"/>
          </a:p>
        </p:txBody>
      </p:sp>
      <p:sp>
        <p:nvSpPr>
          <p:cNvPr id="13" name="Karta 345"/>
          <p:cNvSpPr/>
          <p:nvPr/>
        </p:nvSpPr>
        <p:spPr>
          <a:xfrm>
            <a:off x="4459224" y="1783080"/>
            <a:ext cx="3270504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Linia 346"/>
          <p:cNvSpPr/>
          <p:nvPr/>
        </p:nvSpPr>
        <p:spPr>
          <a:xfrm>
            <a:off x="6094476" y="3355848"/>
            <a:ext cx="0" cy="596189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5" name="Linia 347"/>
          <p:cNvSpPr/>
          <p:nvPr/>
        </p:nvSpPr>
        <p:spPr>
          <a:xfrm>
            <a:off x="5180076" y="3154680"/>
            <a:ext cx="91440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6" name="Model 348"/>
          <p:cNvSpPr/>
          <p:nvPr/>
        </p:nvSpPr>
        <p:spPr>
          <a:xfrm>
            <a:off x="5893308" y="2953512"/>
            <a:ext cx="402336" cy="40233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Aparat 350"/>
          <p:cNvSpPr/>
          <p:nvPr/>
        </p:nvSpPr>
        <p:spPr>
          <a:xfrm>
            <a:off x="5948172" y="3952037"/>
            <a:ext cx="292608" cy="234086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8" name="Znacznik 351"/>
          <p:cNvSpPr txBox="1"/>
          <p:nvPr/>
        </p:nvSpPr>
        <p:spPr>
          <a:xfrm>
            <a:off x="4928616" y="3017520"/>
            <a:ext cx="502920" cy="27432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000" dirty="0"/>
          </a:p>
        </p:txBody>
      </p:sp>
      <p:sp>
        <p:nvSpPr>
          <p:cNvPr id="19" name="Tekst 352"/>
          <p:cNvSpPr txBox="1"/>
          <p:nvPr/>
        </p:nvSpPr>
        <p:spPr>
          <a:xfrm>
            <a:off x="4824984" y="457200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Split</a:t>
            </a:r>
            <a:endParaRPr lang="en-US" sz="2400" dirty="0"/>
          </a:p>
        </p:txBody>
      </p:sp>
      <p:sp>
        <p:nvSpPr>
          <p:cNvPr id="20" name="Tekst 353"/>
          <p:cNvSpPr txBox="1"/>
          <p:nvPr/>
        </p:nvSpPr>
        <p:spPr>
          <a:xfrm>
            <a:off x="4824984" y="502920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połowa twarzy w cieniu</a:t>
            </a:r>
            <a:endParaRPr lang="en-US" sz="1600" dirty="0"/>
          </a:p>
        </p:txBody>
      </p:sp>
      <p:sp>
        <p:nvSpPr>
          <p:cNvPr id="21" name="Karta 354"/>
          <p:cNvSpPr/>
          <p:nvPr/>
        </p:nvSpPr>
        <p:spPr>
          <a:xfrm>
            <a:off x="8095488" y="1783080"/>
            <a:ext cx="3270504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Linia 355"/>
          <p:cNvSpPr/>
          <p:nvPr/>
        </p:nvSpPr>
        <p:spPr>
          <a:xfrm>
            <a:off x="9730740" y="3355848"/>
            <a:ext cx="0" cy="596189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3" name="Linia 356"/>
          <p:cNvSpPr/>
          <p:nvPr/>
        </p:nvSpPr>
        <p:spPr>
          <a:xfrm flipV="1">
            <a:off x="9311157" y="3154680"/>
            <a:ext cx="419583" cy="599226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4" name="Model 357"/>
          <p:cNvSpPr/>
          <p:nvPr/>
        </p:nvSpPr>
        <p:spPr>
          <a:xfrm>
            <a:off x="9529572" y="2953512"/>
            <a:ext cx="402336" cy="40233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Aparat 359"/>
          <p:cNvSpPr/>
          <p:nvPr/>
        </p:nvSpPr>
        <p:spPr>
          <a:xfrm>
            <a:off x="9584436" y="3952037"/>
            <a:ext cx="292608" cy="234086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26" name="Znacznik 360"/>
          <p:cNvSpPr txBox="1"/>
          <p:nvPr/>
        </p:nvSpPr>
        <p:spPr>
          <a:xfrm>
            <a:off x="9059697" y="3616746"/>
            <a:ext cx="502920" cy="27432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000" dirty="0"/>
          </a:p>
        </p:txBody>
      </p:sp>
      <p:sp>
        <p:nvSpPr>
          <p:cNvPr id="27" name="Tekst 361"/>
          <p:cNvSpPr txBox="1"/>
          <p:nvPr/>
        </p:nvSpPr>
        <p:spPr>
          <a:xfrm>
            <a:off x="8461248" y="4572000"/>
            <a:ext cx="253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Loop</a:t>
            </a:r>
            <a:endParaRPr lang="en-US" sz="2400" dirty="0"/>
          </a:p>
        </p:txBody>
      </p:sp>
      <p:sp>
        <p:nvSpPr>
          <p:cNvPr id="28" name="Tekst 362"/>
          <p:cNvSpPr txBox="1"/>
          <p:nvPr/>
        </p:nvSpPr>
        <p:spPr>
          <a:xfrm>
            <a:off x="8461248" y="502920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mały cień od nosa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Jedna osoba i dwie osoby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ZAAWANSOWANE SETUPY</a:t>
            </a:r>
            <a:endParaRPr lang="en-US" sz="1000" dirty="0"/>
          </a:p>
        </p:txBody>
      </p:sp>
      <p:sp>
        <p:nvSpPr>
          <p:cNvPr id="5" name="Karta 364"/>
          <p:cNvSpPr/>
          <p:nvPr/>
        </p:nvSpPr>
        <p:spPr>
          <a:xfrm>
            <a:off x="822960" y="1783080"/>
            <a:ext cx="29260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365"/>
          <p:cNvSpPr txBox="1"/>
          <p:nvPr/>
        </p:nvSpPr>
        <p:spPr>
          <a:xfrm>
            <a:off x="1143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OSOBA</a:t>
            </a:r>
            <a:endParaRPr lang="en-US" sz="1200" dirty="0"/>
          </a:p>
        </p:txBody>
      </p:sp>
      <p:sp>
        <p:nvSpPr>
          <p:cNvPr id="7" name="Linia 366"/>
          <p:cNvSpPr/>
          <p:nvPr/>
        </p:nvSpPr>
        <p:spPr>
          <a:xfrm>
            <a:off x="2286000" y="3977640"/>
            <a:ext cx="0" cy="859536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8" name="Linia 367"/>
          <p:cNvSpPr/>
          <p:nvPr/>
        </p:nvSpPr>
        <p:spPr>
          <a:xfrm flipV="1">
            <a:off x="1413119" y="3749040"/>
            <a:ext cx="872881" cy="872881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9" name="Model 368"/>
          <p:cNvSpPr/>
          <p:nvPr/>
        </p:nvSpPr>
        <p:spPr>
          <a:xfrm>
            <a:off x="2057400" y="35204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Aparat 370"/>
          <p:cNvSpPr/>
          <p:nvPr/>
        </p:nvSpPr>
        <p:spPr>
          <a:xfrm>
            <a:off x="2103120" y="4837176"/>
            <a:ext cx="365760" cy="292608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1" name="Znacznik 371"/>
          <p:cNvSpPr txBox="1"/>
          <p:nvPr/>
        </p:nvSpPr>
        <p:spPr>
          <a:xfrm>
            <a:off x="1129655" y="4466473"/>
            <a:ext cx="56692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000" dirty="0"/>
          </a:p>
        </p:txBody>
      </p:sp>
      <p:sp>
        <p:nvSpPr>
          <p:cNvPr id="12" name="Karta 372"/>
          <p:cNvSpPr/>
          <p:nvPr/>
        </p:nvSpPr>
        <p:spPr>
          <a:xfrm>
            <a:off x="3931920" y="1783080"/>
            <a:ext cx="29260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Tekst 373"/>
          <p:cNvSpPr txBox="1"/>
          <p:nvPr/>
        </p:nvSpPr>
        <p:spPr>
          <a:xfrm>
            <a:off x="42519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OSOBY</a:t>
            </a:r>
            <a:endParaRPr lang="en-US" sz="1200" dirty="0"/>
          </a:p>
        </p:txBody>
      </p:sp>
      <p:sp>
        <p:nvSpPr>
          <p:cNvPr id="14" name="Linia 374"/>
          <p:cNvSpPr/>
          <p:nvPr/>
        </p:nvSpPr>
        <p:spPr>
          <a:xfrm>
            <a:off x="5394960" y="3977640"/>
            <a:ext cx="0" cy="859536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5" name="Linia 375"/>
          <p:cNvSpPr/>
          <p:nvPr/>
        </p:nvSpPr>
        <p:spPr>
          <a:xfrm flipV="1">
            <a:off x="4522079" y="3749040"/>
            <a:ext cx="872881" cy="872881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6" name="Model 376"/>
          <p:cNvSpPr/>
          <p:nvPr/>
        </p:nvSpPr>
        <p:spPr>
          <a:xfrm>
            <a:off x="4864608" y="35204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Model 378"/>
          <p:cNvSpPr/>
          <p:nvPr/>
        </p:nvSpPr>
        <p:spPr>
          <a:xfrm>
            <a:off x="5468112" y="35204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Aparat 380"/>
          <p:cNvSpPr/>
          <p:nvPr/>
        </p:nvSpPr>
        <p:spPr>
          <a:xfrm>
            <a:off x="5212080" y="4837176"/>
            <a:ext cx="365760" cy="292608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9" name="Znacznik 381"/>
          <p:cNvSpPr txBox="1"/>
          <p:nvPr/>
        </p:nvSpPr>
        <p:spPr>
          <a:xfrm>
            <a:off x="4238615" y="4466473"/>
            <a:ext cx="56692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000" dirty="0"/>
          </a:p>
        </p:txBody>
      </p:sp>
      <p:sp>
        <p:nvSpPr>
          <p:cNvPr id="20" name="Linia 382"/>
          <p:cNvSpPr/>
          <p:nvPr/>
        </p:nvSpPr>
        <p:spPr>
          <a:xfrm>
            <a:off x="7132320" y="1965960"/>
            <a:ext cx="4233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Tekst 383"/>
          <p:cNvSpPr txBox="1"/>
          <p:nvPr/>
        </p:nvSpPr>
        <p:spPr>
          <a:xfrm>
            <a:off x="7132320" y="1965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kst 384"/>
          <p:cNvSpPr txBox="1"/>
          <p:nvPr/>
        </p:nvSpPr>
        <p:spPr>
          <a:xfrm>
            <a:off x="7726680" y="196596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Odległość od źródła</a:t>
            </a:r>
            <a:endParaRPr lang="en-US" sz="1800" dirty="0"/>
          </a:p>
        </p:txBody>
      </p:sp>
      <p:sp>
        <p:nvSpPr>
          <p:cNvPr id="23" name="Linia 385"/>
          <p:cNvSpPr/>
          <p:nvPr/>
        </p:nvSpPr>
        <p:spPr>
          <a:xfrm>
            <a:off x="7132320" y="2788920"/>
            <a:ext cx="4233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4" name="Tekst 386"/>
          <p:cNvSpPr txBox="1"/>
          <p:nvPr/>
        </p:nvSpPr>
        <p:spPr>
          <a:xfrm>
            <a:off x="7132320" y="2788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kst 387"/>
          <p:cNvSpPr txBox="1"/>
          <p:nvPr/>
        </p:nvSpPr>
        <p:spPr>
          <a:xfrm>
            <a:off x="7726680" y="278892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Wielkość źródła</a:t>
            </a:r>
            <a:endParaRPr lang="en-US" sz="1800" dirty="0"/>
          </a:p>
        </p:txBody>
      </p:sp>
      <p:sp>
        <p:nvSpPr>
          <p:cNvPr id="26" name="Linia 388"/>
          <p:cNvSpPr/>
          <p:nvPr/>
        </p:nvSpPr>
        <p:spPr>
          <a:xfrm>
            <a:off x="7132320" y="3611880"/>
            <a:ext cx="4233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7" name="Tekst 389"/>
          <p:cNvSpPr txBox="1"/>
          <p:nvPr/>
        </p:nvSpPr>
        <p:spPr>
          <a:xfrm>
            <a:off x="7132320" y="3611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kst 390"/>
          <p:cNvSpPr txBox="1"/>
          <p:nvPr/>
        </p:nvSpPr>
        <p:spPr>
          <a:xfrm>
            <a:off x="7726680" y="361188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Pozycja względem osi</a:t>
            </a:r>
            <a:endParaRPr lang="en-US" sz="1800" dirty="0"/>
          </a:p>
        </p:txBody>
      </p:sp>
      <p:sp>
        <p:nvSpPr>
          <p:cNvPr id="29" name="Linia 391"/>
          <p:cNvSpPr/>
          <p:nvPr/>
        </p:nvSpPr>
        <p:spPr>
          <a:xfrm>
            <a:off x="7132320" y="4434840"/>
            <a:ext cx="4233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0" name="Tekst 392"/>
          <p:cNvSpPr txBox="1"/>
          <p:nvPr/>
        </p:nvSpPr>
        <p:spPr>
          <a:xfrm>
            <a:off x="7132320" y="4434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kst 393"/>
          <p:cNvSpPr txBox="1"/>
          <p:nvPr/>
        </p:nvSpPr>
        <p:spPr>
          <a:xfrm>
            <a:off x="7726680" y="443484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Kontrola cieni na obu twarzach</a:t>
            </a:r>
            <a:endParaRPr lang="en-US" sz="1800" dirty="0"/>
          </a:p>
        </p:txBody>
      </p:sp>
      <p:sp>
        <p:nvSpPr>
          <p:cNvPr id="32" name="Linia 394"/>
          <p:cNvSpPr/>
          <p:nvPr/>
        </p:nvSpPr>
        <p:spPr>
          <a:xfrm>
            <a:off x="7132320" y="5257800"/>
            <a:ext cx="423367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Fotografia produktu</a:t>
            </a:r>
            <a:endParaRPr lang="en-US" sz="5400" dirty="0"/>
          </a:p>
        </p:txBody>
      </p:sp>
      <p:sp>
        <p:nvSpPr>
          <p:cNvPr id="3" name="Tekst 395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kst 396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 →  DEMO  →  ĆWICZENIE  →  PRZEGLĄD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Produkt: odbicia i cienie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FOTOGRAFIA PRODUKTU</a:t>
            </a:r>
            <a:endParaRPr lang="en-US" sz="1000" dirty="0"/>
          </a:p>
        </p:txBody>
      </p:sp>
      <p:sp>
        <p:nvSpPr>
          <p:cNvPr id="5" name="Karta 398"/>
          <p:cNvSpPr/>
          <p:nvPr/>
        </p:nvSpPr>
        <p:spPr>
          <a:xfrm>
            <a:off x="822960" y="1783080"/>
            <a:ext cx="2430018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399"/>
          <p:cNvSpPr txBox="1"/>
          <p:nvPr/>
        </p:nvSpPr>
        <p:spPr>
          <a:xfrm>
            <a:off x="1143000" y="2194560"/>
            <a:ext cx="178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SZKŁO</a:t>
            </a:r>
            <a:endParaRPr lang="en-US" sz="2600" dirty="0"/>
          </a:p>
        </p:txBody>
      </p:sp>
      <p:sp>
        <p:nvSpPr>
          <p:cNvPr id="7" name="Tekst 400"/>
          <p:cNvSpPr txBox="1"/>
          <p:nvPr/>
        </p:nvSpPr>
        <p:spPr>
          <a:xfrm>
            <a:off x="1143000" y="301752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odbija otoczenie</a:t>
            </a:r>
            <a:endParaRPr lang="en-US" sz="2200" dirty="0"/>
          </a:p>
        </p:txBody>
      </p:sp>
      <p:sp>
        <p:nvSpPr>
          <p:cNvPr id="8" name="Ikona szkla"/>
          <p:cNvSpPr/>
          <p:nvPr/>
        </p:nvSpPr>
        <p:spPr>
          <a:xfrm>
            <a:off x="1143000" y="4206240"/>
            <a:ext cx="822960" cy="1188720"/>
          </a:xfrm>
          <a:prstGeom prst="roundRect">
            <a:avLst>
              <a:gd name="adj" fmla="val 1111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Odblask szkla"/>
          <p:cNvSpPr/>
          <p:nvPr/>
        </p:nvSpPr>
        <p:spPr>
          <a:xfrm>
            <a:off x="1298448" y="4389120"/>
            <a:ext cx="109728" cy="822960"/>
          </a:xfrm>
          <a:prstGeom prst="rect">
            <a:avLst/>
          </a:prstGeom>
          <a:solidFill>
            <a:schemeClr val="bg1">
              <a:alpha val="30000"/>
            </a:schemeClr>
          </a:solidFill>
          <a:ln/>
        </p:spPr>
      </p:sp>
      <p:sp>
        <p:nvSpPr>
          <p:cNvPr id="10" name="Karta 401"/>
          <p:cNvSpPr/>
          <p:nvPr/>
        </p:nvSpPr>
        <p:spPr>
          <a:xfrm>
            <a:off x="3527298" y="1783080"/>
            <a:ext cx="2430018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kst 402"/>
          <p:cNvSpPr txBox="1"/>
          <p:nvPr/>
        </p:nvSpPr>
        <p:spPr>
          <a:xfrm>
            <a:off x="3847338" y="2194560"/>
            <a:ext cx="178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METAL</a:t>
            </a:r>
            <a:endParaRPr lang="en-US" sz="2600" dirty="0"/>
          </a:p>
        </p:txBody>
      </p:sp>
      <p:sp>
        <p:nvSpPr>
          <p:cNvPr id="12" name="Tekst 403"/>
          <p:cNvSpPr txBox="1"/>
          <p:nvPr/>
        </p:nvSpPr>
        <p:spPr>
          <a:xfrm>
            <a:off x="3847338" y="301752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pokazuje kształt źródła</a:t>
            </a:r>
            <a:endParaRPr lang="en-US" sz="2200" dirty="0"/>
          </a:p>
        </p:txBody>
      </p:sp>
      <p:sp>
        <p:nvSpPr>
          <p:cNvPr id="13" name="Ikona metalu"/>
          <p:cNvSpPr/>
          <p:nvPr/>
        </p:nvSpPr>
        <p:spPr>
          <a:xfrm>
            <a:off x="3847338" y="4297680"/>
            <a:ext cx="1005840" cy="1005840"/>
          </a:xfrm>
          <a:prstGeom prst="ellipse">
            <a:avLst/>
          </a:prstGeom>
          <a:solidFill>
            <a:srgbClr val="C4C7CC"/>
          </a:solidFill>
          <a:ln/>
        </p:spPr>
      </p:sp>
      <p:sp>
        <p:nvSpPr>
          <p:cNvPr id="14" name="Odblask metalu"/>
          <p:cNvSpPr/>
          <p:nvPr/>
        </p:nvSpPr>
        <p:spPr>
          <a:xfrm>
            <a:off x="4075938" y="4434840"/>
            <a:ext cx="274320" cy="182880"/>
          </a:xfrm>
          <a:prstGeom prst="ellipse">
            <a:avLst/>
          </a:prstGeom>
          <a:solidFill>
            <a:schemeClr val="bg1">
              <a:alpha val="80000"/>
            </a:schemeClr>
          </a:solidFill>
          <a:ln/>
        </p:spPr>
      </p:sp>
      <p:sp>
        <p:nvSpPr>
          <p:cNvPr id="15" name="Karta 406"/>
          <p:cNvSpPr/>
          <p:nvPr/>
        </p:nvSpPr>
        <p:spPr>
          <a:xfrm>
            <a:off x="6231636" y="1783080"/>
            <a:ext cx="2430018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kst 407"/>
          <p:cNvSpPr txBox="1"/>
          <p:nvPr/>
        </p:nvSpPr>
        <p:spPr>
          <a:xfrm>
            <a:off x="6551676" y="2194560"/>
            <a:ext cx="178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PLASTIK</a:t>
            </a:r>
            <a:endParaRPr lang="en-US" sz="2600" dirty="0"/>
          </a:p>
        </p:txBody>
      </p:sp>
      <p:sp>
        <p:nvSpPr>
          <p:cNvPr id="17" name="Tekst 408"/>
          <p:cNvSpPr txBox="1"/>
          <p:nvPr/>
        </p:nvSpPr>
        <p:spPr>
          <a:xfrm>
            <a:off x="6551676" y="301752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wymaga kontroli refleksów</a:t>
            </a:r>
            <a:endParaRPr lang="en-US" sz="2200" dirty="0"/>
          </a:p>
        </p:txBody>
      </p:sp>
      <p:sp>
        <p:nvSpPr>
          <p:cNvPr id="18" name="Ikona plastiku"/>
          <p:cNvSpPr/>
          <p:nvPr/>
        </p:nvSpPr>
        <p:spPr>
          <a:xfrm>
            <a:off x="6551676" y="4297680"/>
            <a:ext cx="1005840" cy="100584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sp>
        <p:nvSpPr>
          <p:cNvPr id="19" name="Odblask plastiku"/>
          <p:cNvSpPr/>
          <p:nvPr/>
        </p:nvSpPr>
        <p:spPr>
          <a:xfrm>
            <a:off x="6734556" y="4434840"/>
            <a:ext cx="91440" cy="640080"/>
          </a:xfrm>
          <a:prstGeom prst="rect">
            <a:avLst/>
          </a:prstGeom>
          <a:solidFill>
            <a:schemeClr val="bg1">
              <a:alpha val="40000"/>
            </a:schemeClr>
          </a:solidFill>
          <a:ln/>
        </p:spPr>
      </p:sp>
      <p:sp>
        <p:nvSpPr>
          <p:cNvPr id="20" name="Karta 409"/>
          <p:cNvSpPr/>
          <p:nvPr/>
        </p:nvSpPr>
        <p:spPr>
          <a:xfrm>
            <a:off x="8935974" y="1783080"/>
            <a:ext cx="2430018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kst 410"/>
          <p:cNvSpPr txBox="1"/>
          <p:nvPr/>
        </p:nvSpPr>
        <p:spPr>
          <a:xfrm>
            <a:off x="9256014" y="2194560"/>
            <a:ext cx="1789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CIEŃ</a:t>
            </a:r>
            <a:endParaRPr lang="en-US" sz="2600" dirty="0"/>
          </a:p>
        </p:txBody>
      </p:sp>
      <p:sp>
        <p:nvSpPr>
          <p:cNvPr id="22" name="Tekst 411"/>
          <p:cNvSpPr txBox="1"/>
          <p:nvPr/>
        </p:nvSpPr>
        <p:spPr>
          <a:xfrm>
            <a:off x="9256014" y="3017520"/>
            <a:ext cx="1789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może budować formę</a:t>
            </a:r>
            <a:endParaRPr lang="en-US" sz="2200" dirty="0"/>
          </a:p>
        </p:txBody>
      </p:sp>
      <p:sp>
        <p:nvSpPr>
          <p:cNvPr id="23" name="Ikona obiektu"/>
          <p:cNvSpPr/>
          <p:nvPr/>
        </p:nvSpPr>
        <p:spPr>
          <a:xfrm>
            <a:off x="9256014" y="42062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Ikona cienia"/>
          <p:cNvSpPr/>
          <p:nvPr/>
        </p:nvSpPr>
        <p:spPr>
          <a:xfrm>
            <a:off x="9438894" y="4709160"/>
            <a:ext cx="1097280" cy="411480"/>
          </a:xfrm>
          <a:prstGeom prst="ellipse">
            <a:avLst/>
          </a:prstGeom>
          <a:solidFill>
            <a:schemeClr val="bg2">
              <a:alpha val="4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Light tent / softbox-tunel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FOTOGRAFIA PRODUKTU</a:t>
            </a:r>
            <a:endParaRPr lang="en-US" sz="1000" dirty="0"/>
          </a:p>
        </p:txBody>
      </p:sp>
      <p:sp>
        <p:nvSpPr>
          <p:cNvPr id="5" name="Linia 415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416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417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Ogranicza niechciane odbicia</a:t>
            </a:r>
            <a:endParaRPr lang="en-US" sz="1800" dirty="0"/>
          </a:p>
        </p:txBody>
      </p:sp>
      <p:sp>
        <p:nvSpPr>
          <p:cNvPr id="8" name="Linia 418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419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420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Ułatwia fotografię flakonów i słoiczków</a:t>
            </a:r>
            <a:endParaRPr lang="en-US" sz="1800" dirty="0"/>
          </a:p>
        </p:txBody>
      </p:sp>
      <p:sp>
        <p:nvSpPr>
          <p:cNvPr id="11" name="Linia 421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422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423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Daje powtarzalny efekt</a:t>
            </a:r>
            <a:endParaRPr lang="en-US" sz="1800" dirty="0"/>
          </a:p>
        </p:txBody>
      </p:sp>
      <p:sp>
        <p:nvSpPr>
          <p:cNvPr id="14" name="Linia 424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425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426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Mniej retuszu</a:t>
            </a:r>
            <a:endParaRPr lang="en-US" sz="1800" dirty="0"/>
          </a:p>
        </p:txBody>
      </p:sp>
      <p:sp>
        <p:nvSpPr>
          <p:cNvPr id="17" name="Linia 427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428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kst 429"/>
          <p:cNvSpPr txBox="1"/>
          <p:nvPr/>
        </p:nvSpPr>
        <p:spPr>
          <a:xfrm>
            <a:off x="72694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LIGHT TENT</a:t>
            </a:r>
            <a:endParaRPr lang="en-US" sz="1200" dirty="0"/>
          </a:p>
        </p:txBody>
      </p:sp>
      <p:sp>
        <p:nvSpPr>
          <p:cNvPr id="20" name="Linia 430"/>
          <p:cNvSpPr/>
          <p:nvPr/>
        </p:nvSpPr>
        <p:spPr>
          <a:xfrm>
            <a:off x="7466076" y="3749040"/>
            <a:ext cx="68580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1" name="Linia 431"/>
          <p:cNvSpPr/>
          <p:nvPr/>
        </p:nvSpPr>
        <p:spPr>
          <a:xfrm>
            <a:off x="10163556" y="3749040"/>
            <a:ext cx="68580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2" name="Namiot"/>
          <p:cNvSpPr/>
          <p:nvPr/>
        </p:nvSpPr>
        <p:spPr>
          <a:xfrm>
            <a:off x="8151876" y="2743200"/>
            <a:ext cx="2011680" cy="2011680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3" name="Produkt"/>
          <p:cNvSpPr/>
          <p:nvPr/>
        </p:nvSpPr>
        <p:spPr>
          <a:xfrm>
            <a:off x="8929116" y="342900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4" name="Znacznik 433"/>
          <p:cNvSpPr txBox="1"/>
          <p:nvPr/>
        </p:nvSpPr>
        <p:spPr>
          <a:xfrm>
            <a:off x="7100316" y="3575304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LAMPA</a:t>
            </a:r>
            <a:endParaRPr lang="en-US" sz="1000" dirty="0"/>
          </a:p>
        </p:txBody>
      </p:sp>
      <p:sp>
        <p:nvSpPr>
          <p:cNvPr id="25" name="Znacznik 434"/>
          <p:cNvSpPr txBox="1"/>
          <p:nvPr/>
        </p:nvSpPr>
        <p:spPr>
          <a:xfrm>
            <a:off x="10483596" y="3575304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LAMPA</a:t>
            </a:r>
            <a:endParaRPr lang="en-US" sz="1000" dirty="0"/>
          </a:p>
        </p:txBody>
      </p:sp>
      <p:sp>
        <p:nvSpPr>
          <p:cNvPr id="26" name="Aparat"/>
          <p:cNvSpPr/>
          <p:nvPr/>
        </p:nvSpPr>
        <p:spPr>
          <a:xfrm>
            <a:off x="8929116" y="5166360"/>
            <a:ext cx="457200" cy="365760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Realny kolor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FOTOGRAFIA PRODUKTU</a:t>
            </a:r>
            <a:endParaRPr lang="en-US" sz="1000" dirty="0"/>
          </a:p>
        </p:txBody>
      </p:sp>
      <p:sp>
        <p:nvSpPr>
          <p:cNvPr id="5" name="Linia 436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437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438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Prawidłowy WB</a:t>
            </a:r>
            <a:endParaRPr lang="en-US" sz="1800" dirty="0"/>
          </a:p>
        </p:txBody>
      </p:sp>
      <p:sp>
        <p:nvSpPr>
          <p:cNvPr id="8" name="Linia 439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440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441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Karta kolorów</a:t>
            </a:r>
            <a:endParaRPr lang="en-US" sz="1800" dirty="0"/>
          </a:p>
        </p:txBody>
      </p:sp>
      <p:sp>
        <p:nvSpPr>
          <p:cNvPr id="11" name="Linia 442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443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444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Spójność między zdjęciami</a:t>
            </a:r>
            <a:endParaRPr lang="en-US" sz="1800" dirty="0"/>
          </a:p>
        </p:txBody>
      </p:sp>
      <p:sp>
        <p:nvSpPr>
          <p:cNvPr id="14" name="Linia 445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446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447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Produkt musi wyglądać wiarygodnie</a:t>
            </a:r>
            <a:endParaRPr lang="en-US" sz="1800" dirty="0"/>
          </a:p>
        </p:txBody>
      </p:sp>
      <p:sp>
        <p:nvSpPr>
          <p:cNvPr id="17" name="Linia 448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449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Pole karty kolorow 1"/>
          <p:cNvSpPr/>
          <p:nvPr/>
        </p:nvSpPr>
        <p:spPr>
          <a:xfrm>
            <a:off x="7717536" y="2377440"/>
            <a:ext cx="868680" cy="86868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0" name="Pole karty kolorow 2"/>
          <p:cNvSpPr/>
          <p:nvPr/>
        </p:nvSpPr>
        <p:spPr>
          <a:xfrm>
            <a:off x="8723376" y="2377440"/>
            <a:ext cx="868680" cy="868680"/>
          </a:xfrm>
          <a:prstGeom prst="rect">
            <a:avLst/>
          </a:prstGeom>
          <a:solidFill>
            <a:srgbClr val="5E8B3A"/>
          </a:solidFill>
          <a:ln/>
        </p:spPr>
      </p:sp>
      <p:sp>
        <p:nvSpPr>
          <p:cNvPr id="21" name="Pole karty kolorow 3"/>
          <p:cNvSpPr/>
          <p:nvPr/>
        </p:nvSpPr>
        <p:spPr>
          <a:xfrm>
            <a:off x="9729216" y="2377440"/>
            <a:ext cx="868680" cy="868680"/>
          </a:xfrm>
          <a:prstGeom prst="rect">
            <a:avLst/>
          </a:prstGeom>
          <a:solidFill>
            <a:srgbClr val="3D6FB0"/>
          </a:solidFill>
          <a:ln/>
        </p:spPr>
      </p:sp>
      <p:sp>
        <p:nvSpPr>
          <p:cNvPr id="22" name="Pole karty kolorow 4"/>
          <p:cNvSpPr/>
          <p:nvPr/>
        </p:nvSpPr>
        <p:spPr>
          <a:xfrm>
            <a:off x="7717536" y="3383280"/>
            <a:ext cx="868680" cy="868680"/>
          </a:xfrm>
          <a:prstGeom prst="rect">
            <a:avLst/>
          </a:prstGeom>
          <a:solidFill>
            <a:srgbClr val="E1B63A"/>
          </a:solidFill>
          <a:ln/>
        </p:spPr>
      </p:sp>
      <p:sp>
        <p:nvSpPr>
          <p:cNvPr id="23" name="Pole karty kolorow 5"/>
          <p:cNvSpPr/>
          <p:nvPr/>
        </p:nvSpPr>
        <p:spPr>
          <a:xfrm>
            <a:off x="8723376" y="3383280"/>
            <a:ext cx="86868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Pole karty kolorow 6"/>
          <p:cNvSpPr/>
          <p:nvPr/>
        </p:nvSpPr>
        <p:spPr>
          <a:xfrm>
            <a:off x="9729216" y="3383280"/>
            <a:ext cx="868680" cy="8686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5" name="Tekst 456"/>
          <p:cNvSpPr txBox="1"/>
          <p:nvPr/>
        </p:nvSpPr>
        <p:spPr>
          <a:xfrm>
            <a:off x="7717536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karta kolorów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Kąt światła przy produkcie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FOTOGRAFIA PRODUKTU</a:t>
            </a:r>
            <a:endParaRPr lang="en-US" sz="1000" dirty="0"/>
          </a:p>
        </p:txBody>
      </p:sp>
      <p:sp>
        <p:nvSpPr>
          <p:cNvPr id="5" name="Karta 458"/>
          <p:cNvSpPr/>
          <p:nvPr/>
        </p:nvSpPr>
        <p:spPr>
          <a:xfrm>
            <a:off x="822960" y="1783080"/>
            <a:ext cx="3270504" cy="3108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Linia 459"/>
          <p:cNvSpPr/>
          <p:nvPr/>
        </p:nvSpPr>
        <p:spPr>
          <a:xfrm>
            <a:off x="2458212" y="3063240"/>
            <a:ext cx="0" cy="484632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7" name="Linia 460"/>
          <p:cNvSpPr/>
          <p:nvPr/>
        </p:nvSpPr>
        <p:spPr>
          <a:xfrm>
            <a:off x="1635252" y="2834640"/>
            <a:ext cx="82296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8" name="Produkt 461"/>
          <p:cNvSpPr/>
          <p:nvPr/>
        </p:nvSpPr>
        <p:spPr>
          <a:xfrm>
            <a:off x="2229612" y="2606040"/>
            <a:ext cx="457200" cy="4572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Aparat 463"/>
          <p:cNvSpPr/>
          <p:nvPr/>
        </p:nvSpPr>
        <p:spPr>
          <a:xfrm>
            <a:off x="2321052" y="3547872"/>
            <a:ext cx="274320" cy="219456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0" name="Znacznik 464"/>
          <p:cNvSpPr txBox="1"/>
          <p:nvPr/>
        </p:nvSpPr>
        <p:spPr>
          <a:xfrm>
            <a:off x="1406652" y="2706624"/>
            <a:ext cx="457200" cy="256032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1000" dirty="0"/>
          </a:p>
        </p:txBody>
      </p:sp>
      <p:sp>
        <p:nvSpPr>
          <p:cNvPr id="11" name="Tekst 465"/>
          <p:cNvSpPr txBox="1"/>
          <p:nvPr/>
        </p:nvSpPr>
        <p:spPr>
          <a:xfrm>
            <a:off x="1188720" y="3977640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Światło boczne</a:t>
            </a:r>
            <a:endParaRPr lang="en-US" sz="2000" dirty="0"/>
          </a:p>
        </p:txBody>
      </p:sp>
      <p:sp>
        <p:nvSpPr>
          <p:cNvPr id="12" name="Tekst 466"/>
          <p:cNvSpPr txBox="1"/>
          <p:nvPr/>
        </p:nvSpPr>
        <p:spPr>
          <a:xfrm>
            <a:off x="1188720" y="4389120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tekstura</a:t>
            </a:r>
            <a:endParaRPr lang="en-US" sz="1800" dirty="0"/>
          </a:p>
        </p:txBody>
      </p:sp>
      <p:sp>
        <p:nvSpPr>
          <p:cNvPr id="13" name="Karta 467"/>
          <p:cNvSpPr/>
          <p:nvPr/>
        </p:nvSpPr>
        <p:spPr>
          <a:xfrm>
            <a:off x="4459224" y="1783080"/>
            <a:ext cx="3270504" cy="3108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Linia 468"/>
          <p:cNvSpPr/>
          <p:nvPr/>
        </p:nvSpPr>
        <p:spPr>
          <a:xfrm>
            <a:off x="6094476" y="3063240"/>
            <a:ext cx="0" cy="484632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5" name="Linia 469"/>
          <p:cNvSpPr/>
          <p:nvPr/>
        </p:nvSpPr>
        <p:spPr>
          <a:xfrm flipV="1">
            <a:off x="5813007" y="2834640"/>
            <a:ext cx="281469" cy="773329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16" name="Produkt 470"/>
          <p:cNvSpPr/>
          <p:nvPr/>
        </p:nvSpPr>
        <p:spPr>
          <a:xfrm>
            <a:off x="5865876" y="2606040"/>
            <a:ext cx="457200" cy="4572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Aparat 472"/>
          <p:cNvSpPr/>
          <p:nvPr/>
        </p:nvSpPr>
        <p:spPr>
          <a:xfrm>
            <a:off x="5957316" y="3547872"/>
            <a:ext cx="274320" cy="219456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18" name="Znacznik 473"/>
          <p:cNvSpPr txBox="1"/>
          <p:nvPr/>
        </p:nvSpPr>
        <p:spPr>
          <a:xfrm>
            <a:off x="5584407" y="3479953"/>
            <a:ext cx="457200" cy="256032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1000" dirty="0"/>
          </a:p>
        </p:txBody>
      </p:sp>
      <p:sp>
        <p:nvSpPr>
          <p:cNvPr id="19" name="Tekst 474"/>
          <p:cNvSpPr txBox="1"/>
          <p:nvPr/>
        </p:nvSpPr>
        <p:spPr>
          <a:xfrm>
            <a:off x="4824984" y="3977640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Światło frontalne</a:t>
            </a:r>
            <a:endParaRPr lang="en-US" sz="2000" dirty="0"/>
          </a:p>
        </p:txBody>
      </p:sp>
      <p:sp>
        <p:nvSpPr>
          <p:cNvPr id="20" name="Tekst 475"/>
          <p:cNvSpPr txBox="1"/>
          <p:nvPr/>
        </p:nvSpPr>
        <p:spPr>
          <a:xfrm>
            <a:off x="4824984" y="4389120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mniej cieni</a:t>
            </a:r>
            <a:endParaRPr lang="en-US" sz="1800" dirty="0"/>
          </a:p>
        </p:txBody>
      </p:sp>
      <p:sp>
        <p:nvSpPr>
          <p:cNvPr id="21" name="Karta 476"/>
          <p:cNvSpPr/>
          <p:nvPr/>
        </p:nvSpPr>
        <p:spPr>
          <a:xfrm>
            <a:off x="8095488" y="1783080"/>
            <a:ext cx="3270504" cy="3108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Linia 477"/>
          <p:cNvSpPr/>
          <p:nvPr/>
        </p:nvSpPr>
        <p:spPr>
          <a:xfrm>
            <a:off x="9730740" y="3063240"/>
            <a:ext cx="0" cy="484632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3" name="Linia 478"/>
          <p:cNvSpPr/>
          <p:nvPr/>
        </p:nvSpPr>
        <p:spPr>
          <a:xfrm>
            <a:off x="9730740" y="2011680"/>
            <a:ext cx="0" cy="82296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4" name="Produkt 479"/>
          <p:cNvSpPr/>
          <p:nvPr/>
        </p:nvSpPr>
        <p:spPr>
          <a:xfrm>
            <a:off x="9502140" y="2606040"/>
            <a:ext cx="457200" cy="4572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Aparat 481"/>
          <p:cNvSpPr/>
          <p:nvPr/>
        </p:nvSpPr>
        <p:spPr>
          <a:xfrm>
            <a:off x="9593580" y="3547872"/>
            <a:ext cx="274320" cy="219456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26" name="Znacznik 482"/>
          <p:cNvSpPr txBox="1"/>
          <p:nvPr/>
        </p:nvSpPr>
        <p:spPr>
          <a:xfrm>
            <a:off x="9502140" y="1883664"/>
            <a:ext cx="457200" cy="256032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1000" dirty="0"/>
          </a:p>
        </p:txBody>
      </p:sp>
      <p:sp>
        <p:nvSpPr>
          <p:cNvPr id="27" name="Tekst 483"/>
          <p:cNvSpPr txBox="1"/>
          <p:nvPr/>
        </p:nvSpPr>
        <p:spPr>
          <a:xfrm>
            <a:off x="8461248" y="3977640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Światło z tyłu</a:t>
            </a:r>
            <a:endParaRPr lang="en-US" sz="2000" dirty="0"/>
          </a:p>
        </p:txBody>
      </p:sp>
      <p:sp>
        <p:nvSpPr>
          <p:cNvPr id="28" name="Tekst 484"/>
          <p:cNvSpPr txBox="1"/>
          <p:nvPr/>
        </p:nvSpPr>
        <p:spPr>
          <a:xfrm>
            <a:off x="8461248" y="4389120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kontur / głębia</a:t>
            </a:r>
            <a:endParaRPr lang="en-US" sz="1800" dirty="0"/>
          </a:p>
        </p:txBody>
      </p:sp>
      <p:sp>
        <p:nvSpPr>
          <p:cNvPr id="29" name="Tekst 485"/>
          <p:cNvSpPr txBox="1"/>
          <p:nvPr/>
        </p:nvSpPr>
        <p:spPr>
          <a:xfrm>
            <a:off x="822960" y="51206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Dobieramy kąt do materiału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Hero shot i storytelling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FOTOGRAFIA PRODUKTU</a:t>
            </a:r>
            <a:endParaRPr lang="en-US" sz="1000" dirty="0"/>
          </a:p>
        </p:txBody>
      </p:sp>
      <p:sp>
        <p:nvSpPr>
          <p:cNvPr id="5" name="Linia 487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488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489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Jeden główny produkt</a:t>
            </a:r>
            <a:endParaRPr lang="en-US" sz="1800" dirty="0"/>
          </a:p>
        </p:txBody>
      </p:sp>
      <p:sp>
        <p:nvSpPr>
          <p:cNvPr id="8" name="Linia 490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491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492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Hierarchia w kadrze</a:t>
            </a:r>
            <a:endParaRPr lang="en-US" sz="1800" dirty="0"/>
          </a:p>
        </p:txBody>
      </p:sp>
      <p:sp>
        <p:nvSpPr>
          <p:cNvPr id="11" name="Linia 493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494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495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Rekwizyty z funkcją</a:t>
            </a:r>
            <a:endParaRPr lang="en-US" sz="1800" dirty="0"/>
          </a:p>
        </p:txBody>
      </p:sp>
      <p:sp>
        <p:nvSpPr>
          <p:cNvPr id="14" name="Linia 496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497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498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Obraz powinien coś komunikować</a:t>
            </a:r>
            <a:endParaRPr lang="en-US" sz="1800" dirty="0"/>
          </a:p>
        </p:txBody>
      </p:sp>
      <p:sp>
        <p:nvSpPr>
          <p:cNvPr id="17" name="Linia 499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500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Kadr"/>
          <p:cNvSpPr/>
          <p:nvPr/>
        </p:nvSpPr>
        <p:spPr>
          <a:xfrm>
            <a:off x="7603236" y="2194560"/>
            <a:ext cx="3108960" cy="246888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0" name="Hero"/>
          <p:cNvSpPr txBox="1"/>
          <p:nvPr/>
        </p:nvSpPr>
        <p:spPr>
          <a:xfrm>
            <a:off x="8609076" y="2606040"/>
            <a:ext cx="1097280" cy="1645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HERO</a:t>
            </a:r>
            <a:endParaRPr lang="en-US" sz="1400" dirty="0"/>
          </a:p>
        </p:txBody>
      </p:sp>
      <p:sp>
        <p:nvSpPr>
          <p:cNvPr id="21" name="Rekwizyt"/>
          <p:cNvSpPr/>
          <p:nvPr/>
        </p:nvSpPr>
        <p:spPr>
          <a:xfrm>
            <a:off x="9889236" y="3566160"/>
            <a:ext cx="548640" cy="5486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2" name="Rekwizyt"/>
          <p:cNvSpPr/>
          <p:nvPr/>
        </p:nvSpPr>
        <p:spPr>
          <a:xfrm>
            <a:off x="7877556" y="4069080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Tekst 503"/>
          <p:cNvSpPr txBox="1"/>
          <p:nvPr/>
        </p:nvSpPr>
        <p:spPr>
          <a:xfrm>
            <a:off x="7269480" y="4983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hero + rekwizyty z funkcją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Setupy studyjne</a:t>
            </a:r>
            <a:endParaRPr lang="en-US" sz="5400" dirty="0"/>
          </a:p>
        </p:txBody>
      </p:sp>
      <p:sp>
        <p:nvSpPr>
          <p:cNvPr id="3" name="Tekst 504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kst 505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 →  DEMO  →  ĆWICZENIE  →  PRZEGLĄD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Gotowe setupy studyjne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  SETUPY STUDYJNE</a:t>
            </a:r>
            <a:endParaRPr lang="en-US" sz="1000" dirty="0"/>
          </a:p>
        </p:txBody>
      </p:sp>
      <p:sp>
        <p:nvSpPr>
          <p:cNvPr id="5" name="Karta setupu High-key"/>
          <p:cNvSpPr/>
          <p:nvPr/>
        </p:nvSpPr>
        <p:spPr>
          <a:xfrm>
            <a:off x="822960" y="1783080"/>
            <a:ext cx="3270504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kst 508"/>
          <p:cNvSpPr txBox="1"/>
          <p:nvPr/>
        </p:nvSpPr>
        <p:spPr>
          <a:xfrm>
            <a:off x="1188720" y="2286000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High-key</a:t>
            </a:r>
            <a:endParaRPr lang="en-US" sz="3000" dirty="0"/>
          </a:p>
        </p:txBody>
      </p:sp>
      <p:sp>
        <p:nvSpPr>
          <p:cNvPr id="7" name="Tekst 509"/>
          <p:cNvSpPr txBox="1"/>
          <p:nvPr/>
        </p:nvSpPr>
        <p:spPr>
          <a:xfrm>
            <a:off x="1188720" y="3200400"/>
            <a:ext cx="2538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jasny, czysty obraz</a:t>
            </a:r>
            <a:endParaRPr lang="en-US" sz="2000" dirty="0"/>
          </a:p>
        </p:txBody>
      </p:sp>
      <p:sp>
        <p:nvSpPr>
          <p:cNvPr id="8" name="Karta setupu Low-key"/>
          <p:cNvSpPr/>
          <p:nvPr/>
        </p:nvSpPr>
        <p:spPr>
          <a:xfrm>
            <a:off x="4459224" y="1783080"/>
            <a:ext cx="3270504" cy="3017520"/>
          </a:xfrm>
          <a:prstGeom prst="rect">
            <a:avLst/>
          </a:prstGeom>
          <a:solidFill>
            <a:srgbClr val="0D0D0D"/>
          </a:solidFill>
          <a:ln w="19050">
            <a:solidFill>
              <a:srgbClr val="5A5A5A"/>
            </a:solidFill>
            <a:prstDash val="solid"/>
          </a:ln>
        </p:spPr>
      </p:sp>
      <p:sp>
        <p:nvSpPr>
          <p:cNvPr id="9" name="Tekst 511"/>
          <p:cNvSpPr txBox="1"/>
          <p:nvPr/>
        </p:nvSpPr>
        <p:spPr>
          <a:xfrm>
            <a:off x="4824984" y="2286000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Low-key</a:t>
            </a:r>
            <a:endParaRPr lang="en-US" sz="3000" dirty="0"/>
          </a:p>
        </p:txBody>
      </p:sp>
      <p:sp>
        <p:nvSpPr>
          <p:cNvPr id="10" name="Tekst 512"/>
          <p:cNvSpPr txBox="1"/>
          <p:nvPr/>
        </p:nvSpPr>
        <p:spPr>
          <a:xfrm>
            <a:off x="4824984" y="3200400"/>
            <a:ext cx="2538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cień i dramat</a:t>
            </a:r>
            <a:endParaRPr lang="en-US" sz="2000" dirty="0"/>
          </a:p>
        </p:txBody>
      </p:sp>
      <p:sp>
        <p:nvSpPr>
          <p:cNvPr id="11" name="Karta setupu Greenscreen"/>
          <p:cNvSpPr/>
          <p:nvPr/>
        </p:nvSpPr>
        <p:spPr>
          <a:xfrm>
            <a:off x="8095488" y="1783080"/>
            <a:ext cx="3270504" cy="3017520"/>
          </a:xfrm>
          <a:prstGeom prst="rect">
            <a:avLst/>
          </a:prstGeom>
          <a:solidFill>
            <a:srgbClr val="2FB36D"/>
          </a:solidFill>
          <a:ln/>
        </p:spPr>
      </p:sp>
      <p:sp>
        <p:nvSpPr>
          <p:cNvPr id="12" name="Tekst 514"/>
          <p:cNvSpPr txBox="1"/>
          <p:nvPr/>
        </p:nvSpPr>
        <p:spPr>
          <a:xfrm>
            <a:off x="8461248" y="2286000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Greenscreen</a:t>
            </a:r>
            <a:endParaRPr lang="en-US" sz="3000" dirty="0"/>
          </a:p>
        </p:txBody>
      </p:sp>
      <p:sp>
        <p:nvSpPr>
          <p:cNvPr id="13" name="Tekst 515"/>
          <p:cNvSpPr txBox="1"/>
          <p:nvPr/>
        </p:nvSpPr>
        <p:spPr>
          <a:xfrm>
            <a:off x="8461248" y="3200400"/>
            <a:ext cx="2538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możliwość podmiany tła</a:t>
            </a:r>
            <a:endParaRPr lang="en-US" sz="2000" dirty="0"/>
          </a:p>
        </p:txBody>
      </p:sp>
      <p:sp>
        <p:nvSpPr>
          <p:cNvPr id="14" name="Tekst 516"/>
          <p:cNvSpPr txBox="1"/>
          <p:nvPr/>
        </p:nvSpPr>
        <p:spPr>
          <a:xfrm>
            <a:off x="822960" y="50292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Setup dobieramy do zastosowania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High-key 3-light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  SETUPY STUDYJNE</a:t>
            </a:r>
            <a:endParaRPr lang="en-US" sz="1000" dirty="0"/>
          </a:p>
        </p:txBody>
      </p:sp>
      <p:sp>
        <p:nvSpPr>
          <p:cNvPr id="5" name="Linia 518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519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520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Key około 45° z lewej</a:t>
            </a:r>
            <a:endParaRPr lang="en-US" sz="1800" dirty="0"/>
          </a:p>
        </p:txBody>
      </p:sp>
      <p:sp>
        <p:nvSpPr>
          <p:cNvPr id="8" name="Linia 521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522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523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Fill około 45° z prawej</a:t>
            </a:r>
            <a:endParaRPr lang="en-US" sz="1800" dirty="0"/>
          </a:p>
        </p:txBody>
      </p:sp>
      <p:sp>
        <p:nvSpPr>
          <p:cNvPr id="11" name="Linia 524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525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526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Osobne światło na tło</a:t>
            </a:r>
            <a:endParaRPr lang="en-US" sz="1800" dirty="0"/>
          </a:p>
        </p:txBody>
      </p:sp>
      <p:sp>
        <p:nvSpPr>
          <p:cNvPr id="14" name="Linia 527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528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529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Czysta biel bez przepaleń na obiekcie</a:t>
            </a:r>
            <a:endParaRPr lang="en-US" sz="1800" dirty="0"/>
          </a:p>
        </p:txBody>
      </p:sp>
      <p:sp>
        <p:nvSpPr>
          <p:cNvPr id="17" name="Linia 530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531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Linia 532"/>
          <p:cNvSpPr/>
          <p:nvPr/>
        </p:nvSpPr>
        <p:spPr>
          <a:xfrm>
            <a:off x="7887706" y="2691354"/>
            <a:ext cx="2540020" cy="0"/>
          </a:xfrm>
          <a:prstGeom prst="line">
            <a:avLst/>
          </a:prstGeom>
          <a:noFill/>
          <a:ln w="50800">
            <a:solidFill>
              <a:schemeClr val="bg1"/>
            </a:solidFill>
            <a:prstDash val="solid"/>
          </a:ln>
        </p:spPr>
      </p:sp>
      <p:sp>
        <p:nvSpPr>
          <p:cNvPr id="20" name="Linia 533"/>
          <p:cNvSpPr/>
          <p:nvPr/>
        </p:nvSpPr>
        <p:spPr>
          <a:xfrm>
            <a:off x="9157716" y="3787445"/>
            <a:ext cx="0" cy="103693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1" name="Linia 534"/>
          <p:cNvSpPr/>
          <p:nvPr/>
        </p:nvSpPr>
        <p:spPr>
          <a:xfrm flipV="1">
            <a:off x="8312509" y="3513125"/>
            <a:ext cx="845207" cy="845207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2" name="Linia 535"/>
          <p:cNvSpPr/>
          <p:nvPr/>
        </p:nvSpPr>
        <p:spPr>
          <a:xfrm>
            <a:off x="9157716" y="3513125"/>
            <a:ext cx="845207" cy="845207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3" name="Linia 536"/>
          <p:cNvSpPr/>
          <p:nvPr/>
        </p:nvSpPr>
        <p:spPr>
          <a:xfrm>
            <a:off x="9157716" y="2093702"/>
            <a:ext cx="0" cy="597652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4" name="Model 537"/>
          <p:cNvSpPr/>
          <p:nvPr/>
        </p:nvSpPr>
        <p:spPr>
          <a:xfrm>
            <a:off x="8883396" y="3238805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Aparat 539"/>
          <p:cNvSpPr/>
          <p:nvPr/>
        </p:nvSpPr>
        <p:spPr>
          <a:xfrm>
            <a:off x="8929116" y="4824374"/>
            <a:ext cx="457200" cy="365760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26" name="Znacznik 540"/>
          <p:cNvSpPr txBox="1"/>
          <p:nvPr/>
        </p:nvSpPr>
        <p:spPr>
          <a:xfrm>
            <a:off x="7946749" y="4184596"/>
            <a:ext cx="7315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100" dirty="0"/>
          </a:p>
        </p:txBody>
      </p:sp>
      <p:sp>
        <p:nvSpPr>
          <p:cNvPr id="27" name="Znacznik 541"/>
          <p:cNvSpPr txBox="1"/>
          <p:nvPr/>
        </p:nvSpPr>
        <p:spPr>
          <a:xfrm>
            <a:off x="9682883" y="4184596"/>
            <a:ext cx="640080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FILL</a:t>
            </a:r>
            <a:endParaRPr lang="en-US" sz="1100" dirty="0"/>
          </a:p>
        </p:txBody>
      </p:sp>
      <p:sp>
        <p:nvSpPr>
          <p:cNvPr id="28" name="Znacznik 542"/>
          <p:cNvSpPr txBox="1"/>
          <p:nvPr/>
        </p:nvSpPr>
        <p:spPr>
          <a:xfrm>
            <a:off x="8837676" y="1919966"/>
            <a:ext cx="640080" cy="347472"/>
          </a:xfrm>
          <a:prstGeom prst="roundRect">
            <a:avLst>
              <a:gd name="adj" fmla="val 26316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TŁO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Clamshell lighting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  SETUPY STUDYJNE</a:t>
            </a:r>
            <a:endParaRPr lang="en-US" sz="1000" dirty="0"/>
          </a:p>
        </p:txBody>
      </p:sp>
      <p:sp>
        <p:nvSpPr>
          <p:cNvPr id="5" name="Karta 544"/>
          <p:cNvSpPr/>
          <p:nvPr/>
        </p:nvSpPr>
        <p:spPr>
          <a:xfrm>
            <a:off x="822960" y="1783080"/>
            <a:ext cx="56692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Linia 545"/>
          <p:cNvSpPr/>
          <p:nvPr/>
        </p:nvSpPr>
        <p:spPr>
          <a:xfrm>
            <a:off x="2075688" y="3984955"/>
            <a:ext cx="2326234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7" name="Linia 546"/>
          <p:cNvSpPr/>
          <p:nvPr/>
        </p:nvSpPr>
        <p:spPr>
          <a:xfrm>
            <a:off x="3013570" y="2397990"/>
            <a:ext cx="1891272" cy="1586965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8" name="Linia 547"/>
          <p:cNvSpPr/>
          <p:nvPr/>
        </p:nvSpPr>
        <p:spPr>
          <a:xfrm flipV="1">
            <a:off x="3391672" y="3984955"/>
            <a:ext cx="1513170" cy="1182218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9" name="Glowa modela 548"/>
          <p:cNvSpPr/>
          <p:nvPr/>
        </p:nvSpPr>
        <p:spPr>
          <a:xfrm>
            <a:off x="4447642" y="3482035"/>
            <a:ext cx="914400" cy="10058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Aparat 550"/>
          <p:cNvSpPr/>
          <p:nvPr/>
        </p:nvSpPr>
        <p:spPr>
          <a:xfrm>
            <a:off x="1389888" y="3756355"/>
            <a:ext cx="502920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Obiektyw 552"/>
          <p:cNvSpPr/>
          <p:nvPr/>
        </p:nvSpPr>
        <p:spPr>
          <a:xfrm>
            <a:off x="1892808" y="3847795"/>
            <a:ext cx="182880" cy="2743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2" name="Znacznik 554"/>
          <p:cNvSpPr txBox="1"/>
          <p:nvPr/>
        </p:nvSpPr>
        <p:spPr>
          <a:xfrm>
            <a:off x="2602090" y="2224254"/>
            <a:ext cx="82296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</a:t>
            </a:r>
            <a:endParaRPr lang="en-US" sz="1100" dirty="0"/>
          </a:p>
        </p:txBody>
      </p:sp>
      <p:sp>
        <p:nvSpPr>
          <p:cNvPr id="13" name="Znacznik 555"/>
          <p:cNvSpPr txBox="1"/>
          <p:nvPr/>
        </p:nvSpPr>
        <p:spPr>
          <a:xfrm>
            <a:off x="2980192" y="4993437"/>
            <a:ext cx="822960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FILL</a:t>
            </a:r>
            <a:endParaRPr lang="en-US" sz="1100" dirty="0"/>
          </a:p>
        </p:txBody>
      </p:sp>
      <p:sp>
        <p:nvSpPr>
          <p:cNvPr id="14" name="Linia 556"/>
          <p:cNvSpPr/>
          <p:nvPr/>
        </p:nvSpPr>
        <p:spPr>
          <a:xfrm>
            <a:off x="6858000" y="196596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557"/>
          <p:cNvSpPr txBox="1"/>
          <p:nvPr/>
        </p:nvSpPr>
        <p:spPr>
          <a:xfrm>
            <a:off x="685800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kst 558"/>
          <p:cNvSpPr txBox="1"/>
          <p:nvPr/>
        </p:nvSpPr>
        <p:spPr>
          <a:xfrm>
            <a:off x="7452360" y="196596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Światło nad obiektywem</a:t>
            </a:r>
            <a:endParaRPr lang="en-US" sz="1800" dirty="0"/>
          </a:p>
        </p:txBody>
      </p:sp>
      <p:sp>
        <p:nvSpPr>
          <p:cNvPr id="17" name="Linia 559"/>
          <p:cNvSpPr/>
          <p:nvPr/>
        </p:nvSpPr>
        <p:spPr>
          <a:xfrm>
            <a:off x="6858000" y="269748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kst 560"/>
          <p:cNvSpPr txBox="1"/>
          <p:nvPr/>
        </p:nvSpPr>
        <p:spPr>
          <a:xfrm>
            <a:off x="685800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kst 561"/>
          <p:cNvSpPr txBox="1"/>
          <p:nvPr/>
        </p:nvSpPr>
        <p:spPr>
          <a:xfrm>
            <a:off x="7452360" y="26974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Fill pod twarzą</a:t>
            </a:r>
            <a:endParaRPr lang="en-US" sz="1800" dirty="0"/>
          </a:p>
        </p:txBody>
      </p:sp>
      <p:sp>
        <p:nvSpPr>
          <p:cNvPr id="20" name="Linia 562"/>
          <p:cNvSpPr/>
          <p:nvPr/>
        </p:nvSpPr>
        <p:spPr>
          <a:xfrm>
            <a:off x="6858000" y="342900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Tekst 563"/>
          <p:cNvSpPr txBox="1"/>
          <p:nvPr/>
        </p:nvSpPr>
        <p:spPr>
          <a:xfrm>
            <a:off x="685800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kst 564"/>
          <p:cNvSpPr txBox="1"/>
          <p:nvPr/>
        </p:nvSpPr>
        <p:spPr>
          <a:xfrm>
            <a:off x="7452360" y="34290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Gładka, flattering light</a:t>
            </a:r>
            <a:endParaRPr lang="en-US" sz="1800" dirty="0"/>
          </a:p>
        </p:txBody>
      </p:sp>
      <p:sp>
        <p:nvSpPr>
          <p:cNvPr id="23" name="Linia 565"/>
          <p:cNvSpPr/>
          <p:nvPr/>
        </p:nvSpPr>
        <p:spPr>
          <a:xfrm>
            <a:off x="6858000" y="416052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4" name="Tekst 566"/>
          <p:cNvSpPr txBox="1"/>
          <p:nvPr/>
        </p:nvSpPr>
        <p:spPr>
          <a:xfrm>
            <a:off x="6858000" y="4160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kst 567"/>
          <p:cNvSpPr txBox="1"/>
          <p:nvPr/>
        </p:nvSpPr>
        <p:spPr>
          <a:xfrm>
            <a:off x="7452360" y="41605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Klasyczny setup beauty</a:t>
            </a:r>
            <a:endParaRPr lang="en-US" sz="1800" dirty="0"/>
          </a:p>
        </p:txBody>
      </p:sp>
      <p:sp>
        <p:nvSpPr>
          <p:cNvPr id="26" name="Linia 568"/>
          <p:cNvSpPr/>
          <p:nvPr/>
        </p:nvSpPr>
        <p:spPr>
          <a:xfrm>
            <a:off x="6858000" y="4892040"/>
            <a:ext cx="45079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Spójność wizualna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  SETUPY STUDYJNE</a:t>
            </a:r>
            <a:endParaRPr lang="en-US" sz="1000" dirty="0"/>
          </a:p>
        </p:txBody>
      </p:sp>
      <p:sp>
        <p:nvSpPr>
          <p:cNvPr id="5" name="Kadr 1"/>
          <p:cNvSpPr/>
          <p:nvPr/>
        </p:nvSpPr>
        <p:spPr>
          <a:xfrm>
            <a:off x="822960" y="1783080"/>
            <a:ext cx="2430018" cy="2651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Obiekt 1"/>
          <p:cNvSpPr/>
          <p:nvPr/>
        </p:nvSpPr>
        <p:spPr>
          <a:xfrm>
            <a:off x="1626489" y="260604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Akcent 1"/>
          <p:cNvSpPr/>
          <p:nvPr/>
        </p:nvSpPr>
        <p:spPr>
          <a:xfrm>
            <a:off x="2567178" y="3749040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Linia 573"/>
          <p:cNvSpPr/>
          <p:nvPr/>
        </p:nvSpPr>
        <p:spPr>
          <a:xfrm>
            <a:off x="960120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9" name="Linia 574"/>
          <p:cNvSpPr/>
          <p:nvPr/>
        </p:nvSpPr>
        <p:spPr>
          <a:xfrm>
            <a:off x="960120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0" name="Linia 575"/>
          <p:cNvSpPr/>
          <p:nvPr/>
        </p:nvSpPr>
        <p:spPr>
          <a:xfrm>
            <a:off x="2914650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1" name="Linia 576"/>
          <p:cNvSpPr/>
          <p:nvPr/>
        </p:nvSpPr>
        <p:spPr>
          <a:xfrm>
            <a:off x="3115818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2" name="Linia 577"/>
          <p:cNvSpPr/>
          <p:nvPr/>
        </p:nvSpPr>
        <p:spPr>
          <a:xfrm>
            <a:off x="960120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3" name="Linia 578"/>
          <p:cNvSpPr/>
          <p:nvPr/>
        </p:nvSpPr>
        <p:spPr>
          <a:xfrm>
            <a:off x="960120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4" name="Linia 579"/>
          <p:cNvSpPr/>
          <p:nvPr/>
        </p:nvSpPr>
        <p:spPr>
          <a:xfrm>
            <a:off x="2914650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5" name="Linia 580"/>
          <p:cNvSpPr/>
          <p:nvPr/>
        </p:nvSpPr>
        <p:spPr>
          <a:xfrm>
            <a:off x="3115818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kst 581"/>
          <p:cNvSpPr txBox="1"/>
          <p:nvPr/>
        </p:nvSpPr>
        <p:spPr>
          <a:xfrm>
            <a:off x="822960" y="466344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Powtarzalne światło</a:t>
            </a:r>
            <a:endParaRPr lang="en-US" sz="2000" dirty="0"/>
          </a:p>
        </p:txBody>
      </p:sp>
      <p:sp>
        <p:nvSpPr>
          <p:cNvPr id="17" name="Kadr 2"/>
          <p:cNvSpPr/>
          <p:nvPr/>
        </p:nvSpPr>
        <p:spPr>
          <a:xfrm>
            <a:off x="3527298" y="1783080"/>
            <a:ext cx="2430018" cy="2651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Obiekt 2"/>
          <p:cNvSpPr/>
          <p:nvPr/>
        </p:nvSpPr>
        <p:spPr>
          <a:xfrm>
            <a:off x="4330827" y="260604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9" name="Akcent 2"/>
          <p:cNvSpPr/>
          <p:nvPr/>
        </p:nvSpPr>
        <p:spPr>
          <a:xfrm>
            <a:off x="5271516" y="3749040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Linia 585"/>
          <p:cNvSpPr/>
          <p:nvPr/>
        </p:nvSpPr>
        <p:spPr>
          <a:xfrm>
            <a:off x="3664458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1" name="Linia 586"/>
          <p:cNvSpPr/>
          <p:nvPr/>
        </p:nvSpPr>
        <p:spPr>
          <a:xfrm>
            <a:off x="3664458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2" name="Linia 587"/>
          <p:cNvSpPr/>
          <p:nvPr/>
        </p:nvSpPr>
        <p:spPr>
          <a:xfrm>
            <a:off x="5618988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3" name="Linia 588"/>
          <p:cNvSpPr/>
          <p:nvPr/>
        </p:nvSpPr>
        <p:spPr>
          <a:xfrm>
            <a:off x="5820156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4" name="Linia 589"/>
          <p:cNvSpPr/>
          <p:nvPr/>
        </p:nvSpPr>
        <p:spPr>
          <a:xfrm>
            <a:off x="3664458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5" name="Linia 590"/>
          <p:cNvSpPr/>
          <p:nvPr/>
        </p:nvSpPr>
        <p:spPr>
          <a:xfrm>
            <a:off x="3664458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6" name="Linia 591"/>
          <p:cNvSpPr/>
          <p:nvPr/>
        </p:nvSpPr>
        <p:spPr>
          <a:xfrm>
            <a:off x="5618988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7" name="Linia 592"/>
          <p:cNvSpPr/>
          <p:nvPr/>
        </p:nvSpPr>
        <p:spPr>
          <a:xfrm>
            <a:off x="5820156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kst 593"/>
          <p:cNvSpPr txBox="1"/>
          <p:nvPr/>
        </p:nvSpPr>
        <p:spPr>
          <a:xfrm>
            <a:off x="3527298" y="466344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Stała kolorystyka</a:t>
            </a:r>
            <a:endParaRPr lang="en-US" sz="2000" dirty="0"/>
          </a:p>
        </p:txBody>
      </p:sp>
      <p:sp>
        <p:nvSpPr>
          <p:cNvPr id="29" name="Kadr 3"/>
          <p:cNvSpPr/>
          <p:nvPr/>
        </p:nvSpPr>
        <p:spPr>
          <a:xfrm>
            <a:off x="6231636" y="1783080"/>
            <a:ext cx="2430018" cy="2651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Obiekt 3"/>
          <p:cNvSpPr/>
          <p:nvPr/>
        </p:nvSpPr>
        <p:spPr>
          <a:xfrm>
            <a:off x="7035165" y="260604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1" name="Akcent 3"/>
          <p:cNvSpPr/>
          <p:nvPr/>
        </p:nvSpPr>
        <p:spPr>
          <a:xfrm>
            <a:off x="7975854" y="3749040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Linia 597"/>
          <p:cNvSpPr/>
          <p:nvPr/>
        </p:nvSpPr>
        <p:spPr>
          <a:xfrm>
            <a:off x="6368796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3" name="Linia 598"/>
          <p:cNvSpPr/>
          <p:nvPr/>
        </p:nvSpPr>
        <p:spPr>
          <a:xfrm>
            <a:off x="6368796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4" name="Linia 599"/>
          <p:cNvSpPr/>
          <p:nvPr/>
        </p:nvSpPr>
        <p:spPr>
          <a:xfrm>
            <a:off x="8323326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5" name="Linia 600"/>
          <p:cNvSpPr/>
          <p:nvPr/>
        </p:nvSpPr>
        <p:spPr>
          <a:xfrm>
            <a:off x="8524494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6" name="Linia 601"/>
          <p:cNvSpPr/>
          <p:nvPr/>
        </p:nvSpPr>
        <p:spPr>
          <a:xfrm>
            <a:off x="6368796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7" name="Linia 602"/>
          <p:cNvSpPr/>
          <p:nvPr/>
        </p:nvSpPr>
        <p:spPr>
          <a:xfrm>
            <a:off x="6368796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8" name="Linia 603"/>
          <p:cNvSpPr/>
          <p:nvPr/>
        </p:nvSpPr>
        <p:spPr>
          <a:xfrm>
            <a:off x="8323326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9" name="Linia 604"/>
          <p:cNvSpPr/>
          <p:nvPr/>
        </p:nvSpPr>
        <p:spPr>
          <a:xfrm>
            <a:off x="8524494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0" name="Tekst 605"/>
          <p:cNvSpPr txBox="1"/>
          <p:nvPr/>
        </p:nvSpPr>
        <p:spPr>
          <a:xfrm>
            <a:off x="6231636" y="466344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Podobna kompozycja</a:t>
            </a:r>
            <a:endParaRPr lang="en-US" sz="2000" dirty="0"/>
          </a:p>
        </p:txBody>
      </p:sp>
      <p:sp>
        <p:nvSpPr>
          <p:cNvPr id="41" name="Kadr 4"/>
          <p:cNvSpPr/>
          <p:nvPr/>
        </p:nvSpPr>
        <p:spPr>
          <a:xfrm>
            <a:off x="8935974" y="1783080"/>
            <a:ext cx="2430018" cy="2651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2" name="Obiekt 4"/>
          <p:cNvSpPr/>
          <p:nvPr/>
        </p:nvSpPr>
        <p:spPr>
          <a:xfrm>
            <a:off x="9739503" y="260604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43" name="Akcent 4"/>
          <p:cNvSpPr/>
          <p:nvPr/>
        </p:nvSpPr>
        <p:spPr>
          <a:xfrm>
            <a:off x="10680192" y="3749040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Linia 609"/>
          <p:cNvSpPr/>
          <p:nvPr/>
        </p:nvSpPr>
        <p:spPr>
          <a:xfrm>
            <a:off x="9073134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5" name="Linia 610"/>
          <p:cNvSpPr/>
          <p:nvPr/>
        </p:nvSpPr>
        <p:spPr>
          <a:xfrm>
            <a:off x="9073134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6" name="Linia 611"/>
          <p:cNvSpPr/>
          <p:nvPr/>
        </p:nvSpPr>
        <p:spPr>
          <a:xfrm>
            <a:off x="11027664" y="192024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7" name="Linia 612"/>
          <p:cNvSpPr/>
          <p:nvPr/>
        </p:nvSpPr>
        <p:spPr>
          <a:xfrm>
            <a:off x="11228832" y="192024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8" name="Linia 613"/>
          <p:cNvSpPr/>
          <p:nvPr/>
        </p:nvSpPr>
        <p:spPr>
          <a:xfrm>
            <a:off x="9073134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9" name="Linia 614"/>
          <p:cNvSpPr/>
          <p:nvPr/>
        </p:nvSpPr>
        <p:spPr>
          <a:xfrm>
            <a:off x="9073134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0" name="Linia 615"/>
          <p:cNvSpPr/>
          <p:nvPr/>
        </p:nvSpPr>
        <p:spPr>
          <a:xfrm>
            <a:off x="11027664" y="429768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1" name="Linia 616"/>
          <p:cNvSpPr/>
          <p:nvPr/>
        </p:nvSpPr>
        <p:spPr>
          <a:xfrm>
            <a:off x="11228832" y="409651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2" name="Tekst 617"/>
          <p:cNvSpPr txBox="1"/>
          <p:nvPr/>
        </p:nvSpPr>
        <p:spPr>
          <a:xfrm>
            <a:off x="8935974" y="466344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Rozpoznawalny styl marki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LAB i własne ćwiczenia</a:t>
            </a:r>
            <a:endParaRPr lang="en-US" sz="5400" dirty="0"/>
          </a:p>
        </p:txBody>
      </p:sp>
      <p:sp>
        <p:nvSpPr>
          <p:cNvPr id="3" name="Tekst 618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kst 619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TEORIA  →  DEMO  →  ĆWICZENIE  →  PRZEGLĄD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LAB: światło z okna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LAB I WŁASNE ĆWICZENIA</a:t>
            </a:r>
            <a:endParaRPr lang="en-US" sz="1000" dirty="0"/>
          </a:p>
        </p:txBody>
      </p:sp>
      <p:sp>
        <p:nvSpPr>
          <p:cNvPr id="5" name="Linia 621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622"/>
          <p:cNvSpPr txBox="1"/>
          <p:nvPr/>
        </p:nvSpPr>
        <p:spPr>
          <a:xfrm>
            <a:off x="822960" y="19659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623"/>
          <p:cNvSpPr txBox="1"/>
          <p:nvPr/>
        </p:nvSpPr>
        <p:spPr>
          <a:xfrm>
            <a:off x="1417320" y="19659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Okno jako główne źródło</a:t>
            </a:r>
            <a:endParaRPr lang="en-US" sz="2000" dirty="0"/>
          </a:p>
        </p:txBody>
      </p:sp>
      <p:sp>
        <p:nvSpPr>
          <p:cNvPr id="8" name="Linia 624"/>
          <p:cNvSpPr/>
          <p:nvPr/>
        </p:nvSpPr>
        <p:spPr>
          <a:xfrm>
            <a:off x="822960" y="27432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625"/>
          <p:cNvSpPr txBox="1"/>
          <p:nvPr/>
        </p:nvSpPr>
        <p:spPr>
          <a:xfrm>
            <a:off x="82296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626"/>
          <p:cNvSpPr txBox="1"/>
          <p:nvPr/>
        </p:nvSpPr>
        <p:spPr>
          <a:xfrm>
            <a:off x="1417320" y="27432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Blenda jako fill</a:t>
            </a:r>
            <a:endParaRPr lang="en-US" sz="2000" dirty="0"/>
          </a:p>
        </p:txBody>
      </p:sp>
      <p:sp>
        <p:nvSpPr>
          <p:cNvPr id="11" name="Linia 627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628"/>
          <p:cNvSpPr txBox="1"/>
          <p:nvPr/>
        </p:nvSpPr>
        <p:spPr>
          <a:xfrm>
            <a:off x="82296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629"/>
          <p:cNvSpPr txBox="1"/>
          <p:nvPr/>
        </p:nvSpPr>
        <p:spPr>
          <a:xfrm>
            <a:off x="1417320" y="3520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Minimalny sprzęt</a:t>
            </a:r>
            <a:endParaRPr lang="en-US" sz="2000" dirty="0"/>
          </a:p>
        </p:txBody>
      </p:sp>
      <p:sp>
        <p:nvSpPr>
          <p:cNvPr id="14" name="Linia 630"/>
          <p:cNvSpPr/>
          <p:nvPr/>
        </p:nvSpPr>
        <p:spPr>
          <a:xfrm>
            <a:off x="822960" y="42976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631"/>
          <p:cNvSpPr txBox="1"/>
          <p:nvPr/>
        </p:nvSpPr>
        <p:spPr>
          <a:xfrm>
            <a:off x="822960" y="4297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632"/>
          <p:cNvSpPr txBox="1"/>
          <p:nvPr/>
        </p:nvSpPr>
        <p:spPr>
          <a:xfrm>
            <a:off x="1417320" y="42976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Kontrola kierunku światła</a:t>
            </a:r>
            <a:endParaRPr lang="en-US" sz="2000" dirty="0"/>
          </a:p>
        </p:txBody>
      </p:sp>
      <p:sp>
        <p:nvSpPr>
          <p:cNvPr id="17" name="Linia 633"/>
          <p:cNvSpPr/>
          <p:nvPr/>
        </p:nvSpPr>
        <p:spPr>
          <a:xfrm>
            <a:off x="822960" y="50749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Karta 634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Linia 635"/>
          <p:cNvSpPr/>
          <p:nvPr/>
        </p:nvSpPr>
        <p:spPr>
          <a:xfrm>
            <a:off x="7420356" y="2651760"/>
            <a:ext cx="0" cy="1645920"/>
          </a:xfrm>
          <a:prstGeom prst="line">
            <a:avLst/>
          </a:prstGeom>
          <a:noFill/>
          <a:ln w="101600">
            <a:solidFill>
              <a:schemeClr val="accent1"/>
            </a:solidFill>
            <a:prstDash val="solid"/>
          </a:ln>
        </p:spPr>
      </p:sp>
      <p:sp>
        <p:nvSpPr>
          <p:cNvPr id="20" name="Tekst 636"/>
          <p:cNvSpPr txBox="1"/>
          <p:nvPr/>
        </p:nvSpPr>
        <p:spPr>
          <a:xfrm>
            <a:off x="7100316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OKNO</a:t>
            </a:r>
            <a:endParaRPr lang="en-US" sz="1200" dirty="0"/>
          </a:p>
        </p:txBody>
      </p:sp>
      <p:sp>
        <p:nvSpPr>
          <p:cNvPr id="21" name="Linia 637"/>
          <p:cNvSpPr/>
          <p:nvPr/>
        </p:nvSpPr>
        <p:spPr>
          <a:xfrm>
            <a:off x="7420356" y="3474720"/>
            <a:ext cx="1463040" cy="22860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22" name="Model"/>
          <p:cNvSpPr/>
          <p:nvPr/>
        </p:nvSpPr>
        <p:spPr>
          <a:xfrm>
            <a:off x="8883396" y="34747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Linia 639"/>
          <p:cNvSpPr/>
          <p:nvPr/>
        </p:nvSpPr>
        <p:spPr>
          <a:xfrm>
            <a:off x="10392156" y="3017520"/>
            <a:ext cx="0" cy="1280160"/>
          </a:xfrm>
          <a:prstGeom prst="line">
            <a:avLst/>
          </a:prstGeom>
          <a:noFill/>
          <a:ln w="76200">
            <a:solidFill>
              <a:schemeClr val="bg1"/>
            </a:solidFill>
            <a:prstDash val="solid"/>
          </a:ln>
        </p:spPr>
      </p:sp>
      <p:sp>
        <p:nvSpPr>
          <p:cNvPr id="24" name="Tekst 640"/>
          <p:cNvSpPr txBox="1"/>
          <p:nvPr/>
        </p:nvSpPr>
        <p:spPr>
          <a:xfrm>
            <a:off x="979779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BLENDA</a:t>
            </a:r>
            <a:endParaRPr lang="en-US" sz="1200" dirty="0"/>
          </a:p>
        </p:txBody>
      </p:sp>
      <p:sp>
        <p:nvSpPr>
          <p:cNvPr id="25" name="Aparat"/>
          <p:cNvSpPr/>
          <p:nvPr/>
        </p:nvSpPr>
        <p:spPr>
          <a:xfrm>
            <a:off x="8929116" y="5166360"/>
            <a:ext cx="457200" cy="365760"/>
          </a:xfrm>
          <a:prstGeom prst="triangle">
            <a:avLst/>
          </a:prstGeom>
          <a:solidFill>
            <a:schemeClr val="bg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Lighting Bible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LAB I WŁASNE ĆWICZENIA</a:t>
            </a:r>
            <a:endParaRPr lang="en-US" sz="1000" dirty="0"/>
          </a:p>
        </p:txBody>
      </p:sp>
      <p:sp>
        <p:nvSpPr>
          <p:cNvPr id="5" name="Karta 642"/>
          <p:cNvSpPr/>
          <p:nvPr/>
        </p:nvSpPr>
        <p:spPr>
          <a:xfrm>
            <a:off x="822960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643"/>
          <p:cNvSpPr txBox="1"/>
          <p:nvPr/>
        </p:nvSpPr>
        <p:spPr>
          <a:xfrm>
            <a:off x="1143000" y="2057400"/>
            <a:ext cx="2630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Schemat ustawienia</a:t>
            </a:r>
            <a:endParaRPr lang="en-US" sz="1400" dirty="0"/>
          </a:p>
        </p:txBody>
      </p:sp>
      <p:sp>
        <p:nvSpPr>
          <p:cNvPr id="7" name="Linia 644"/>
          <p:cNvSpPr/>
          <p:nvPr/>
        </p:nvSpPr>
        <p:spPr>
          <a:xfrm>
            <a:off x="1143000" y="3063240"/>
            <a:ext cx="2630424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8" name="Karta 645"/>
          <p:cNvSpPr/>
          <p:nvPr/>
        </p:nvSpPr>
        <p:spPr>
          <a:xfrm>
            <a:off x="4459224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kst 646"/>
          <p:cNvSpPr txBox="1"/>
          <p:nvPr/>
        </p:nvSpPr>
        <p:spPr>
          <a:xfrm>
            <a:off x="4779264" y="2057400"/>
            <a:ext cx="2630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Pozycja i odległość lamp</a:t>
            </a:r>
            <a:endParaRPr lang="en-US" sz="1400" dirty="0"/>
          </a:p>
        </p:txBody>
      </p:sp>
      <p:sp>
        <p:nvSpPr>
          <p:cNvPr id="10" name="Linia 647"/>
          <p:cNvSpPr/>
          <p:nvPr/>
        </p:nvSpPr>
        <p:spPr>
          <a:xfrm>
            <a:off x="4779264" y="3063240"/>
            <a:ext cx="2630424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1" name="Karta 648"/>
          <p:cNvSpPr/>
          <p:nvPr/>
        </p:nvSpPr>
        <p:spPr>
          <a:xfrm>
            <a:off x="8095488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kst 649"/>
          <p:cNvSpPr txBox="1"/>
          <p:nvPr/>
        </p:nvSpPr>
        <p:spPr>
          <a:xfrm>
            <a:off x="8415528" y="2057400"/>
            <a:ext cx="2630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Moc / ratio</a:t>
            </a:r>
            <a:endParaRPr lang="en-US" sz="1400" dirty="0"/>
          </a:p>
        </p:txBody>
      </p:sp>
      <p:sp>
        <p:nvSpPr>
          <p:cNvPr id="13" name="Linia 650"/>
          <p:cNvSpPr/>
          <p:nvPr/>
        </p:nvSpPr>
        <p:spPr>
          <a:xfrm>
            <a:off x="8415528" y="3063240"/>
            <a:ext cx="2630424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4" name="Karta 651"/>
          <p:cNvSpPr/>
          <p:nvPr/>
        </p:nvSpPr>
        <p:spPr>
          <a:xfrm>
            <a:off x="822960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652"/>
          <p:cNvSpPr txBox="1"/>
          <p:nvPr/>
        </p:nvSpPr>
        <p:spPr>
          <a:xfrm>
            <a:off x="1143000" y="4206240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Aparat i obiektyw</a:t>
            </a:r>
            <a:endParaRPr lang="en-US" sz="1400" dirty="0"/>
          </a:p>
        </p:txBody>
      </p:sp>
      <p:sp>
        <p:nvSpPr>
          <p:cNvPr id="16" name="Linia 653"/>
          <p:cNvSpPr/>
          <p:nvPr/>
        </p:nvSpPr>
        <p:spPr>
          <a:xfrm>
            <a:off x="1143000" y="5212080"/>
            <a:ext cx="4448556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7" name="Karta 654"/>
          <p:cNvSpPr/>
          <p:nvPr/>
        </p:nvSpPr>
        <p:spPr>
          <a:xfrm>
            <a:off x="6277356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kst 655"/>
          <p:cNvSpPr txBox="1"/>
          <p:nvPr/>
        </p:nvSpPr>
        <p:spPr>
          <a:xfrm>
            <a:off x="6597396" y="4206240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ISO, przysłona, czas, WB</a:t>
            </a:r>
            <a:endParaRPr lang="en-US" sz="1400" dirty="0"/>
          </a:p>
        </p:txBody>
      </p:sp>
      <p:sp>
        <p:nvSpPr>
          <p:cNvPr id="19" name="Linia 656"/>
          <p:cNvSpPr/>
          <p:nvPr/>
        </p:nvSpPr>
        <p:spPr>
          <a:xfrm>
            <a:off x="6597396" y="5212080"/>
            <a:ext cx="4448556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Samodzielne setupy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LAB I WŁASNE ĆWICZENIA</a:t>
            </a:r>
            <a:endParaRPr lang="en-US" sz="1000" dirty="0"/>
          </a:p>
        </p:txBody>
      </p:sp>
      <p:sp>
        <p:nvSpPr>
          <p:cNvPr id="5" name="Tekst 658"/>
          <p:cNvSpPr txBox="1"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ĆWICZENIE</a:t>
            </a:r>
            <a:endParaRPr lang="en-US" sz="1200" dirty="0"/>
          </a:p>
        </p:txBody>
      </p:sp>
      <p:sp>
        <p:nvSpPr>
          <p:cNvPr id="6" name="Karta 659"/>
          <p:cNvSpPr/>
          <p:nvPr/>
        </p:nvSpPr>
        <p:spPr>
          <a:xfrm>
            <a:off x="822960" y="2286000"/>
            <a:ext cx="1815998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kst 660"/>
          <p:cNvSpPr txBox="1"/>
          <p:nvPr/>
        </p:nvSpPr>
        <p:spPr>
          <a:xfrm>
            <a:off x="105156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kst 661"/>
          <p:cNvSpPr txBox="1"/>
          <p:nvPr/>
        </p:nvSpPr>
        <p:spPr>
          <a:xfrm>
            <a:off x="1051560" y="3200400"/>
            <a:ext cx="13587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Wybierz temat</a:t>
            </a:r>
            <a:endParaRPr lang="en-US" sz="2000" dirty="0"/>
          </a:p>
        </p:txBody>
      </p:sp>
      <p:sp>
        <p:nvSpPr>
          <p:cNvPr id="9" name="Tekst 662"/>
          <p:cNvSpPr txBox="1"/>
          <p:nvPr/>
        </p:nvSpPr>
        <p:spPr>
          <a:xfrm>
            <a:off x="2638958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Karta 663"/>
          <p:cNvSpPr/>
          <p:nvPr/>
        </p:nvSpPr>
        <p:spPr>
          <a:xfrm>
            <a:off x="3004718" y="2286000"/>
            <a:ext cx="1815998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kst 664"/>
          <p:cNvSpPr txBox="1"/>
          <p:nvPr/>
        </p:nvSpPr>
        <p:spPr>
          <a:xfrm>
            <a:off x="3233318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kst 665"/>
          <p:cNvSpPr txBox="1"/>
          <p:nvPr/>
        </p:nvSpPr>
        <p:spPr>
          <a:xfrm>
            <a:off x="3233318" y="3200400"/>
            <a:ext cx="13587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Zbuduj światło</a:t>
            </a:r>
            <a:endParaRPr lang="en-US" sz="2000" dirty="0"/>
          </a:p>
        </p:txBody>
      </p:sp>
      <p:sp>
        <p:nvSpPr>
          <p:cNvPr id="13" name="Tekst 666"/>
          <p:cNvSpPr txBox="1"/>
          <p:nvPr/>
        </p:nvSpPr>
        <p:spPr>
          <a:xfrm>
            <a:off x="4820717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Karta 667"/>
          <p:cNvSpPr/>
          <p:nvPr/>
        </p:nvSpPr>
        <p:spPr>
          <a:xfrm>
            <a:off x="5186477" y="2286000"/>
            <a:ext cx="1815998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668"/>
          <p:cNvSpPr txBox="1"/>
          <p:nvPr/>
        </p:nvSpPr>
        <p:spPr>
          <a:xfrm>
            <a:off x="5415077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kst 669"/>
          <p:cNvSpPr txBox="1"/>
          <p:nvPr/>
        </p:nvSpPr>
        <p:spPr>
          <a:xfrm>
            <a:off x="5415077" y="3200400"/>
            <a:ext cx="13587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Zapisz ustawienia</a:t>
            </a:r>
            <a:endParaRPr lang="en-US" sz="2000" dirty="0"/>
          </a:p>
        </p:txBody>
      </p:sp>
      <p:sp>
        <p:nvSpPr>
          <p:cNvPr id="17" name="Tekst 670"/>
          <p:cNvSpPr txBox="1"/>
          <p:nvPr/>
        </p:nvSpPr>
        <p:spPr>
          <a:xfrm>
            <a:off x="7002475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Karta 671"/>
          <p:cNvSpPr/>
          <p:nvPr/>
        </p:nvSpPr>
        <p:spPr>
          <a:xfrm>
            <a:off x="7368235" y="2286000"/>
            <a:ext cx="1815998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kst 672"/>
          <p:cNvSpPr txBox="1"/>
          <p:nvPr/>
        </p:nvSpPr>
        <p:spPr>
          <a:xfrm>
            <a:off x="7596835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kst 673"/>
          <p:cNvSpPr txBox="1"/>
          <p:nvPr/>
        </p:nvSpPr>
        <p:spPr>
          <a:xfrm>
            <a:off x="7596835" y="3200400"/>
            <a:ext cx="13587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Zrób serię testową</a:t>
            </a:r>
            <a:endParaRPr lang="en-US" sz="2000" dirty="0"/>
          </a:p>
        </p:txBody>
      </p:sp>
      <p:sp>
        <p:nvSpPr>
          <p:cNvPr id="21" name="Tekst 674"/>
          <p:cNvSpPr txBox="1"/>
          <p:nvPr/>
        </p:nvSpPr>
        <p:spPr>
          <a:xfrm>
            <a:off x="9184234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Karta 675"/>
          <p:cNvSpPr/>
          <p:nvPr/>
        </p:nvSpPr>
        <p:spPr>
          <a:xfrm>
            <a:off x="9549994" y="2286000"/>
            <a:ext cx="1815998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Tekst 676"/>
          <p:cNvSpPr txBox="1"/>
          <p:nvPr/>
        </p:nvSpPr>
        <p:spPr>
          <a:xfrm>
            <a:off x="9778594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kst 677"/>
          <p:cNvSpPr txBox="1"/>
          <p:nvPr/>
        </p:nvSpPr>
        <p:spPr>
          <a:xfrm>
            <a:off x="9778594" y="3200400"/>
            <a:ext cx="13587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Przygotuj jedno zdjęcie finalne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Hybrydowy setup wideo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LAB I WŁASNE ĆWICZENIA</a:t>
            </a:r>
            <a:endParaRPr lang="en-US" sz="1000" dirty="0"/>
          </a:p>
        </p:txBody>
      </p:sp>
      <p:sp>
        <p:nvSpPr>
          <p:cNvPr id="5" name="Linia 679"/>
          <p:cNvSpPr/>
          <p:nvPr/>
        </p:nvSpPr>
        <p:spPr>
          <a:xfrm>
            <a:off x="822960" y="19659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680"/>
          <p:cNvSpPr txBox="1"/>
          <p:nvPr/>
        </p:nvSpPr>
        <p:spPr>
          <a:xfrm>
            <a:off x="82296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681"/>
          <p:cNvSpPr txBox="1"/>
          <p:nvPr/>
        </p:nvSpPr>
        <p:spPr>
          <a:xfrm>
            <a:off x="1417320" y="196596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Ring light — catchlight i wyrównanie skóry</a:t>
            </a:r>
            <a:endParaRPr lang="en-US" sz="1800" dirty="0"/>
          </a:p>
        </p:txBody>
      </p:sp>
      <p:sp>
        <p:nvSpPr>
          <p:cNvPr id="8" name="Linia 682"/>
          <p:cNvSpPr/>
          <p:nvPr/>
        </p:nvSpPr>
        <p:spPr>
          <a:xfrm>
            <a:off x="822960" y="269748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683"/>
          <p:cNvSpPr txBox="1"/>
          <p:nvPr/>
        </p:nvSpPr>
        <p:spPr>
          <a:xfrm>
            <a:off x="82296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684"/>
          <p:cNvSpPr txBox="1"/>
          <p:nvPr/>
        </p:nvSpPr>
        <p:spPr>
          <a:xfrm>
            <a:off x="1417320" y="269748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Softbox w tle — głębia</a:t>
            </a:r>
            <a:endParaRPr lang="en-US" sz="1800" dirty="0"/>
          </a:p>
        </p:txBody>
      </p:sp>
      <p:sp>
        <p:nvSpPr>
          <p:cNvPr id="11" name="Linia 685"/>
          <p:cNvSpPr/>
          <p:nvPr/>
        </p:nvSpPr>
        <p:spPr>
          <a:xfrm>
            <a:off x="822960" y="342900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686"/>
          <p:cNvSpPr txBox="1"/>
          <p:nvPr/>
        </p:nvSpPr>
        <p:spPr>
          <a:xfrm>
            <a:off x="82296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687"/>
          <p:cNvSpPr txBox="1"/>
          <p:nvPr/>
        </p:nvSpPr>
        <p:spPr>
          <a:xfrm>
            <a:off x="1417320" y="342900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 24/30 fps</a:t>
            </a:r>
            <a:endParaRPr lang="en-US" sz="1800" dirty="0"/>
          </a:p>
        </p:txBody>
      </p:sp>
      <p:sp>
        <p:nvSpPr>
          <p:cNvPr id="14" name="Linia 688"/>
          <p:cNvSpPr/>
          <p:nvPr/>
        </p:nvSpPr>
        <p:spPr>
          <a:xfrm>
            <a:off x="822960" y="416052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689"/>
          <p:cNvSpPr txBox="1"/>
          <p:nvPr/>
        </p:nvSpPr>
        <p:spPr>
          <a:xfrm>
            <a:off x="822960" y="4160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690"/>
          <p:cNvSpPr txBox="1"/>
          <p:nvPr/>
        </p:nvSpPr>
        <p:spPr>
          <a:xfrm>
            <a:off x="1417320" y="416052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 slow motion</a:t>
            </a:r>
            <a:endParaRPr lang="en-US" sz="1800" dirty="0"/>
          </a:p>
        </p:txBody>
      </p:sp>
      <p:sp>
        <p:nvSpPr>
          <p:cNvPr id="17" name="Linia 691"/>
          <p:cNvSpPr/>
          <p:nvPr/>
        </p:nvSpPr>
        <p:spPr>
          <a:xfrm>
            <a:off x="822960" y="489204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kst 692"/>
          <p:cNvSpPr txBox="1"/>
          <p:nvPr/>
        </p:nvSpPr>
        <p:spPr>
          <a:xfrm>
            <a:off x="822960" y="4892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kst 693"/>
          <p:cNvSpPr txBox="1"/>
          <p:nvPr/>
        </p:nvSpPr>
        <p:spPr>
          <a:xfrm>
            <a:off x="1417320" y="48920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Sprawdzamy flicker</a:t>
            </a:r>
            <a:endParaRPr lang="en-US" sz="1800" dirty="0"/>
          </a:p>
        </p:txBody>
      </p:sp>
      <p:sp>
        <p:nvSpPr>
          <p:cNvPr id="20" name="Linia 694"/>
          <p:cNvSpPr/>
          <p:nvPr/>
        </p:nvSpPr>
        <p:spPr>
          <a:xfrm>
            <a:off x="822960" y="5623560"/>
            <a:ext cx="57607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Karta 695"/>
          <p:cNvSpPr/>
          <p:nvPr/>
        </p:nvSpPr>
        <p:spPr>
          <a:xfrm>
            <a:off x="6949440" y="1783080"/>
            <a:ext cx="44165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Teczowka"/>
          <p:cNvSpPr/>
          <p:nvPr/>
        </p:nvSpPr>
        <p:spPr>
          <a:xfrm>
            <a:off x="7968996" y="242316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Zrenica"/>
          <p:cNvSpPr/>
          <p:nvPr/>
        </p:nvSpPr>
        <p:spPr>
          <a:xfrm>
            <a:off x="8654796" y="310896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Catchlight"/>
          <p:cNvSpPr/>
          <p:nvPr/>
        </p:nvSpPr>
        <p:spPr>
          <a:xfrm>
            <a:off x="8289036" y="2743200"/>
            <a:ext cx="868680" cy="868680"/>
          </a:xfrm>
          <a:prstGeom prst="ellipse">
            <a:avLst/>
          </a:prstGeom>
          <a:noFill/>
          <a:ln w="63500">
            <a:solidFill>
              <a:schemeClr val="bg1"/>
            </a:solidFill>
            <a:prstDash val="solid"/>
          </a:ln>
        </p:spPr>
      </p:sp>
      <p:sp>
        <p:nvSpPr>
          <p:cNvPr id="25" name="Tekst 698"/>
          <p:cNvSpPr txBox="1"/>
          <p:nvPr/>
        </p:nvSpPr>
        <p:spPr>
          <a:xfrm>
            <a:off x="726948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catchlight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Stopniowe odstawianie produktu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LAB I WŁASNE ĆWICZENIA</a:t>
            </a:r>
            <a:endParaRPr lang="en-US" sz="1000" dirty="0"/>
          </a:p>
        </p:txBody>
      </p:sp>
      <p:sp>
        <p:nvSpPr>
          <p:cNvPr id="5" name="Scena 1"/>
          <p:cNvSpPr/>
          <p:nvPr/>
        </p:nvSpPr>
        <p:spPr>
          <a:xfrm>
            <a:off x="822960" y="178308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Produkt 1"/>
          <p:cNvSpPr/>
          <p:nvPr/>
        </p:nvSpPr>
        <p:spPr>
          <a:xfrm>
            <a:off x="1695069" y="2606040"/>
            <a:ext cx="54864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Rekwizyt 1.1"/>
          <p:cNvSpPr/>
          <p:nvPr/>
        </p:nvSpPr>
        <p:spPr>
          <a:xfrm>
            <a:off x="1143000" y="2148840"/>
            <a:ext cx="411480" cy="4114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" name="Rekwizyt 1.2"/>
          <p:cNvSpPr/>
          <p:nvPr/>
        </p:nvSpPr>
        <p:spPr>
          <a:xfrm>
            <a:off x="2423160" y="2240280"/>
            <a:ext cx="320040" cy="3200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9" name="Rekwizyt 1.3"/>
          <p:cNvSpPr/>
          <p:nvPr/>
        </p:nvSpPr>
        <p:spPr>
          <a:xfrm>
            <a:off x="1280160" y="3474720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Tekst 705"/>
          <p:cNvSpPr txBox="1"/>
          <p:nvPr/>
        </p:nvSpPr>
        <p:spPr>
          <a:xfrm>
            <a:off x="3115818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kst 706"/>
          <p:cNvSpPr txBox="1"/>
          <p:nvPr/>
        </p:nvSpPr>
        <p:spPr>
          <a:xfrm>
            <a:off x="822960" y="4434840"/>
            <a:ext cx="229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Zaczynamy od pełnej sceny</a:t>
            </a:r>
            <a:endParaRPr lang="en-US" sz="1800" dirty="0"/>
          </a:p>
        </p:txBody>
      </p:sp>
      <p:sp>
        <p:nvSpPr>
          <p:cNvPr id="12" name="Scena 2"/>
          <p:cNvSpPr/>
          <p:nvPr/>
        </p:nvSpPr>
        <p:spPr>
          <a:xfrm>
            <a:off x="3573018" y="178308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Produkt 2"/>
          <p:cNvSpPr/>
          <p:nvPr/>
        </p:nvSpPr>
        <p:spPr>
          <a:xfrm>
            <a:off x="4445127" y="2606040"/>
            <a:ext cx="54864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Rekwizyt 2.1"/>
          <p:cNvSpPr/>
          <p:nvPr/>
        </p:nvSpPr>
        <p:spPr>
          <a:xfrm>
            <a:off x="3893058" y="2148840"/>
            <a:ext cx="411480" cy="4114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Rekwizyt 2.2"/>
          <p:cNvSpPr/>
          <p:nvPr/>
        </p:nvSpPr>
        <p:spPr>
          <a:xfrm>
            <a:off x="5173218" y="2240280"/>
            <a:ext cx="320040" cy="3200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Tekst 711"/>
          <p:cNvSpPr txBox="1"/>
          <p:nvPr/>
        </p:nvSpPr>
        <p:spPr>
          <a:xfrm>
            <a:off x="5865876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kst 712"/>
          <p:cNvSpPr txBox="1"/>
          <p:nvPr/>
        </p:nvSpPr>
        <p:spPr>
          <a:xfrm>
            <a:off x="3573018" y="4434840"/>
            <a:ext cx="229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Usuwamy jeden element</a:t>
            </a:r>
            <a:endParaRPr lang="en-US" sz="1800" dirty="0"/>
          </a:p>
        </p:txBody>
      </p:sp>
      <p:sp>
        <p:nvSpPr>
          <p:cNvPr id="18" name="Scena 3"/>
          <p:cNvSpPr/>
          <p:nvPr/>
        </p:nvSpPr>
        <p:spPr>
          <a:xfrm>
            <a:off x="6323076" y="178308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Produkt 3"/>
          <p:cNvSpPr/>
          <p:nvPr/>
        </p:nvSpPr>
        <p:spPr>
          <a:xfrm>
            <a:off x="7195185" y="2606040"/>
            <a:ext cx="54864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Rekwizyt 3.1"/>
          <p:cNvSpPr/>
          <p:nvPr/>
        </p:nvSpPr>
        <p:spPr>
          <a:xfrm>
            <a:off x="6643116" y="2148840"/>
            <a:ext cx="411480" cy="4114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1" name="Tekst 716"/>
          <p:cNvSpPr txBox="1"/>
          <p:nvPr/>
        </p:nvSpPr>
        <p:spPr>
          <a:xfrm>
            <a:off x="8615934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kst 717"/>
          <p:cNvSpPr txBox="1"/>
          <p:nvPr/>
        </p:nvSpPr>
        <p:spPr>
          <a:xfrm>
            <a:off x="6323076" y="4434840"/>
            <a:ext cx="229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Porównujemy efekt</a:t>
            </a:r>
            <a:endParaRPr lang="en-US" sz="1800" dirty="0"/>
          </a:p>
        </p:txBody>
      </p:sp>
      <p:sp>
        <p:nvSpPr>
          <p:cNvPr id="23" name="Scena 4"/>
          <p:cNvSpPr/>
          <p:nvPr/>
        </p:nvSpPr>
        <p:spPr>
          <a:xfrm>
            <a:off x="9073134" y="1783080"/>
            <a:ext cx="2292858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4" name="Produkt 4"/>
          <p:cNvSpPr/>
          <p:nvPr/>
        </p:nvSpPr>
        <p:spPr>
          <a:xfrm>
            <a:off x="9945243" y="2606040"/>
            <a:ext cx="54864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Tekst 720"/>
          <p:cNvSpPr txBox="1"/>
          <p:nvPr/>
        </p:nvSpPr>
        <p:spPr>
          <a:xfrm>
            <a:off x="9073134" y="4434840"/>
            <a:ext cx="229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Zostawiamy tylko to, co potrzebne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Podsumowanie</a:t>
            </a:r>
            <a:endParaRPr lang="en-US" sz="5400" dirty="0"/>
          </a:p>
        </p:txBody>
      </p:sp>
      <p:sp>
        <p:nvSpPr>
          <p:cNvPr id="3" name="Tekst 721"/>
          <p:cNvSpPr txBox="1"/>
          <p:nvPr/>
        </p:nvSpPr>
        <p:spPr>
          <a:xfrm>
            <a:off x="82296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9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Przegląd prac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  PODSUMOWANIE</a:t>
            </a:r>
            <a:endParaRPr lang="en-US" sz="1000" dirty="0"/>
          </a:p>
        </p:txBody>
      </p:sp>
      <p:sp>
        <p:nvSpPr>
          <p:cNvPr id="5" name="Linia 723"/>
          <p:cNvSpPr/>
          <p:nvPr/>
        </p:nvSpPr>
        <p:spPr>
          <a:xfrm>
            <a:off x="822960" y="1965960"/>
            <a:ext cx="67665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Tekst 724"/>
          <p:cNvSpPr txBox="1"/>
          <p:nvPr/>
        </p:nvSpPr>
        <p:spPr>
          <a:xfrm>
            <a:off x="82296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kst 725"/>
          <p:cNvSpPr txBox="1"/>
          <p:nvPr/>
        </p:nvSpPr>
        <p:spPr>
          <a:xfrm>
            <a:off x="1417320" y="196596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 działa?</a:t>
            </a:r>
            <a:endParaRPr lang="en-US" sz="2400" dirty="0"/>
          </a:p>
        </p:txBody>
      </p:sp>
      <p:sp>
        <p:nvSpPr>
          <p:cNvPr id="8" name="Linia 726"/>
          <p:cNvSpPr/>
          <p:nvPr/>
        </p:nvSpPr>
        <p:spPr>
          <a:xfrm>
            <a:off x="822960" y="2697480"/>
            <a:ext cx="67665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kst 727"/>
          <p:cNvSpPr txBox="1"/>
          <p:nvPr/>
        </p:nvSpPr>
        <p:spPr>
          <a:xfrm>
            <a:off x="82296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kst 728"/>
          <p:cNvSpPr txBox="1"/>
          <p:nvPr/>
        </p:nvSpPr>
        <p:spPr>
          <a:xfrm>
            <a:off x="1417320" y="269748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 wymaga korekty?</a:t>
            </a:r>
            <a:endParaRPr lang="en-US" sz="2400" dirty="0"/>
          </a:p>
        </p:txBody>
      </p:sp>
      <p:sp>
        <p:nvSpPr>
          <p:cNvPr id="11" name="Linia 729"/>
          <p:cNvSpPr/>
          <p:nvPr/>
        </p:nvSpPr>
        <p:spPr>
          <a:xfrm>
            <a:off x="822960" y="3429000"/>
            <a:ext cx="67665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kst 730"/>
          <p:cNvSpPr txBox="1"/>
          <p:nvPr/>
        </p:nvSpPr>
        <p:spPr>
          <a:xfrm>
            <a:off x="82296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kst 731"/>
          <p:cNvSpPr txBox="1"/>
          <p:nvPr/>
        </p:nvSpPr>
        <p:spPr>
          <a:xfrm>
            <a:off x="1417320" y="342900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Jakie światło wybrano?</a:t>
            </a:r>
            <a:endParaRPr lang="en-US" sz="2400" dirty="0"/>
          </a:p>
        </p:txBody>
      </p:sp>
      <p:sp>
        <p:nvSpPr>
          <p:cNvPr id="14" name="Linia 732"/>
          <p:cNvSpPr/>
          <p:nvPr/>
        </p:nvSpPr>
        <p:spPr>
          <a:xfrm>
            <a:off x="822960" y="4160520"/>
            <a:ext cx="67665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kst 733"/>
          <p:cNvSpPr txBox="1"/>
          <p:nvPr/>
        </p:nvSpPr>
        <p:spPr>
          <a:xfrm>
            <a:off x="822960" y="4160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kst 734"/>
          <p:cNvSpPr txBox="1"/>
          <p:nvPr/>
        </p:nvSpPr>
        <p:spPr>
          <a:xfrm>
            <a:off x="1417320" y="416052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Czy kadr komunikuje cel?</a:t>
            </a:r>
            <a:endParaRPr lang="en-US" sz="2400" dirty="0"/>
          </a:p>
        </p:txBody>
      </p:sp>
      <p:sp>
        <p:nvSpPr>
          <p:cNvPr id="17" name="Linia 735"/>
          <p:cNvSpPr/>
          <p:nvPr/>
        </p:nvSpPr>
        <p:spPr>
          <a:xfrm>
            <a:off x="822960" y="4892040"/>
            <a:ext cx="67665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kst 736"/>
          <p:cNvSpPr txBox="1"/>
          <p:nvPr/>
        </p:nvSpPr>
        <p:spPr>
          <a:xfrm>
            <a:off x="822960" y="4892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kst 737"/>
          <p:cNvSpPr txBox="1"/>
          <p:nvPr/>
        </p:nvSpPr>
        <p:spPr>
          <a:xfrm>
            <a:off x="1417320" y="489204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 zmienić jako pierwsze?</a:t>
            </a:r>
            <a:endParaRPr lang="en-US" sz="2400" dirty="0"/>
          </a:p>
        </p:txBody>
      </p:sp>
      <p:sp>
        <p:nvSpPr>
          <p:cNvPr id="20" name="Linia 738"/>
          <p:cNvSpPr/>
          <p:nvPr/>
        </p:nvSpPr>
        <p:spPr>
          <a:xfrm>
            <a:off x="822960" y="5623560"/>
            <a:ext cx="67665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1" name="Karta 739"/>
          <p:cNvSpPr/>
          <p:nvPr/>
        </p:nvSpPr>
        <p:spPr>
          <a:xfrm>
            <a:off x="8138160" y="1783080"/>
            <a:ext cx="322783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Tekst 740"/>
          <p:cNvSpPr txBox="1"/>
          <p:nvPr/>
        </p:nvSpPr>
        <p:spPr>
          <a:xfrm>
            <a:off x="8138160" y="1783080"/>
            <a:ext cx="322783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2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Najważniejsze lekcje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  PODSUMOWANIE</a:t>
            </a:r>
            <a:endParaRPr lang="en-US" sz="1000" dirty="0"/>
          </a:p>
        </p:txBody>
      </p:sp>
      <p:sp>
        <p:nvSpPr>
          <p:cNvPr id="5" name="Tekst 742"/>
          <p:cNvSpPr txBox="1"/>
          <p:nvPr/>
        </p:nvSpPr>
        <p:spPr>
          <a:xfrm>
            <a:off x="822960" y="17373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0000" dirty="0"/>
          </a:p>
        </p:txBody>
      </p:sp>
      <p:sp>
        <p:nvSpPr>
          <p:cNvPr id="6" name="Tekst 743"/>
          <p:cNvSpPr txBox="1"/>
          <p:nvPr/>
        </p:nvSpPr>
        <p:spPr>
          <a:xfrm>
            <a:off x="82296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najważniejszych lekcji</a:t>
            </a:r>
            <a:endParaRPr lang="en-US" sz="1800" dirty="0"/>
          </a:p>
        </p:txBody>
      </p:sp>
      <p:sp>
        <p:nvSpPr>
          <p:cNvPr id="7" name="Linia 744"/>
          <p:cNvSpPr/>
          <p:nvPr/>
        </p:nvSpPr>
        <p:spPr>
          <a:xfrm>
            <a:off x="4297680" y="1965960"/>
            <a:ext cx="70683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kst 745"/>
          <p:cNvSpPr txBox="1"/>
          <p:nvPr/>
        </p:nvSpPr>
        <p:spPr>
          <a:xfrm>
            <a:off x="4297680" y="19659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kst 746"/>
          <p:cNvSpPr txBox="1"/>
          <p:nvPr/>
        </p:nvSpPr>
        <p:spPr>
          <a:xfrm>
            <a:off x="4892040" y="1965960"/>
            <a:ext cx="6473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Światło buduje kształt</a:t>
            </a:r>
            <a:endParaRPr lang="en-US" sz="2200" dirty="0"/>
          </a:p>
        </p:txBody>
      </p:sp>
      <p:sp>
        <p:nvSpPr>
          <p:cNvPr id="10" name="Linia 747"/>
          <p:cNvSpPr/>
          <p:nvPr/>
        </p:nvSpPr>
        <p:spPr>
          <a:xfrm>
            <a:off x="4297680" y="2715768"/>
            <a:ext cx="70683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Tekst 748"/>
          <p:cNvSpPr txBox="1"/>
          <p:nvPr/>
        </p:nvSpPr>
        <p:spPr>
          <a:xfrm>
            <a:off x="4297680" y="271576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kst 749"/>
          <p:cNvSpPr txBox="1"/>
          <p:nvPr/>
        </p:nvSpPr>
        <p:spPr>
          <a:xfrm>
            <a:off x="4892040" y="2715768"/>
            <a:ext cx="6473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Ekspozycję kontrolujemy narzędziami</a:t>
            </a:r>
            <a:endParaRPr lang="en-US" sz="2200" dirty="0"/>
          </a:p>
        </p:txBody>
      </p:sp>
      <p:sp>
        <p:nvSpPr>
          <p:cNvPr id="13" name="Linia 750"/>
          <p:cNvSpPr/>
          <p:nvPr/>
        </p:nvSpPr>
        <p:spPr>
          <a:xfrm>
            <a:off x="4297680" y="3465576"/>
            <a:ext cx="70683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kst 751"/>
          <p:cNvSpPr txBox="1"/>
          <p:nvPr/>
        </p:nvSpPr>
        <p:spPr>
          <a:xfrm>
            <a:off x="4297680" y="346557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kst 752"/>
          <p:cNvSpPr txBox="1"/>
          <p:nvPr/>
        </p:nvSpPr>
        <p:spPr>
          <a:xfrm>
            <a:off x="4892040" y="3465576"/>
            <a:ext cx="6473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Zmieniamy jeden element naraz</a:t>
            </a:r>
            <a:endParaRPr lang="en-US" sz="2200" dirty="0"/>
          </a:p>
        </p:txBody>
      </p:sp>
      <p:sp>
        <p:nvSpPr>
          <p:cNvPr id="16" name="Linia 753"/>
          <p:cNvSpPr/>
          <p:nvPr/>
        </p:nvSpPr>
        <p:spPr>
          <a:xfrm>
            <a:off x="4297680" y="4215384"/>
            <a:ext cx="70683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7" name="Tekst 754"/>
          <p:cNvSpPr txBox="1"/>
          <p:nvPr/>
        </p:nvSpPr>
        <p:spPr>
          <a:xfrm>
            <a:off x="4297680" y="42153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kst 755"/>
          <p:cNvSpPr txBox="1"/>
          <p:nvPr/>
        </p:nvSpPr>
        <p:spPr>
          <a:xfrm>
            <a:off x="4892040" y="4215384"/>
            <a:ext cx="6473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Dokumentujemy setupy</a:t>
            </a:r>
            <a:endParaRPr lang="en-US" sz="2200" dirty="0"/>
          </a:p>
        </p:txBody>
      </p:sp>
      <p:sp>
        <p:nvSpPr>
          <p:cNvPr id="19" name="Linia 756"/>
          <p:cNvSpPr/>
          <p:nvPr/>
        </p:nvSpPr>
        <p:spPr>
          <a:xfrm>
            <a:off x="4297680" y="4965192"/>
            <a:ext cx="70683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kst 757"/>
          <p:cNvSpPr txBox="1"/>
          <p:nvPr/>
        </p:nvSpPr>
        <p:spPr>
          <a:xfrm>
            <a:off x="4297680" y="496519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kst 758"/>
          <p:cNvSpPr txBox="1"/>
          <p:nvPr/>
        </p:nvSpPr>
        <p:spPr>
          <a:xfrm>
            <a:off x="4892040" y="4965192"/>
            <a:ext cx="6473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Prostota poprawia powtarzalność</a:t>
            </a:r>
            <a:endParaRPr lang="en-US" sz="2200" dirty="0"/>
          </a:p>
        </p:txBody>
      </p:sp>
      <p:sp>
        <p:nvSpPr>
          <p:cNvPr id="22" name="Linia 759"/>
          <p:cNvSpPr/>
          <p:nvPr/>
        </p:nvSpPr>
        <p:spPr>
          <a:xfrm>
            <a:off x="4297680" y="5715000"/>
            <a:ext cx="70683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Feedback uczestników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  PODSUMOWANIE</a:t>
            </a:r>
            <a:endParaRPr lang="en-US" sz="1000" dirty="0"/>
          </a:p>
        </p:txBody>
      </p:sp>
      <p:sp>
        <p:nvSpPr>
          <p:cNvPr id="5" name="Karta 761"/>
          <p:cNvSpPr/>
          <p:nvPr/>
        </p:nvSpPr>
        <p:spPr>
          <a:xfrm>
            <a:off x="822960" y="178308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kst 762"/>
          <p:cNvSpPr txBox="1"/>
          <p:nvPr/>
        </p:nvSpPr>
        <p:spPr>
          <a:xfrm>
            <a:off x="1143000" y="2057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kst 763"/>
          <p:cNvSpPr txBox="1"/>
          <p:nvPr/>
        </p:nvSpPr>
        <p:spPr>
          <a:xfrm>
            <a:off x="1143000" y="246888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 było najbardziej przydatne?</a:t>
            </a:r>
            <a:endParaRPr lang="en-US" sz="2600" dirty="0"/>
          </a:p>
        </p:txBody>
      </p:sp>
      <p:sp>
        <p:nvSpPr>
          <p:cNvPr id="8" name="Karta 764"/>
          <p:cNvSpPr/>
          <p:nvPr/>
        </p:nvSpPr>
        <p:spPr>
          <a:xfrm>
            <a:off x="6277356" y="178308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kst 765"/>
          <p:cNvSpPr txBox="1"/>
          <p:nvPr/>
        </p:nvSpPr>
        <p:spPr>
          <a:xfrm>
            <a:off x="6597396" y="205740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kst 766"/>
          <p:cNvSpPr txBox="1"/>
          <p:nvPr/>
        </p:nvSpPr>
        <p:spPr>
          <a:xfrm>
            <a:off x="6597396" y="246888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 było najtrudniejsze?</a:t>
            </a:r>
            <a:endParaRPr lang="en-US" sz="2600" dirty="0"/>
          </a:p>
        </p:txBody>
      </p:sp>
      <p:sp>
        <p:nvSpPr>
          <p:cNvPr id="11" name="Karta 767"/>
          <p:cNvSpPr/>
          <p:nvPr/>
        </p:nvSpPr>
        <p:spPr>
          <a:xfrm>
            <a:off x="822960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kst 768"/>
          <p:cNvSpPr txBox="1"/>
          <p:nvPr/>
        </p:nvSpPr>
        <p:spPr>
          <a:xfrm>
            <a:off x="1143000" y="420624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kst 769"/>
          <p:cNvSpPr txBox="1"/>
          <p:nvPr/>
        </p:nvSpPr>
        <p:spPr>
          <a:xfrm>
            <a:off x="1143000" y="461772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 wykorzystasz w praktyce?</a:t>
            </a:r>
            <a:endParaRPr lang="en-US" sz="2600" dirty="0"/>
          </a:p>
        </p:txBody>
      </p:sp>
      <p:sp>
        <p:nvSpPr>
          <p:cNvPr id="14" name="Karta 770"/>
          <p:cNvSpPr/>
          <p:nvPr/>
        </p:nvSpPr>
        <p:spPr>
          <a:xfrm>
            <a:off x="6277356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kst 771"/>
          <p:cNvSpPr txBox="1"/>
          <p:nvPr/>
        </p:nvSpPr>
        <p:spPr>
          <a:xfrm>
            <a:off x="6597396" y="4206240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kst 772"/>
          <p:cNvSpPr txBox="1"/>
          <p:nvPr/>
        </p:nvSpPr>
        <p:spPr>
          <a:xfrm>
            <a:off x="6597396" y="4617720"/>
            <a:ext cx="44485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Czego chcesz dowiedzieć się więcej?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Materiały po warsztatach</a:t>
            </a:r>
            <a:endParaRPr lang="en-US" sz="40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  PODSUMOWANIE</a:t>
            </a:r>
            <a:endParaRPr lang="en-US" sz="1000" dirty="0"/>
          </a:p>
        </p:txBody>
      </p:sp>
      <p:sp>
        <p:nvSpPr>
          <p:cNvPr id="5" name="Karta 774"/>
          <p:cNvSpPr/>
          <p:nvPr/>
        </p:nvSpPr>
        <p:spPr>
          <a:xfrm>
            <a:off x="822960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Pole wyboru 775"/>
          <p:cNvSpPr/>
          <p:nvPr/>
        </p:nvSpPr>
        <p:spPr>
          <a:xfrm>
            <a:off x="1143000" y="2103120"/>
            <a:ext cx="292608" cy="292608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Tekst 776"/>
          <p:cNvSpPr txBox="1"/>
          <p:nvPr/>
        </p:nvSpPr>
        <p:spPr>
          <a:xfrm>
            <a:off x="1143000" y="2606040"/>
            <a:ext cx="263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Gotowe setupy</a:t>
            </a:r>
            <a:endParaRPr lang="en-US" sz="2400" dirty="0"/>
          </a:p>
        </p:txBody>
      </p:sp>
      <p:sp>
        <p:nvSpPr>
          <p:cNvPr id="8" name="Karta 777"/>
          <p:cNvSpPr/>
          <p:nvPr/>
        </p:nvSpPr>
        <p:spPr>
          <a:xfrm>
            <a:off x="4459224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Pole wyboru 778"/>
          <p:cNvSpPr/>
          <p:nvPr/>
        </p:nvSpPr>
        <p:spPr>
          <a:xfrm>
            <a:off x="4779264" y="2103120"/>
            <a:ext cx="292608" cy="292608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kst 779"/>
          <p:cNvSpPr txBox="1"/>
          <p:nvPr/>
        </p:nvSpPr>
        <p:spPr>
          <a:xfrm>
            <a:off x="4779264" y="2606040"/>
            <a:ext cx="263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Lista sprzętu</a:t>
            </a:r>
            <a:endParaRPr lang="en-US" sz="2400" dirty="0"/>
          </a:p>
        </p:txBody>
      </p:sp>
      <p:sp>
        <p:nvSpPr>
          <p:cNvPr id="11" name="Karta 780"/>
          <p:cNvSpPr/>
          <p:nvPr/>
        </p:nvSpPr>
        <p:spPr>
          <a:xfrm>
            <a:off x="8095488" y="1783080"/>
            <a:ext cx="3270504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Pole wyboru 781"/>
          <p:cNvSpPr/>
          <p:nvPr/>
        </p:nvSpPr>
        <p:spPr>
          <a:xfrm>
            <a:off x="8415528" y="2103120"/>
            <a:ext cx="292608" cy="292608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kst 782"/>
          <p:cNvSpPr txBox="1"/>
          <p:nvPr/>
        </p:nvSpPr>
        <p:spPr>
          <a:xfrm>
            <a:off x="8415528" y="2606040"/>
            <a:ext cx="263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Omówienie ustawień</a:t>
            </a:r>
            <a:endParaRPr lang="en-US" sz="2400" dirty="0"/>
          </a:p>
        </p:txBody>
      </p:sp>
      <p:sp>
        <p:nvSpPr>
          <p:cNvPr id="14" name="Karta 783"/>
          <p:cNvSpPr/>
          <p:nvPr/>
        </p:nvSpPr>
        <p:spPr>
          <a:xfrm>
            <a:off x="822960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Pole wyboru 784"/>
          <p:cNvSpPr/>
          <p:nvPr/>
        </p:nvSpPr>
        <p:spPr>
          <a:xfrm>
            <a:off x="1143000" y="4251960"/>
            <a:ext cx="292608" cy="292608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kst 785"/>
          <p:cNvSpPr txBox="1"/>
          <p:nvPr/>
        </p:nvSpPr>
        <p:spPr>
          <a:xfrm>
            <a:off x="1143000" y="4754880"/>
            <a:ext cx="4448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Zdjęcia z warsztatów</a:t>
            </a:r>
            <a:endParaRPr lang="en-US" sz="2400" dirty="0"/>
          </a:p>
        </p:txBody>
      </p:sp>
      <p:sp>
        <p:nvSpPr>
          <p:cNvPr id="17" name="Karta 786"/>
          <p:cNvSpPr/>
          <p:nvPr/>
        </p:nvSpPr>
        <p:spPr>
          <a:xfrm>
            <a:off x="6277356" y="3931920"/>
            <a:ext cx="5088636" cy="1783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Pole wyboru 787"/>
          <p:cNvSpPr/>
          <p:nvPr/>
        </p:nvSpPr>
        <p:spPr>
          <a:xfrm>
            <a:off x="6597396" y="4251960"/>
            <a:ext cx="292608" cy="292608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9" name="Tekst 788"/>
          <p:cNvSpPr txBox="1"/>
          <p:nvPr/>
        </p:nvSpPr>
        <p:spPr>
          <a:xfrm>
            <a:off x="6597396" y="4754880"/>
            <a:ext cx="4448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Kontakt / grupa follow-up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137160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Dziękuję za udział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Wybierzcie jeden setup do dalszego ćwiczenia.</a:t>
            </a:r>
            <a:endParaRPr lang="en-US" sz="4400" dirty="0"/>
          </a:p>
        </p:txBody>
      </p:sp>
      <p:sp>
        <p:nvSpPr>
          <p:cNvPr id="3" name="Etykieta bloku"/>
          <p:cNvSpPr txBox="1"/>
          <p:nvPr/>
        </p:nvSpPr>
        <p:spPr>
          <a:xfrm>
            <a:off x="1737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  PODSUMOWANIE</a:t>
            </a:r>
            <a:endParaRPr lang="en-US" sz="1000" dirty="0"/>
          </a:p>
        </p:txBody>
      </p:sp>
      <p:sp>
        <p:nvSpPr>
          <p:cNvPr id="4" name="Tekst 790"/>
          <p:cNvSpPr txBox="1"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Pytania?  ·  Do zobaczenia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 Eyez">
  <a:themeElements>
    <a:clrScheme name="4 Eyez">
      <a:dk1>
        <a:srgbClr val="000000"/>
      </a:dk1>
      <a:lt1>
        <a:srgbClr val="F5F5F5"/>
      </a:lt1>
      <a:dk2>
        <a:srgbClr val="151515"/>
      </a:dk2>
      <a:lt2>
        <a:srgbClr val="8F8F8F"/>
      </a:lt2>
      <a:accent1>
        <a:srgbClr val="A99BFF"/>
      </a:accent1>
      <a:accent2>
        <a:srgbClr val="F5F5F5"/>
      </a:accent2>
      <a:accent3>
        <a:srgbClr val="8F8F8F"/>
      </a:accent3>
      <a:accent4>
        <a:srgbClr val="151515"/>
      </a:accent4>
      <a:accent5>
        <a:srgbClr val="A99BFF"/>
      </a:accent5>
      <a:accent6>
        <a:srgbClr val="8F8F8F"/>
      </a:accent6>
      <a:hlink>
        <a:srgbClr val="A99BFF"/>
      </a:hlink>
      <a:folHlink>
        <a:srgbClr val="8F8F8F"/>
      </a:folHlink>
    </a:clrScheme>
    <a:fontScheme name="4 Eyez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Warsztaty fotografii i wideo Beauty &amp; Product</dc:title>
  <dc:subject>PptxGenJS Presentation</dc:subject>
  <dc:creator>4 Eyez</dc:creator>
  <cp:lastModifiedBy>4 Eyez</cp:lastModifiedBy>
  <cp:revision>1</cp:revision>
  <dcterms:created xsi:type="dcterms:W3CDTF">2026-10-22T15:23:30Z</dcterms:created>
  <dcterms:modified xsi:type="dcterms:W3CDTF">2026-10-22T15:23:30Z</dcterms:modified>
</cp:coreProperties>
</file>