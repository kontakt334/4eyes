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5"/>
  </p:notesMasterIdLst>
  <p:handoutMasterIdLst>
    <p:handoutMasterId r:id="rId26"/>
  </p:handoutMasterIdLst>
  <p:sldIdLst>
    <p:sldId id="256" r:id="rId5"/>
    <p:sldId id="260" r:id="rId6"/>
    <p:sldId id="257" r:id="rId7"/>
    <p:sldId id="258" r:id="rId8"/>
    <p:sldId id="276" r:id="rId34"/>
    <p:sldId id="259" r:id="rId9"/>
    <p:sldId id="263" r:id="rId10"/>
    <p:sldId id="261" r:id="rId11"/>
    <p:sldId id="262" r:id="rId12"/>
    <p:sldId id="266" r:id="rId13"/>
    <p:sldId id="269" r:id="rId14"/>
    <p:sldId id="267" r:id="rId15"/>
    <p:sldId id="268" r:id="rId16"/>
    <p:sldId id="264" r:id="rId17"/>
    <p:sldId id="277" r:id="rId35"/>
    <p:sldId id="265" r:id="rId18"/>
    <p:sldId id="270" r:id="rId19"/>
    <p:sldId id="271" r:id="rId20"/>
    <p:sldId id="272" r:id="rId21"/>
    <p:sldId id="273" r:id="rId22"/>
    <p:sldId id="274" r:id="rId23"/>
    <p:sldId id="278" r:id="rId36"/>
    <p:sldId id="275" r:id="rId24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D19B9-4442-5429-E7D7-FD2BF4409133}" v="358" dt="2026-10-22T17:11:55.458"/>
    <p1510:client id="{DCB845AF-5868-46CA-BEDD-E8F86E416105}" v="123" dt="2026-10-22T15:25:22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62" y="10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68" y="378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  <Relationship Id="rId34" Type="http://schemas.openxmlformats.org/officeDocument/2006/relationships/slide" Target="slides/slide21.xml"/>
  <Relationship Id="rId35" Type="http://schemas.openxmlformats.org/officeDocument/2006/relationships/slide" Target="slides/slide22.xml"/>
  <Relationship Id="rId36" Type="http://schemas.openxmlformats.org/officeDocument/2006/relationships/slide" Target="slides/slide2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065105-97AC-4B1D-8CB5-0348C31C7C16}" type="datetime1">
              <a:rPr lang="pl-PL" smtClean="0"/>
              <a:t>22.10.2026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557A7-F3A5-476D-B013-FE3925A3ECF5}" type="datetime1">
              <a:rPr lang="pl-PL" smtClean="0"/>
              <a:pPr/>
              <a:t>22.10.2026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612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ś cza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a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7" name="Tekst — symbol zastępczy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8" name="Tekst — symbol zastępczy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4" name="Tekst — symbol zastępczy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5" name="Tekst — symbol zastępczy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6" name="Tekst — symbol zastępczy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7" name="Tekst — symbol zastępczy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1" name="Tekst — symbol zastępczy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2" name="Tekst — symbol zastępczy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3" name="Tekst — symbol zastępczy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4" name="Tekst — symbol zastępczy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Tekst — symbol zastępczy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13" name="Tekst — symbol zastępczy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a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8" name="Tekst — symbol zastępczy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0" name="Tekst — symbol zastępczy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3" name="Tekst — symbol zastępczy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4" name="Tekst — symbol zastępczy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pic>
        <p:nvPicPr>
          <p:cNvPr id="2" name="Grafika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stę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a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 — symbol zastępczy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2" name="Tekst — symbol zastępczy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3" name="Tekst — symbol zastępczy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4" name="Tekst — symbol zastępczy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6" name="Tekst — symbol zastępczy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7" name="Data — symbol zastępczy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8" name="Stopka — symbol zastępczy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9" name="Numer slajdu — symbol zastępczy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zy elementy zawartośc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 rynkow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a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a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Zawartość — symbol zastępczy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endParaRPr lang="pl-PL" noProof="0"/>
          </a:p>
        </p:txBody>
      </p:sp>
      <p:sp>
        <p:nvSpPr>
          <p:cNvPr id="27" name="Zawartość — symbol zastępczy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wa elementy zawartośc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w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ytuł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8" name="Tekst — symbol zastępczy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3" name="Tekst — symbol zastępczy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7" name="Tekst — symbol zastępczy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0" name="Tekst — symbol zastępczy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9" name="Tekst — symbol zastępczy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1" name="Tekst — symbol zastępczy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6" name="Tekst — symbol zastępczy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imię i nazwisko</a:t>
            </a:r>
          </a:p>
        </p:txBody>
      </p:sp>
      <p:sp>
        <p:nvSpPr>
          <p:cNvPr id="22" name="Tekst — symbol zastępczy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a — symbol zastępczy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2" name="Stopka — symbol zastępczy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3" name="Numer slajdu — symbol zastępczy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a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ytuł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0" name="Tekst — symbol zastępczy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5" name="Tekst — symbol zastępczy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6" name="Tekst — symbol zastępczy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7" name="Tekst — symbol zastępczy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8" name="Tekst — symbol zastępczy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9" name="Tekst — symbol zastępczy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ś czas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Tekst — symbol zastępczy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7" name="Tekst — symbol zastępczy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8" name="Tekst — symbol zastępczy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9" name="Tekst — symbol zastępczy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0" name="Tekst — symbol zastępczy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12" name="Tekst — symbol zastępczy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3" name="Tekst — symbol zastępczy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4" name="Tekst — symbol zastępczy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5" name="Tekst — symbol zastępczy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6" name="Tekst — symbol zastępczy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7" name="Tekst — symbol zastępczy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8" name="Tekst — symbol zastępczy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9" name="Tekst — symbol zastępczy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0" name="Tekst — symbol zastępczy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1" name="Tekst — symbol zastępczy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2" name="Tekst — symbol zastępczy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3" name="Tekst — symbol zastępczy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4" name="Tekst — symbol zastępczy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5" name="Tekst — symbol zastępczy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6" name="Tekst — symbol zastępczy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7" name="Tekst — symbol zastępczy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8" name="Tekst — symbol zastępczy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9" name="Tekst — symbol zastępczy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0" name="Tekst — symbol zastępczy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1" name="Tekst — symbol zastępczy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6" name="Data — symbol zastępczy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7" name="Stopka — symbol zastępczy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8" name="Numer slajdu — symbol zastępczy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fika SmartArt 6 — symbol zastępczy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grafikę SmartArt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4 osob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8 osób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5" name="Obraz — symbol zastępczy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6" name="Obraz — symbol zastępczy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7" name="Obraz — symbol zastępczy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58" name="Obraz — symbol zastępczy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4" name="Tekst — symbol zastępczy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2" name="Tekst — symbol zastępczy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9" name="Tekst — symbol zastępczy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3" name="Tekst — symbol zastępczy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0" name="Tekst — symbol zastępczy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4" name="Tekst — symbol zastępczy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1" name="Tekst — symbol zastępczy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5" name="Tekst — symbol zastępczy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3" name="Grafika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a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Zawartość — symbol zastępczy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7" name="Tekst — symbol zastępczy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4" name="Zawartość — symbol zastępczy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8" name="Tekst — symbol zastępczy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5" name="Zawartość — symbol zastępczy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9" name="Tekst — symbol zastępczy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awartość — symbol zastępczy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kończen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6" name="Grafika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 bez grafik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9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  <p:sldLayoutId id="2147483750" r:id="rId9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l-PL">
                <a:latin typeface="Calibri"/>
                <a:ea typeface="Calibri"/>
                <a:cs typeface="Calibri"/>
              </a:rPr>
              <a:t>Światło jako narzędzie pracy</a:t>
            </a:r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latin typeface="Calibri"/>
                <a:ea typeface="Calibri"/>
                <a:cs typeface="Calibri"/>
              </a:rPr>
              <a:t>Stefan Kawka &amp; Oskar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5B51ED-A1F6-95B6-0AEF-00B573FB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Warsztaty beauty &amp; product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999272-F6A5-87D4-48CB-942530DF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Fotografia i wideo</a:t>
            </a:r>
          </a:p>
          <a:p>
            <a:r>
              <a:rPr lang="pl-PL" dirty="0"/>
              <a:t>Światło, model, produkt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0359A7C-DA0A-EDDC-71C9-55A53C2A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42508FD-0C5A-012D-D654-ACCAC018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87877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71FB35-764B-F009-6CE5-91A47ACF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dnia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5FD058-2FA0-FA11-7186-F102FB51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Teoria światła i ekspozycji</a:t>
            </a:r>
          </a:p>
          <a:p>
            <a:r>
              <a:rPr lang="pl-PL" dirty="0"/>
              <a:t>Praktyka podstawowa</a:t>
            </a:r>
          </a:p>
          <a:p>
            <a:r>
              <a:rPr lang="pl-PL" dirty="0"/>
              <a:t>Zaawansowane setupy</a:t>
            </a:r>
          </a:p>
          <a:p>
            <a:r>
              <a:rPr lang="pl-PL" dirty="0"/>
              <a:t>Fotografia produktu</a:t>
            </a:r>
          </a:p>
          <a:p>
            <a:r>
              <a:rPr lang="pl-PL" dirty="0"/>
              <a:t>Setupy studyjne</a:t>
            </a:r>
          </a:p>
          <a:p>
            <a:r>
              <a:rPr lang="pl-PL" dirty="0"/>
              <a:t>LAB i własne ćwiczenia</a:t>
            </a:r>
          </a:p>
          <a:p>
            <a:r>
              <a:rPr lang="pl-PL" dirty="0"/>
              <a:t>Podsumowanie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3213C30-EEE7-BA77-1AD5-438CF14C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EACE34-3F19-29E7-B25D-0FD6076E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3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5852160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 flipV="1">
            <a:off x="6219679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 flipV="1">
            <a:off x="72237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85953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>
            <a:off x="9966960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10971041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5577840" y="42062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1</a:t>
            </a:r>
          </a:p>
        </p:txBody>
      </p:sp>
      <p:sp>
        <p:nvSpPr>
          <p:cNvPr id="108" name="Element 108"/>
          <p:cNvSpPr/>
          <p:nvPr/>
        </p:nvSpPr>
        <p:spPr>
          <a:xfrm>
            <a:off x="5945359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2</a:t>
            </a:r>
          </a:p>
        </p:txBody>
      </p:sp>
      <p:sp>
        <p:nvSpPr>
          <p:cNvPr id="109" name="Element 109"/>
          <p:cNvSpPr/>
          <p:nvPr/>
        </p:nvSpPr>
        <p:spPr>
          <a:xfrm>
            <a:off x="69494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3</a:t>
            </a:r>
          </a:p>
        </p:txBody>
      </p:sp>
      <p:sp>
        <p:nvSpPr>
          <p:cNvPr id="110" name="Element 110"/>
          <p:cNvSpPr/>
          <p:nvPr/>
        </p:nvSpPr>
        <p:spPr>
          <a:xfrm>
            <a:off x="8321040" y="18288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4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6926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5</a:t>
            </a:r>
          </a:p>
        </p:txBody>
      </p:sp>
      <p:sp>
        <p:nvSpPr>
          <p:cNvPr id="112" name="Element 112"/>
          <p:cNvSpPr/>
          <p:nvPr/>
        </p:nvSpPr>
        <p:spPr>
          <a:xfrm>
            <a:off x="10696721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6</a:t>
            </a:r>
          </a:p>
        </p:txBody>
      </p:sp>
      <p:sp>
        <p:nvSpPr>
          <p:cNvPr id="113" name="Element 113"/>
          <p:cNvSpPr/>
          <p:nvPr/>
        </p:nvSpPr>
        <p:spPr>
          <a:xfrm>
            <a:off x="11064240" y="42062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7</a:t>
            </a:r>
          </a:p>
        </p:txBody>
      </p:sp>
      <p:sp>
        <p:nvSpPr>
          <p:cNvPr id="114" name="Element 114"/>
          <p:cNvSpPr/>
          <p:nvPr/>
        </p:nvSpPr>
        <p:spPr>
          <a:xfrm>
            <a:off x="5394960" y="4983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9:00</a:t>
            </a:r>
          </a:p>
        </p:txBody>
      </p:sp>
      <p:sp>
        <p:nvSpPr>
          <p:cNvPr id="115" name="Element 115"/>
          <p:cNvSpPr/>
          <p:nvPr/>
        </p:nvSpPr>
        <p:spPr>
          <a:xfrm>
            <a:off x="10515600" y="4983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17:50</a:t>
            </a:r>
          </a:p>
        </p:txBody>
      </p:sp>
      <p:sp>
        <p:nvSpPr>
          <p:cNvPr id="116" name="Element 116"/>
          <p:cNvSpPr/>
          <p:nvPr/>
        </p:nvSpPr>
        <p:spPr>
          <a:xfrm>
            <a:off x="7223760" y="3383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cały dzień, 7 bloków</a:t>
            </a:r>
          </a:p>
        </p:txBody>
      </p:sp>
    </p:spTree>
    <p:extLst>
      <p:ext uri="{BB962C8B-B14F-4D97-AF65-F5344CB8AC3E}">
        <p14:creationId xmlns:p14="http://schemas.microsoft.com/office/powerpoint/2010/main" val="196913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pracy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Najpierw obserwujemy</a:t>
            </a:r>
          </a:p>
          <a:p>
            <a:r>
              <a:rPr lang="pl-PL" dirty="0"/>
              <a:t>Potem testujemy</a:t>
            </a:r>
          </a:p>
          <a:p>
            <a:r>
              <a:rPr lang="pl-PL" dirty="0"/>
              <a:t>Jeden element naraz</a:t>
            </a:r>
          </a:p>
          <a:p>
            <a:r>
              <a:rPr lang="pl-PL" dirty="0"/>
              <a:t>Zapisujemy ustawienia</a:t>
            </a:r>
          </a:p>
          <a:p>
            <a:r>
              <a:rPr lang="pl-PL" dirty="0"/>
              <a:t>Omawiamy wspólnie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6FC86C-983C-FBA7-23FD-9C7DCC82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Trójkąt ekspozycji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1597D5B-B10A-6F08-5CCA-FC8429F73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ISO — czułość matrycy</a:t>
            </a:r>
          </a:p>
          <a:p>
            <a:r>
              <a:rPr lang="pl-PL" dirty="0"/>
              <a:t>Przysłona — światło i głębia</a:t>
            </a:r>
          </a:p>
          <a:p>
            <a:r>
              <a:rPr lang="pl-PL" dirty="0"/>
              <a:t>Czas migawki — ruch i światło</a:t>
            </a:r>
          </a:p>
          <a:p>
            <a:r>
              <a:rPr lang="pl-PL" dirty="0"/>
              <a:t>Jeden parametr naraz</a:t>
            </a:r>
          </a:p>
          <a:p>
            <a:r>
              <a:rPr lang="pl-PL" dirty="0"/>
              <a:t>Balans bieli (White Balance)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F65F55E-6E16-0493-7411-365C43E0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EFAED5D-03A1-4E64-0C1F-CD86B9B3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5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63093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>
            <a:off x="81381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6309360" y="4754880"/>
            <a:ext cx="3657600" cy="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sp>
        <p:nvSpPr>
          <p:cNvPr id="104" name="Element 104"/>
          <p:cNvSpPr/>
          <p:nvPr/>
        </p:nvSpPr>
        <p:spPr>
          <a:xfrm>
            <a:off x="7635240" y="91440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ISO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58064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f/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1/s</a:t>
            </a:r>
          </a:p>
        </p:txBody>
      </p:sp>
      <p:sp>
        <p:nvSpPr>
          <p:cNvPr id="107" name="Element 107"/>
          <p:cNvSpPr/>
          <p:nvPr/>
        </p:nvSpPr>
        <p:spPr>
          <a:xfrm>
            <a:off x="7223760" y="3749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8A8A8A"/>
                </a:solidFill>
                <a:latin typeface="+mn-lt"/>
              </a:rPr>
              <a:t>EKSPOZYCJA</a:t>
            </a:r>
          </a:p>
        </p:txBody>
      </p:sp>
      <p:sp>
        <p:nvSpPr>
          <p:cNvPr id="108" name="Element 108"/>
          <p:cNvSpPr/>
          <p:nvPr/>
        </p:nvSpPr>
        <p:spPr>
          <a:xfrm>
            <a:off x="8823960" y="1234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czułość</a:t>
            </a:r>
          </a:p>
        </p:txBody>
      </p:sp>
      <p:sp>
        <p:nvSpPr>
          <p:cNvPr id="109" name="Element 109"/>
          <p:cNvSpPr/>
          <p:nvPr/>
        </p:nvSpPr>
        <p:spPr>
          <a:xfrm>
            <a:off x="53949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przysłona</a:t>
            </a:r>
          </a:p>
        </p:txBody>
      </p:sp>
      <p:sp>
        <p:nvSpPr>
          <p:cNvPr id="110" name="Element 110"/>
          <p:cNvSpPr/>
          <p:nvPr/>
        </p:nvSpPr>
        <p:spPr>
          <a:xfrm>
            <a:off x="90525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migawka</a:t>
            </a:r>
          </a:p>
        </p:txBody>
      </p:sp>
    </p:spTree>
    <p:extLst>
      <p:ext uri="{BB962C8B-B14F-4D97-AF65-F5344CB8AC3E}">
        <p14:creationId xmlns:p14="http://schemas.microsoft.com/office/powerpoint/2010/main" val="246171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1935-0DF5-5C59-8A56-B31F28CB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Kontrola ekspozycji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C491-2BDF-CCB7-4011-11A789F2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Histogram — rozkład jasności</a:t>
            </a:r>
          </a:p>
          <a:p>
            <a:r>
              <a:rPr lang="pl-PL" dirty="0"/>
              <a:t>Cienie i światła</a:t>
            </a:r>
          </a:p>
          <a:p>
            <a:r>
              <a:rPr lang="pl-PL" dirty="0"/>
              <a:t>False Color</a:t>
            </a:r>
          </a:p>
          <a:p>
            <a:r>
              <a:rPr lang="pl-PL" dirty="0"/>
              <a:t>Patrz na dane, nie tylko na ekran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ECFF8-0CA2-BE58-574A-3A513EA6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100D-B019-F0F8-842B-D94762AB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6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108192" y="4983480"/>
            <a:ext cx="265176" cy="137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19088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729984" y="4480560"/>
            <a:ext cx="265176" cy="6400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040880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51776" y="3474720"/>
            <a:ext cx="265176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662672" y="3017520"/>
            <a:ext cx="265176" cy="21031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973568" y="2651760"/>
            <a:ext cx="265176" cy="2468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284464" y="2743200"/>
            <a:ext cx="265176" cy="2377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8595360" y="3108960"/>
            <a:ext cx="265176" cy="20116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8906256" y="3566160"/>
            <a:ext cx="265176" cy="15544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217152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9528048" y="4389120"/>
            <a:ext cx="265176" cy="7315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9838944" y="4663440"/>
            <a:ext cx="265176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10149840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10460736" y="4892040"/>
            <a:ext cx="265176" cy="228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10771632" y="5010912"/>
            <a:ext cx="265176" cy="109728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7" name="Linia 117"/>
          <p:cNvCxnSpPr/>
          <p:nvPr/>
        </p:nvCxnSpPr>
        <p:spPr>
          <a:xfrm>
            <a:off x="6016752" y="5120640"/>
            <a:ext cx="5111496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sp>
        <p:nvSpPr>
          <p:cNvPr id="118" name="Element 118"/>
          <p:cNvSpPr/>
          <p:nvPr/>
        </p:nvSpPr>
        <p:spPr>
          <a:xfrm>
            <a:off x="6108192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cienie</a:t>
            </a:r>
          </a:p>
        </p:txBody>
      </p:sp>
      <p:sp>
        <p:nvSpPr>
          <p:cNvPr id="119" name="Element 119"/>
          <p:cNvSpPr/>
          <p:nvPr/>
        </p:nvSpPr>
        <p:spPr>
          <a:xfrm>
            <a:off x="7863840" y="52578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półtony</a:t>
            </a:r>
          </a:p>
        </p:txBody>
      </p:sp>
      <p:sp>
        <p:nvSpPr>
          <p:cNvPr id="120" name="Element 120"/>
          <p:cNvSpPr/>
          <p:nvPr/>
        </p:nvSpPr>
        <p:spPr>
          <a:xfrm>
            <a:off x="9710928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światła</a:t>
            </a:r>
          </a:p>
        </p:txBody>
      </p:sp>
      <p:sp>
        <p:nvSpPr>
          <p:cNvPr id="121" name="Element 121"/>
          <p:cNvSpPr/>
          <p:nvPr/>
        </p:nvSpPr>
        <p:spPr>
          <a:xfrm>
            <a:off x="6108192" y="1463040"/>
            <a:ext cx="49743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3930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70CDA1-D44E-0080-E809-50E0C3C1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Rodzaje światła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7B9EE7-3AD2-F740-CB47-739E875E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Naturalne / sztuczne</a:t>
            </a:r>
          </a:p>
          <a:p>
            <a:r>
              <a:rPr lang="pl-PL" dirty="0"/>
              <a:t>Ciągłe / błyskowe</a:t>
            </a:r>
          </a:p>
          <a:p>
            <a:r>
              <a:rPr lang="pl-PL" dirty="0"/>
              <a:t>Miękkie / twarde</a:t>
            </a:r>
          </a:p>
          <a:p>
            <a:r>
              <a:rPr lang="pl-PL" dirty="0"/>
              <a:t>Ciepłe / zimne</a:t>
            </a:r>
          </a:p>
          <a:p>
            <a:r>
              <a:rPr lang="pl-PL" dirty="0"/>
              <a:t>CRI wpływa na kolor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62F908B-71C4-0F83-AFE4-01AED17B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3558B40-751E-999E-2493-56F9BBC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7</a:t>
            </a:fld>
            <a:endParaRPr lang="pl-PL" noProof="0"/>
          </a:p>
        </p:txBody>
      </p:sp>
      <p:sp>
        <p:nvSpPr>
          <p:cNvPr id="101" name="Gradient 101"/>
          <p:cNvSpPr/>
          <p:nvPr/>
        </p:nvSpPr>
        <p:spPr>
          <a:xfrm>
            <a:off x="6126480" y="3017520"/>
            <a:ext cx="5120640" cy="640080"/>
          </a:xfrm>
          <a:prstGeom prst="rect">
            <a:avLst/>
          </a:prstGeom>
          <a:gradFill>
            <a:gsLst>
              <a:gs pos="0">
                <a:srgbClr val="FFB36B"/>
              </a:gs>
              <a:gs pos="100000">
                <a:srgbClr val="CFE0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12648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0" dirty="0">
                <a:solidFill>
                  <a:srgbClr val="404040"/>
                </a:solidFill>
                <a:latin typeface="+mn-lt"/>
              </a:rPr>
              <a:t>ciepłe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96112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800" b="0" dirty="0">
                <a:solidFill>
                  <a:srgbClr val="404040"/>
                </a:solidFill>
                <a:latin typeface="+mn-lt"/>
              </a:rPr>
              <a:t>zimne</a:t>
            </a:r>
          </a:p>
        </p:txBody>
      </p:sp>
      <p:sp>
        <p:nvSpPr>
          <p:cNvPr id="104" name="Element 104"/>
          <p:cNvSpPr/>
          <p:nvPr/>
        </p:nvSpPr>
        <p:spPr>
          <a:xfrm>
            <a:off x="612648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ok. 2700 K</a:t>
            </a:r>
          </a:p>
        </p:txBody>
      </p:sp>
      <p:sp>
        <p:nvSpPr>
          <p:cNvPr id="105" name="Element 105"/>
          <p:cNvSpPr/>
          <p:nvPr/>
        </p:nvSpPr>
        <p:spPr>
          <a:xfrm>
            <a:off x="896112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ok. 6500 K</a:t>
            </a:r>
          </a:p>
        </p:txBody>
      </p:sp>
      <p:sp>
        <p:nvSpPr>
          <p:cNvPr id="106" name="Element 106"/>
          <p:cNvSpPr/>
          <p:nvPr/>
        </p:nvSpPr>
        <p:spPr>
          <a:xfrm>
            <a:off x="6126480" y="4663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temperatura barwowa światła</a:t>
            </a:r>
          </a:p>
        </p:txBody>
      </p:sp>
    </p:spTree>
    <p:extLst>
      <p:ext uri="{BB962C8B-B14F-4D97-AF65-F5344CB8AC3E}">
        <p14:creationId xmlns:p14="http://schemas.microsoft.com/office/powerpoint/2010/main" val="331699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3143-473E-9B5B-268D-828C710D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Kierunek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1A9DA-6949-F5CE-E78D-B3E23098F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Front light</a:t>
            </a:r>
          </a:p>
          <a:p>
            <a:r>
              <a:rPr lang="pl-PL" dirty="0"/>
              <a:t>Side light</a:t>
            </a:r>
          </a:p>
          <a:p>
            <a:r>
              <a:rPr lang="pl-PL" dirty="0"/>
              <a:t>Back light</a:t>
            </a:r>
          </a:p>
          <a:p>
            <a:r>
              <a:rPr lang="pl-PL" dirty="0"/>
              <a:t>Top light</a:t>
            </a:r>
          </a:p>
          <a:p>
            <a:r>
              <a:rPr lang="pl-PL" dirty="0"/>
              <a:t>Counter light</a:t>
            </a:r>
          </a:p>
          <a:p>
            <a:r>
              <a:rPr lang="pl-PL" dirty="0"/>
              <a:t>Kierunek zmienia kształt twarzy i produktu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3F3A9-662C-766C-786D-4A14AF2D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2EB6F-C972-AAE5-A329-D1C00FB1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863840" y="54864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Side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863840" y="11430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Back</a:t>
            </a:r>
          </a:p>
        </p:txBody>
      </p:sp>
      <p:cxnSp>
        <p:nvCxnSpPr>
          <p:cNvPr id="113" name="Linia 113"/>
          <p:cNvCxnSpPr/>
          <p:nvPr/>
        </p:nvCxnSpPr>
        <p:spPr>
          <a:xfrm>
            <a:off x="747677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4" name="Element 114"/>
          <p:cNvSpPr/>
          <p:nvPr/>
        </p:nvSpPr>
        <p:spPr>
          <a:xfrm>
            <a:off x="7133364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5871492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Counter</a:t>
            </a:r>
          </a:p>
        </p:txBody>
      </p:sp>
      <p:cxnSp>
        <p:nvCxnSpPr>
          <p:cNvPr id="116" name="Linia 116"/>
          <p:cNvCxnSpPr/>
          <p:nvPr/>
        </p:nvCxnSpPr>
        <p:spPr>
          <a:xfrm flipV="1">
            <a:off x="891864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7" name="Element 117"/>
          <p:cNvSpPr/>
          <p:nvPr/>
        </p:nvSpPr>
        <p:spPr>
          <a:xfrm>
            <a:off x="9655020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10130508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Top (z góry)</a:t>
            </a:r>
          </a:p>
        </p:txBody>
      </p:sp>
      <p:sp>
        <p:nvSpPr>
          <p:cNvPr id="119" name="Element 119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77742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3989-54C2-F8C8-8681-BB49B42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Soft light i hard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08A3E-8778-5306-9407-265716FDA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Soft — softbox, parasolka</a:t>
            </a:r>
          </a:p>
          <a:p>
            <a:r>
              <a:rPr lang="pl-PL" dirty="0"/>
              <a:t>Hard — reflektor, gobo</a:t>
            </a:r>
          </a:p>
          <a:p>
            <a:r>
              <a:rPr lang="pl-PL" dirty="0"/>
              <a:t>Miękkie przejścia vs mocne cienie</a:t>
            </a:r>
          </a:p>
          <a:p>
            <a:r>
              <a:rPr lang="pl-PL" dirty="0"/>
              <a:t>Światło dobieramy do celu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976D2-A506-5919-AA10-4B60A654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4AB93-C763-BF4E-595A-F61FDAEB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46520" y="3714750"/>
            <a:ext cx="2103120" cy="525780"/>
          </a:xfrm>
          <a:prstGeom prst="ellipse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629400" y="3760470"/>
            <a:ext cx="1737360" cy="434340"/>
          </a:xfrm>
          <a:prstGeom prst="ellipse">
            <a:avLst/>
          </a:prstGeom>
          <a:solidFill>
            <a:srgbClr val="404040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812280" y="3806190"/>
            <a:ext cx="1371600" cy="342900"/>
          </a:xfrm>
          <a:prstGeom prst="ellipse">
            <a:avLst/>
          </a:prstGeom>
          <a:solidFill>
            <a:srgbClr val="404040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12648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SOFT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32688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646920" y="3803904"/>
            <a:ext cx="1371600" cy="34747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96112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HARD</a:t>
            </a:r>
          </a:p>
        </p:txBody>
      </p:sp>
    </p:spTree>
    <p:extLst>
      <p:ext uri="{BB962C8B-B14F-4D97-AF65-F5344CB8AC3E}">
        <p14:creationId xmlns:p14="http://schemas.microsoft.com/office/powerpoint/2010/main" val="24926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8F5C-3571-4B6D-27AA-DD6322DA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Modyfikatory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86607-DB87-6250-A859-D5F6E12A8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Zmiękczające</a:t>
            </a:r>
          </a:p>
          <a:p>
            <a:r>
              <a:rPr lang="pl-PL" dirty="0"/>
              <a:t>Softboxy, lanterny, octy</a:t>
            </a:r>
          </a:p>
          <a:p>
            <a:r>
              <a:rPr lang="pl-PL" b="1" dirty="0"/>
              <a:t>Kierunkowe</a:t>
            </a:r>
          </a:p>
          <a:p>
            <a:r>
              <a:rPr lang="pl-PL" dirty="0"/>
              <a:t>Fresnel, spotlight, strumienica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E9E48-3888-6E57-E112-751C5C25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0D6DC-0863-D15B-C760-DB49A23B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10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67453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8E3C-43D5-EE75-B533-7AB61B92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Blenda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C4CC-D103-A5A6-F908-511676C3D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Biała — delikatne odbicie</a:t>
            </a:r>
          </a:p>
          <a:p>
            <a:r>
              <a:rPr lang="pl-PL" dirty="0"/>
              <a:t>Srebrna — mocniejsze odbicie</a:t>
            </a:r>
          </a:p>
          <a:p>
            <a:r>
              <a:rPr lang="pl-PL" dirty="0"/>
              <a:t>Złota — cieplejszy efekt</a:t>
            </a:r>
          </a:p>
          <a:p>
            <a:r>
              <a:rPr lang="pl-PL" dirty="0"/>
              <a:t>Blenda działa jako fill light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8FF6F-ABE8-26F2-7F71-2943F442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D85E-EAA7-43D1-3ED7-A9489E3B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11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4688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008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biała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321040" y="2468880"/>
            <a:ext cx="1463040" cy="1463040"/>
          </a:xfrm>
          <a:prstGeom prst="ellipse">
            <a:avLst/>
          </a:prstGeom>
          <a:solidFill>
            <a:srgbClr val="C9CDD2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82296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srebrna</a:t>
            </a:r>
          </a:p>
        </p:txBody>
      </p:sp>
      <p:sp>
        <p:nvSpPr>
          <p:cNvPr id="105" name="Element 105"/>
          <p:cNvSpPr/>
          <p:nvPr/>
        </p:nvSpPr>
        <p:spPr>
          <a:xfrm>
            <a:off x="10149840" y="2468880"/>
            <a:ext cx="1463040" cy="1463040"/>
          </a:xfrm>
          <a:prstGeom prst="ellipse">
            <a:avLst/>
          </a:prstGeom>
          <a:solidFill>
            <a:srgbClr val="E8B84A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0584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złota</a:t>
            </a:r>
          </a:p>
        </p:txBody>
      </p:sp>
      <p:sp>
        <p:nvSpPr>
          <p:cNvPr id="107" name="Element 107"/>
          <p:cNvSpPr/>
          <p:nvPr/>
        </p:nvSpPr>
        <p:spPr>
          <a:xfrm>
            <a:off x="6400800" y="49377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coraz mocniejsze / cieplejsze odbicie</a:t>
            </a:r>
          </a:p>
        </p:txBody>
      </p:sp>
    </p:spTree>
    <p:extLst>
      <p:ext uri="{BB962C8B-B14F-4D97-AF65-F5344CB8AC3E}">
        <p14:creationId xmlns:p14="http://schemas.microsoft.com/office/powerpoint/2010/main" val="1508779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9116-1E94-BB68-20A0-43DB5D2E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Trzy źródła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916B-0BB7-AB61-31ED-25DB612E8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Key light — główne światło</a:t>
            </a:r>
          </a:p>
          <a:p>
            <a:r>
              <a:rPr lang="pl-PL" dirty="0"/>
              <a:t>Fill light — kontrola cieni</a:t>
            </a:r>
          </a:p>
          <a:p>
            <a:r>
              <a:rPr lang="pl-PL" dirty="0"/>
              <a:t>Rim / back light — separacja od tła</a:t>
            </a:r>
          </a:p>
          <a:p>
            <a:r>
              <a:rPr lang="pl-PL" dirty="0"/>
              <a:t>Balans mocy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946B5-FA5E-ABDF-838F-0C9F9F19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70D42-E6C4-7C56-4CDA-87A9E31E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 flipV="1">
            <a:off x="747677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7060212" y="4415508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5871492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91864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9691596" y="4525236"/>
            <a:ext cx="329184" cy="32918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130508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Fill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863840" y="11430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Rim / back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63167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B74B-BCF9-74DD-59F5-DE82981A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Najczęstsze błędy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3872-89CF-01FA-8AF7-B426CD33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Prześwietlenie</a:t>
            </a:r>
          </a:p>
          <a:p>
            <a:r>
              <a:rPr lang="pl-PL" dirty="0"/>
              <a:t>Niedoświetlenie</a:t>
            </a:r>
          </a:p>
          <a:p>
            <a:r>
              <a:rPr lang="pl-PL" dirty="0"/>
              <a:t>Zły balans bieli</a:t>
            </a:r>
          </a:p>
          <a:p>
            <a:r>
              <a:rPr lang="pl-PL" dirty="0"/>
              <a:t>Niepotrzebne odbicia</a:t>
            </a:r>
          </a:p>
          <a:p>
            <a:r>
              <a:rPr lang="pl-PL" dirty="0"/>
              <a:t>Bałagan w tle</a:t>
            </a:r>
          </a:p>
          <a:p>
            <a:r>
              <a:rPr lang="pl-PL" dirty="0"/>
              <a:t>Migotanie światła w wideo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C72CD-79CB-93DA-2519-5E89D912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8C5C5-4DE5-1431-46B2-9942F962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13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2221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8B15-B057-BAB7-1BF0-F88D5D66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Praca z modelem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7FA0-7E4C-86E8-D400-36CACE0D5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Kierunek ciała</a:t>
            </a:r>
          </a:p>
          <a:p>
            <a:r>
              <a:rPr lang="pl-PL" dirty="0"/>
              <a:t>Ułożenie głowy</a:t>
            </a:r>
          </a:p>
          <a:p>
            <a:r>
              <a:rPr lang="pl-PL" dirty="0"/>
              <a:t>Wzrok</a:t>
            </a:r>
          </a:p>
          <a:p>
            <a:r>
              <a:rPr lang="pl-PL" dirty="0"/>
              <a:t>Dłonie</a:t>
            </a:r>
          </a:p>
          <a:p>
            <a:r>
              <a:rPr lang="pl-PL" dirty="0"/>
              <a:t>Jasne komunikaty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5B169-FCDA-574B-450D-54635396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C4D1C-7493-C852-3A6C-0E96CFD5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14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678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EFAF-E81A-21EF-DB2E-8CA6CB7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Kontrast i negative fill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933E-34F2-FA99-98AF-A95F6B6C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Kontrolowane zabieranie światła</a:t>
            </a:r>
          </a:p>
          <a:p>
            <a:r>
              <a:rPr lang="pl-PL" dirty="0"/>
              <a:t>Flagi, negatywy, flopy</a:t>
            </a:r>
          </a:p>
          <a:p>
            <a:r>
              <a:rPr lang="pl-PL" dirty="0"/>
              <a:t>Dostosowanie kontrastu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8F6A0-E188-77C0-388E-DB8F74C8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58810-057A-1CC9-B688-B90B3DF8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15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8046720" y="2880360"/>
            <a:ext cx="1097280" cy="10972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046720" y="3246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sp>
        <p:nvSpPr>
          <p:cNvPr id="103" name="Element 103"/>
          <p:cNvSpPr/>
          <p:nvPr/>
        </p:nvSpPr>
        <p:spPr>
          <a:xfrm>
            <a:off x="5943600" y="31546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5577840" y="3840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światło</a:t>
            </a:r>
          </a:p>
        </p:txBody>
      </p:sp>
      <p:cxnSp>
        <p:nvCxnSpPr>
          <p:cNvPr id="105" name="Linia 105"/>
          <p:cNvCxnSpPr/>
          <p:nvPr/>
        </p:nvCxnSpPr>
        <p:spPr>
          <a:xfrm>
            <a:off x="6492240" y="3429000"/>
            <a:ext cx="146304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6" name="Element 106"/>
          <p:cNvSpPr/>
          <p:nvPr/>
        </p:nvSpPr>
        <p:spPr>
          <a:xfrm>
            <a:off x="10332720" y="2423160"/>
            <a:ext cx="201168" cy="2011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784080" y="4572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flaga</a:t>
            </a:r>
          </a:p>
        </p:txBody>
      </p:sp>
      <p:cxnSp>
        <p:nvCxnSpPr>
          <p:cNvPr id="108" name="Linia 108"/>
          <p:cNvCxnSpPr/>
          <p:nvPr/>
        </p:nvCxnSpPr>
        <p:spPr>
          <a:xfrm>
            <a:off x="9235440" y="3429000"/>
            <a:ext cx="1051560" cy="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</p:cxnSp>
      <p:sp>
        <p:nvSpPr>
          <p:cNvPr id="109" name="Element 109"/>
          <p:cNvSpPr/>
          <p:nvPr/>
        </p:nvSpPr>
        <p:spPr>
          <a:xfrm>
            <a:off x="6309360" y="1463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flaga zabiera światło po drugiej stronie</a:t>
            </a:r>
          </a:p>
        </p:txBody>
      </p:sp>
    </p:spTree>
    <p:extLst>
      <p:ext uri="{BB962C8B-B14F-4D97-AF65-F5344CB8AC3E}">
        <p14:creationId xmlns:p14="http://schemas.microsoft.com/office/powerpoint/2010/main" val="2713917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8E41-4415-8D7A-9E3F-66AF8B00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Jedna osoba i dwie osoby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ED88-EB13-0728-02A4-809548A8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Odległość od źródła</a:t>
            </a:r>
          </a:p>
          <a:p>
            <a:r>
              <a:rPr lang="pl-PL" dirty="0"/>
              <a:t>Wielkość źródła</a:t>
            </a:r>
          </a:p>
          <a:p>
            <a:r>
              <a:rPr lang="pl-PL" dirty="0"/>
              <a:t>Pozycja względem osi</a:t>
            </a:r>
          </a:p>
          <a:p>
            <a:r>
              <a:rPr lang="pl-PL" dirty="0"/>
              <a:t>Kontrola cieni na obu twarzach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D0FD-0506-842F-5A90-FCDE95EF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FE14-3D87-7884-4FE8-0449C13B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16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37744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>
            <a:off x="7132320" y="2651760"/>
            <a:ext cx="146304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03" name="Element 103"/>
          <p:cNvSpPr/>
          <p:nvPr/>
        </p:nvSpPr>
        <p:spPr>
          <a:xfrm>
            <a:off x="8869680" y="21945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400800" y="30632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źródło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9144000" y="32004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 osoba</a:t>
            </a:r>
          </a:p>
        </p:txBody>
      </p:sp>
      <p:sp>
        <p:nvSpPr>
          <p:cNvPr id="106" name="Element 106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7" name="Linia 107"/>
          <p:cNvCxnSpPr/>
          <p:nvPr/>
        </p:nvCxnSpPr>
        <p:spPr>
          <a:xfrm>
            <a:off x="7132320" y="4297680"/>
            <a:ext cx="146304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08" name="Element 108"/>
          <p:cNvSpPr/>
          <p:nvPr/>
        </p:nvSpPr>
        <p:spPr>
          <a:xfrm>
            <a:off x="8869680" y="384048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9966960" y="384048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400800" y="470916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źródło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144000" y="4846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2 osoby</a:t>
            </a:r>
          </a:p>
        </p:txBody>
      </p:sp>
    </p:spTree>
    <p:extLst>
      <p:ext uri="{BB962C8B-B14F-4D97-AF65-F5344CB8AC3E}">
        <p14:creationId xmlns:p14="http://schemas.microsoft.com/office/powerpoint/2010/main" val="379842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1403-8815-D66C-6BC3-03F299D1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Produkt: odbicia i cienie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CE74-D747-F57B-BF15-907D5004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Szkło odbija otoczenie</a:t>
            </a:r>
          </a:p>
          <a:p>
            <a:r>
              <a:rPr lang="pl-PL" dirty="0"/>
              <a:t>Metal pokazuje kształt źródła</a:t>
            </a:r>
          </a:p>
          <a:p>
            <a:r>
              <a:rPr lang="pl-PL" dirty="0"/>
              <a:t>Plastik wymaga kontroli refleksów</a:t>
            </a:r>
          </a:p>
          <a:p>
            <a:r>
              <a:rPr lang="pl-PL" dirty="0"/>
              <a:t>Cień może budować formę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4767C-8350-DA20-E83C-0E6E2E42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6E7F4-764B-1F42-2CF6-35D220DA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17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6604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6612-AC0A-531B-C378-A4D0345C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Kąt światła przy produkcie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E69F6-AB71-3006-2D73-D4BB06A52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Światło boczne = tekstura</a:t>
            </a:r>
          </a:p>
          <a:p>
            <a:r>
              <a:rPr lang="pl-PL" dirty="0"/>
              <a:t>Światło frontalne = mniej cieni</a:t>
            </a:r>
          </a:p>
          <a:p>
            <a:r>
              <a:rPr lang="pl-PL" dirty="0"/>
              <a:t>Światło z tyłu = kontur i głębia</a:t>
            </a:r>
          </a:p>
          <a:p>
            <a:r>
              <a:rPr lang="pl-PL" dirty="0"/>
              <a:t>Kąt dobieramy do materiału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EE00C-D62C-6037-98F8-03C5E661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88DB3-E8BB-7DC6-92D5-21033A1F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produkt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Boczne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863840" y="54864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Frontalne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863840" y="11430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Z tyłu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486412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645-5EBF-48C5-3B87-093699F4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Hero shot i storytelling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5792-36EA-9C4E-1693-89E2793E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Jeden główny produkt</a:t>
            </a:r>
          </a:p>
          <a:p>
            <a:r>
              <a:rPr lang="pl-PL" dirty="0"/>
              <a:t>Hierarchia w kadrze</a:t>
            </a:r>
          </a:p>
          <a:p>
            <a:r>
              <a:rPr lang="pl-PL" dirty="0"/>
              <a:t>Rekwizyty z funkcją</a:t>
            </a:r>
          </a:p>
          <a:p>
            <a:r>
              <a:rPr lang="pl-PL" dirty="0"/>
              <a:t>Obraz ma coś komunikować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9845-D26F-245A-51E3-74CCC9F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FD3A-FFCB-E024-CFCB-AB48211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19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03674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05D2-CF30-1E37-7F79-81754E63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Odstawianie produktu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00DB-4EA1-3CD7-3F60-38FBE45E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Zaczynamy od pełnej sceny</a:t>
            </a:r>
          </a:p>
          <a:p>
            <a:r>
              <a:rPr lang="pl-PL" dirty="0"/>
              <a:t>Usuwamy jeden element</a:t>
            </a:r>
          </a:p>
          <a:p>
            <a:r>
              <a:rPr lang="pl-PL" dirty="0"/>
              <a:t>Porównujemy efekt</a:t>
            </a:r>
          </a:p>
          <a:p>
            <a:r>
              <a:rPr lang="pl-PL" dirty="0"/>
              <a:t>Zostawiamy tylko to, co potrzebne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C6ACB-D737-9CB5-B6AD-3FFF8D16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D0100-109E-5BC8-94CC-44DA20ED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20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651760"/>
            <a:ext cx="1188720" cy="11887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55664" y="27980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912864" y="27980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455664" y="32552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912864" y="32552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309360" y="39776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7525512" y="3246120"/>
            <a:ext cx="173736" cy="0"/>
          </a:xfrm>
          <a:prstGeom prst="line">
            <a:avLst/>
          </a:prstGeom>
          <a:ln w="15875">
            <a:solidFill>
              <a:srgbClr val="8A8A8A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7726680" y="2651760"/>
            <a:ext cx="1188720" cy="11887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872984" y="27980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8330184" y="27980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7872984" y="32552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726680" y="39776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2</a:t>
            </a:r>
          </a:p>
        </p:txBody>
      </p:sp>
      <p:cxnSp>
        <p:nvCxnSpPr>
          <p:cNvPr id="113" name="Linia 113"/>
          <p:cNvCxnSpPr/>
          <p:nvPr/>
        </p:nvCxnSpPr>
        <p:spPr>
          <a:xfrm>
            <a:off x="8942832" y="3246120"/>
            <a:ext cx="173736" cy="0"/>
          </a:xfrm>
          <a:prstGeom prst="line">
            <a:avLst/>
          </a:prstGeom>
          <a:ln w="15875">
            <a:solidFill>
              <a:srgbClr val="8A8A8A"/>
            </a:solidFill>
          </a:ln>
        </p:spPr>
      </p:cxnSp>
      <p:sp>
        <p:nvSpPr>
          <p:cNvPr id="114" name="Element 114"/>
          <p:cNvSpPr/>
          <p:nvPr/>
        </p:nvSpPr>
        <p:spPr>
          <a:xfrm>
            <a:off x="9144000" y="2651760"/>
            <a:ext cx="1188720" cy="11887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9290304" y="27980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9747504" y="27980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7" name="Element 117"/>
          <p:cNvSpPr/>
          <p:nvPr/>
        </p:nvSpPr>
        <p:spPr>
          <a:xfrm>
            <a:off x="9144000" y="39776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3</a:t>
            </a:r>
          </a:p>
        </p:txBody>
      </p:sp>
      <p:cxnSp>
        <p:nvCxnSpPr>
          <p:cNvPr id="118" name="Linia 118"/>
          <p:cNvCxnSpPr/>
          <p:nvPr/>
        </p:nvCxnSpPr>
        <p:spPr>
          <a:xfrm>
            <a:off x="10360152" y="3246120"/>
            <a:ext cx="173736" cy="0"/>
          </a:xfrm>
          <a:prstGeom prst="line">
            <a:avLst/>
          </a:prstGeom>
          <a:ln w="15875">
            <a:solidFill>
              <a:srgbClr val="8A8A8A"/>
            </a:solidFill>
          </a:ln>
        </p:spPr>
      </p:cxnSp>
      <p:sp>
        <p:nvSpPr>
          <p:cNvPr id="119" name="Element 119"/>
          <p:cNvSpPr/>
          <p:nvPr/>
        </p:nvSpPr>
        <p:spPr>
          <a:xfrm>
            <a:off x="10561320" y="2651760"/>
            <a:ext cx="1188720" cy="11887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20" name="Element 120"/>
          <p:cNvSpPr/>
          <p:nvPr/>
        </p:nvSpPr>
        <p:spPr>
          <a:xfrm>
            <a:off x="10707624" y="2798064"/>
            <a:ext cx="256032" cy="25603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1" name="Element 121"/>
          <p:cNvSpPr/>
          <p:nvPr/>
        </p:nvSpPr>
        <p:spPr>
          <a:xfrm>
            <a:off x="10561320" y="39776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4</a:t>
            </a:r>
          </a:p>
        </p:txBody>
      </p:sp>
      <p:sp>
        <p:nvSpPr>
          <p:cNvPr id="122" name="Element 122"/>
          <p:cNvSpPr/>
          <p:nvPr/>
        </p:nvSpPr>
        <p:spPr>
          <a:xfrm>
            <a:off x="6309360" y="457200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z każdym krokiem mniej elementów</a:t>
            </a:r>
          </a:p>
        </p:txBody>
      </p:sp>
    </p:spTree>
    <p:extLst>
      <p:ext uri="{BB962C8B-B14F-4D97-AF65-F5344CB8AC3E}">
        <p14:creationId xmlns:p14="http://schemas.microsoft.com/office/powerpoint/2010/main" val="2831860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BHP na planie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Kable zabezpieczone</a:t>
            </a:r>
          </a:p>
          <a:p>
            <a:r>
              <a:rPr lang="pl-PL" dirty="0"/>
              <a:t>Statywy obciążone</a:t>
            </a:r>
          </a:p>
          <a:p>
            <a:r>
              <a:rPr lang="pl-PL" dirty="0"/>
              <a:t>Lampy stabilnie</a:t>
            </a:r>
          </a:p>
          <a:p>
            <a:r>
              <a:rPr lang="pl-PL" dirty="0"/>
              <a:t>Gorącego sprzętu nie dotykamy</a:t>
            </a:r>
          </a:p>
          <a:p>
            <a:r>
              <a:rPr lang="pl-PL" dirty="0"/>
              <a:t>Zmiany mówimy grupie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B74B-BCF9-74DD-59F5-DE82981A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Namiot bezcieniowy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3872-89CF-01FA-8AF7-B426CD33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Ogranicza niechciane odbicia</a:t>
            </a:r>
          </a:p>
          <a:p>
            <a:r>
              <a:rPr lang="pl-PL" dirty="0"/>
              <a:t>Ułatwia fotografię flakonów i słoiczków</a:t>
            </a:r>
          </a:p>
          <a:p>
            <a:r>
              <a:rPr lang="pl-PL" dirty="0"/>
              <a:t>Daje powtarzalny efekt</a:t>
            </a:r>
          </a:p>
          <a:p>
            <a:r>
              <a:rPr lang="pl-PL" dirty="0"/>
              <a:t>Mniej retuszu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C72CD-79CB-93DA-2519-5E89D912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8C5C5-4DE5-1431-46B2-9942F962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13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22217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645-5EBF-48C5-3B87-093699F4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Spójność wizualna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5792-36EA-9C4E-1693-89E2793E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Powtarzalne światło</a:t>
            </a:r>
          </a:p>
          <a:p>
            <a:r>
              <a:rPr lang="pl-PL" dirty="0"/>
              <a:t>Stała kolorystyka</a:t>
            </a:r>
          </a:p>
          <a:p>
            <a:r>
              <a:rPr lang="pl-PL" dirty="0"/>
              <a:t>Podobna kompozycja</a:t>
            </a:r>
          </a:p>
          <a:p>
            <a:r>
              <a:rPr lang="pl-PL" dirty="0"/>
              <a:t>Rozpoznawalny styl marki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9845-D26F-245A-51E3-74CCC9F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FD3A-FFCB-E024-CFCB-AB48211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19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03674974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14FED0-9A95-4A83-8CAA-A3BB5938F8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75DC67E-4FAC-4989-A1C6-9CCFAE7240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4BA2C8-4C3C-4809-AD4F-FED9B4D74B8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792</Words>
  <Application>Microsoft Office PowerPoint</Application>
  <PresentationFormat>Widescreen</PresentationFormat>
  <Paragraphs>262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Monoline</vt:lpstr>
      <vt:lpstr>Światło jako narzędzie pracy</vt:lpstr>
      <vt:lpstr>Warsztaty fotografii i wideo beauty &amp; product</vt:lpstr>
      <vt:lpstr>Plan dnia </vt:lpstr>
      <vt:lpstr>Zasady pracy&amp; BHP na planie  </vt:lpstr>
      <vt:lpstr>Parametry kamery Trójkąt ekspozycji</vt:lpstr>
      <vt:lpstr>Kontrola ekspozycji</vt:lpstr>
      <vt:lpstr>Rodzaje światła</vt:lpstr>
      <vt:lpstr>Kierunek światła </vt:lpstr>
      <vt:lpstr> Soft light i hard light</vt:lpstr>
      <vt:lpstr>Modyfikatory</vt:lpstr>
      <vt:lpstr>Blenda</vt:lpstr>
      <vt:lpstr> Trzy źródła światła</vt:lpstr>
      <vt:lpstr>Najczęstsze błędy</vt:lpstr>
      <vt:lpstr>Praca z modelem</vt:lpstr>
      <vt:lpstr>Kontrast &amp; Negativ fill</vt:lpstr>
      <vt:lpstr>Jedna osoba i dwie osoby </vt:lpstr>
      <vt:lpstr> Produkt: odbicia i cienie </vt:lpstr>
      <vt:lpstr>Kąt światła przy produkcie </vt:lpstr>
      <vt:lpstr>Hero shot i storytelling&amp; Spójność wizualna </vt:lpstr>
      <vt:lpstr>Stopniowe odstawianie produktu &amp; Światło Wędrujące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161</cp:revision>
  <dcterms:created xsi:type="dcterms:W3CDTF">2026-10-22T11:13:38Z</dcterms:created>
  <dcterms:modified xsi:type="dcterms:W3CDTF">2026-10-22T17:13:18Z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