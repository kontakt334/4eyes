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Layouts/slideLayout2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30"/>
  </p:notesMasterIdLst>
  <p:handoutMasterIdLst>
    <p:handoutMasterId r:id="rId31"/>
  </p:handoutMasterIdLst>
  <p:sldIdLst>
    <p:sldId id="256" r:id="rId5"/>
    <p:sldId id="260" r:id="rId6"/>
    <p:sldId id="257" r:id="rId7"/>
    <p:sldId id="258" r:id="rId8"/>
    <p:sldId id="281" r:id="rId39"/>
    <p:sldId id="259" r:id="rId9"/>
    <p:sldId id="263" r:id="rId10"/>
    <p:sldId id="261" r:id="rId11"/>
    <p:sldId id="262" r:id="rId12"/>
    <p:sldId id="266" r:id="rId13"/>
    <p:sldId id="269" r:id="rId14"/>
    <p:sldId id="267" r:id="rId15"/>
    <p:sldId id="268" r:id="rId16"/>
    <p:sldId id="264" r:id="rId17"/>
    <p:sldId id="265" r:id="rId18"/>
    <p:sldId id="270" r:id="rId19"/>
    <p:sldId id="271" r:id="rId20"/>
    <p:sldId id="272" r:id="rId21"/>
    <p:sldId id="273" r:id="rId22"/>
    <p:sldId id="274" r:id="rId23"/>
    <p:sldId id="282" r:id="rId40"/>
    <p:sldId id="275" r:id="rId24"/>
    <p:sldId id="276" r:id="rId25"/>
    <p:sldId id="277" r:id="rId26"/>
    <p:sldId id="278" r:id="rId27"/>
    <p:sldId id="279" r:id="rId28"/>
    <p:sldId id="280" r:id="rId29"/>
  </p:sldIdLst>
  <p:sldSz cx="12192000" cy="6858000"/>
  <p:notesSz cx="6858000" cy="9144000"/>
  <p:defaultTextStyle>
    <a:defPPr rtl="0"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D19B9-4442-5429-E7D7-FD2BF4409133}" v="460" dt="2026-10-22T18:08:24.041"/>
    <p1510:client id="{DCB845AF-5868-46CA-BEDD-E8F86E416105}" v="123" dt="2026-10-22T15:25:22.7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65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62" y="108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75" d="100"/>
          <a:sy n="75" d="100"/>
        </p:scale>
        <p:origin x="4068" y="378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  <Relationship Id="rId39" Type="http://schemas.openxmlformats.org/officeDocument/2006/relationships/slide" Target="slides/slide26.xml"/>
  <Relationship Id="rId40" Type="http://schemas.openxmlformats.org/officeDocument/2006/relationships/slide" Target="slides/slide27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1065105-97AC-4B1D-8CB5-0348C31C7C16}" type="datetime1">
              <a:rPr lang="pl-PL" smtClean="0"/>
              <a:t>22.10.2026</a:t>
            </a:fld>
            <a:endParaRPr lang="pl-PL" dirty="0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1557A7-F3A5-476D-B013-FE3925A3ECF5}" type="datetime1">
              <a:rPr lang="pl-PL" smtClean="0"/>
              <a:pPr/>
              <a:t>22.10.2026</a:t>
            </a:fld>
            <a:endParaRPr lang="pl-PL" dirty="0"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l-PL" noProof="0"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D4B9A9E5-4F7F-4A7D-9DE1-899232329269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66128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l-PL" noProof="0"/>
              <a:t>Kliknij, aby edytować styl wzorca podtytułu</a:t>
            </a:r>
          </a:p>
        </p:txBody>
      </p:sp>
      <p:pic>
        <p:nvPicPr>
          <p:cNvPr id="8" name="Grafika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lan spotkan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a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4000000" cy="1325563"/>
          </a:xfrm>
        </p:spPr>
        <p:txBody>
          <a:bodyPr rtlCol="0" anchor="b">
            <a:normAutofit/>
          </a:bodyPr>
          <a:lstStyle>
            <a:lvl1pPr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4000000" cy="3700000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ś czas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fika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pl-PL" noProof="0">
              <a:latin typeface="Calibri" panose="020F050202020403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TYTUŁ</a:t>
            </a:r>
          </a:p>
        </p:txBody>
      </p:sp>
      <p:sp>
        <p:nvSpPr>
          <p:cNvPr id="16" name="Tekst — symbol zastępczy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17" name="Tekst — symbol zastępczy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18" name="Tekst — symbol zastępczy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19" name="Tekst — symbol zastępczy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34" name="Tekst — symbol zastępczy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 wzorca tekstu</a:t>
            </a:r>
          </a:p>
        </p:txBody>
      </p:sp>
      <p:sp>
        <p:nvSpPr>
          <p:cNvPr id="35" name="Tekst — symbol zastępczy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 wzorca tekstu</a:t>
            </a:r>
          </a:p>
        </p:txBody>
      </p:sp>
      <p:sp>
        <p:nvSpPr>
          <p:cNvPr id="36" name="Tekst — symbol zastępczy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 wzorca tekstu</a:t>
            </a:r>
          </a:p>
        </p:txBody>
      </p:sp>
      <p:sp>
        <p:nvSpPr>
          <p:cNvPr id="37" name="Tekst — symbol zastępczy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edytować styl wzorca tekstu</a:t>
            </a:r>
          </a:p>
        </p:txBody>
      </p:sp>
      <p:cxnSp>
        <p:nvCxnSpPr>
          <p:cNvPr id="3" name="Łącznik prosty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Łącznik prosty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Łącznik prosty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Łącznik prosty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a — symbol zastępczy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6" name="Stopka — symbol zastępczy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 rtlCol="0"/>
          <a:lstStyle>
            <a:lvl1pPr algn="l"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umna zawartości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ytuł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5" name="Tekst — symbol zastępczy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7" name="Tekst — symbol zastępczy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1" name="Tekst — symbol zastępczy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DODAĆ PODTYTUŁ</a:t>
            </a:r>
          </a:p>
        </p:txBody>
      </p:sp>
      <p:sp>
        <p:nvSpPr>
          <p:cNvPr id="32" name="Tekst — symbol zastępczy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3" name="Tekst — symbol zastępczy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DODAĆ PODTYTUŁ</a:t>
            </a:r>
          </a:p>
        </p:txBody>
      </p:sp>
      <p:sp>
        <p:nvSpPr>
          <p:cNvPr id="34" name="Tekst — symbol zastępczy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2" name="Tekst — symbol zastępczy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DODAĆ PODTYTUŁ</a:t>
            </a:r>
          </a:p>
        </p:txBody>
      </p:sp>
      <p:sp>
        <p:nvSpPr>
          <p:cNvPr id="13" name="Tekst — symbol zastępczy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pl-PL" noProof="0"/>
              <a:t>20XX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pl-PL" noProof="0"/>
              <a:t>Prezentacja</a:t>
            </a:r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cxnSp>
        <p:nvCxnSpPr>
          <p:cNvPr id="2" name="Łącznik prosty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Łącznik prosty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fika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fika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umna zawartości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ytuł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5" name="Tekst — symbol zastępczy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7" name="Tekst — symbol zastępczy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6" name="Tekst — symbol zastępczy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8" name="Tekst — symbol zastępczy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9" name="Tekst — symbol zastępczy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0" name="Tekst — symbol zastępczy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3" name="Tekst — symbol zastępczy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4" name="Tekst — symbol zastępczy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  <p:pic>
        <p:nvPicPr>
          <p:cNvPr id="2" name="Grafika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Wstę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Łącznik prosty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a — symbol zastępczy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10" name="Stopka — symbol zastępczy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11" name="Numer slajdu — symbol zastępczy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ział sekcji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pic>
        <p:nvPicPr>
          <p:cNvPr id="5" name="Grafika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a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ytuł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cxnSp>
        <p:nvCxnSpPr>
          <p:cNvPr id="9" name="Łącznik prosty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kst — symbol zastępczy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2" name="Tekst — symbol zastępczy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3" name="Tekst — symbol zastępczy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4" name="Tekst — symbol zastępczy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5" name="Tekst — symbol zastępczy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16" name="Tekst — symbol zastępczy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17" name="Data — symbol zastępczy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18" name="Stopka — symbol zastępczy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19" name="Numer slajdu — symbol zastępczy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zy elementy zawartości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WZORZEC TEKSTU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EDYTOWAĆ WZORZEC TEKSTU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21" name="Tekst — symbol zastępczy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WZORZEC TEKSTU</a:t>
            </a:r>
          </a:p>
        </p:txBody>
      </p:sp>
      <p:sp>
        <p:nvSpPr>
          <p:cNvPr id="22" name="Zawartość — symbol zastępczy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cxnSp>
        <p:nvCxnSpPr>
          <p:cNvPr id="16" name="Łącznik prosty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Łącznik prosty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ównanie rynkow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23" name="Tekst — symbol zastępczy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24" name="Tekst — symbol zastępczy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2" name="Zawartość — symbol zastępczy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</a:t>
            </a:r>
          </a:p>
        </p:txBody>
      </p:sp>
      <p:pic>
        <p:nvPicPr>
          <p:cNvPr id="11" name="Grafika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fika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fika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Zawartość — symbol zastępczy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6" name="Zawartość — symbol zastępczy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endParaRPr lang="pl-PL" noProof="0"/>
          </a:p>
        </p:txBody>
      </p:sp>
      <p:sp>
        <p:nvSpPr>
          <p:cNvPr id="27" name="Zawartość — symbol zastępczy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Dwa elementy zawartości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 WZORZEC TEKSTU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EDYTOWAĆ WZORZEC TEKSTU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pic>
        <p:nvPicPr>
          <p:cNvPr id="11" name="Grafika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Kw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ytuł 1">
            <a:extLst>
              <a:ext uri="{FF2B5EF4-FFF2-40B4-BE49-F238E27FC236}">
                <a16:creationId xmlns:a16="http://schemas.microsoft.com/office/drawing/2014/main" id="{B495A4C6-232E-4A1A-B575-7EF7F414F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 rtlCol="0">
            <a:normAutofit/>
          </a:bodyPr>
          <a:lstStyle>
            <a:lvl1pPr algn="l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5" name="Tekst — symbol zastępczy 14">
            <a:extLst>
              <a:ext uri="{FF2B5EF4-FFF2-40B4-BE49-F238E27FC236}">
                <a16:creationId xmlns:a16="http://schemas.microsoft.com/office/drawing/2014/main" id="{2B4C6F7E-40F0-42B1-AFE0-D3C95660E0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42517" y="1599947"/>
            <a:ext cx="1706965" cy="492025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18" name="Tekst — symbol zastępczy 14">
            <a:extLst>
              <a:ext uri="{FF2B5EF4-FFF2-40B4-BE49-F238E27FC236}">
                <a16:creationId xmlns:a16="http://schemas.microsoft.com/office/drawing/2014/main" id="{42EE46E3-709F-4AE9-AECE-FD647B6DCF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38732" y="2378452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26" name="Tekst — symbol zastępczy 14">
            <a:extLst>
              <a:ext uri="{FF2B5EF4-FFF2-40B4-BE49-F238E27FC236}">
                <a16:creationId xmlns:a16="http://schemas.microsoft.com/office/drawing/2014/main" id="{3194FB4F-01AC-4A0E-BBE2-CF2B69F6F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22269" y="2169263"/>
            <a:ext cx="1706965" cy="104857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23" name="Tekst — symbol zastępczy 14">
            <a:extLst>
              <a:ext uri="{FF2B5EF4-FFF2-40B4-BE49-F238E27FC236}">
                <a16:creationId xmlns:a16="http://schemas.microsoft.com/office/drawing/2014/main" id="{8E76F955-6B23-4972-8E86-603F19ECF6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1894" y="3528829"/>
            <a:ext cx="1393863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17" name="Tekst — symbol zastępczy 14">
            <a:extLst>
              <a:ext uri="{FF2B5EF4-FFF2-40B4-BE49-F238E27FC236}">
                <a16:creationId xmlns:a16="http://schemas.microsoft.com/office/drawing/2014/main" id="{DDA77547-4FF4-4B15-96F1-DC9B00175B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40449" y="3528829"/>
            <a:ext cx="1380681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20" name="Tekst — symbol zastępczy 14">
            <a:extLst>
              <a:ext uri="{FF2B5EF4-FFF2-40B4-BE49-F238E27FC236}">
                <a16:creationId xmlns:a16="http://schemas.microsoft.com/office/drawing/2014/main" id="{6E6B6915-DFCC-44EB-9C61-6B7725D1B7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37747" y="4634331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19" name="Tekst — symbol zastępczy 14">
            <a:extLst>
              <a:ext uri="{FF2B5EF4-FFF2-40B4-BE49-F238E27FC236}">
                <a16:creationId xmlns:a16="http://schemas.microsoft.com/office/drawing/2014/main" id="{6718CC56-7B04-41D0-A320-CCCDC20D761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75224" y="4459860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21" name="Tekst — symbol zastępczy 14">
            <a:extLst>
              <a:ext uri="{FF2B5EF4-FFF2-40B4-BE49-F238E27FC236}">
                <a16:creationId xmlns:a16="http://schemas.microsoft.com/office/drawing/2014/main" id="{778E1C09-B7DB-4CE7-A5B9-90BCF54448B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52714" y="4321788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sp>
        <p:nvSpPr>
          <p:cNvPr id="16" name="Tekst — symbol zastępczy 14">
            <a:extLst>
              <a:ext uri="{FF2B5EF4-FFF2-40B4-BE49-F238E27FC236}">
                <a16:creationId xmlns:a16="http://schemas.microsoft.com/office/drawing/2014/main" id="{7CFA026C-42CE-4C20-9DDE-417FDF6CB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42517" y="5468790"/>
            <a:ext cx="1706965" cy="492025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all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imię i nazwisko</a:t>
            </a:r>
          </a:p>
        </p:txBody>
      </p:sp>
      <p:sp>
        <p:nvSpPr>
          <p:cNvPr id="22" name="Tekst — symbol zastępczy 14">
            <a:extLst>
              <a:ext uri="{FF2B5EF4-FFF2-40B4-BE49-F238E27FC236}">
                <a16:creationId xmlns:a16="http://schemas.microsoft.com/office/drawing/2014/main" id="{0AFAA95F-1461-496C-BAB4-D5D0594554F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01857" y="5195673"/>
            <a:ext cx="1183179" cy="492025"/>
          </a:xfrm>
          <a:prstGeom prst="rect">
            <a:avLst/>
          </a:prstGeom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cap="none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Kliknij, aby dodać nazwę</a:t>
            </a:r>
          </a:p>
        </p:txBody>
      </p:sp>
      <p:cxnSp>
        <p:nvCxnSpPr>
          <p:cNvPr id="24" name="Łącznik prosty 23">
            <a:extLst>
              <a:ext uri="{FF2B5EF4-FFF2-40B4-BE49-F238E27FC236}">
                <a16:creationId xmlns:a16="http://schemas.microsoft.com/office/drawing/2014/main" id="{DD194B4E-75F4-47BE-B171-9C64697AB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7" idx="1"/>
          </p:cNvCxnSpPr>
          <p:nvPr userDrawn="1"/>
        </p:nvCxnSpPr>
        <p:spPr>
          <a:xfrm>
            <a:off x="2315757" y="3774842"/>
            <a:ext cx="7624692" cy="0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Łącznik prosty 24">
            <a:extLst>
              <a:ext uri="{FF2B5EF4-FFF2-40B4-BE49-F238E27FC236}">
                <a16:creationId xmlns:a16="http://schemas.microsoft.com/office/drawing/2014/main" id="{FEFDA35F-76DF-4FDC-90C9-F9FEDF322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091972"/>
            <a:ext cx="4678" cy="3376818"/>
          </a:xfrm>
          <a:prstGeom prst="line">
            <a:avLst/>
          </a:prstGeom>
          <a:ln w="444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Data — symbol zastępczy 2">
            <a:extLst>
              <a:ext uri="{FF2B5EF4-FFF2-40B4-BE49-F238E27FC236}">
                <a16:creationId xmlns:a16="http://schemas.microsoft.com/office/drawing/2014/main" id="{B8C04945-62C9-4964-8891-6D30EA90D2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32" name="Stopka — symbol zastępczy 3">
            <a:extLst>
              <a:ext uri="{FF2B5EF4-FFF2-40B4-BE49-F238E27FC236}">
                <a16:creationId xmlns:a16="http://schemas.microsoft.com/office/drawing/2014/main" id="{51029B8B-F669-4889-98DD-90166117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33" name="Numer slajdu — symbol zastępczy 4">
            <a:extLst>
              <a:ext uri="{FF2B5EF4-FFF2-40B4-BE49-F238E27FC236}">
                <a16:creationId xmlns:a16="http://schemas.microsoft.com/office/drawing/2014/main" id="{7A0B84D6-438D-4B3B-B52C-6F5EC159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026250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a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ytuł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20" name="Tekst — symbol zastępczy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5" name="Tekst — symbol zastępczy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6" name="Tekst — symbol zastępczy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7" name="Tekst — symbol zastępczy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8" name="Tekst — symbol zastępczy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 rtl="0"/>
            <a:r>
              <a:rPr lang="pl-PL" noProof="0"/>
              <a:t>KLIKNIJ, ABY DODAĆ PODTYTUŁ</a:t>
            </a:r>
          </a:p>
        </p:txBody>
      </p:sp>
      <p:sp>
        <p:nvSpPr>
          <p:cNvPr id="29" name="Tekst — symbol zastępczy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Kliknij, aby dodać tekst</a:t>
            </a:r>
          </a:p>
        </p:txBody>
      </p:sp>
      <p:sp>
        <p:nvSpPr>
          <p:cNvPr id="21" name="Data — symbol zastępczy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22" name="Stopka — symbol zastępczy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24" name="Numer slajdu — symbol zastępczy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ś czas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6" name="Tekst — symbol zastępczy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Rok</a:t>
            </a:r>
          </a:p>
        </p:txBody>
      </p:sp>
      <p:sp>
        <p:nvSpPr>
          <p:cNvPr id="7" name="Tekst — symbol zastępczy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8" name="Tekst — symbol zastępczy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9" name="Tekst — symbol zastępczy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0" name="Tekst — symbol zastępczy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1" name="Tekst — symbol zastępczy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pPr lvl="0" rtl="0"/>
            <a:r>
              <a:rPr lang="pl-PL" noProof="0"/>
              <a:t>Rok</a:t>
            </a:r>
          </a:p>
        </p:txBody>
      </p:sp>
      <p:sp>
        <p:nvSpPr>
          <p:cNvPr id="12" name="Tekst — symbol zastępczy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3" name="Tekst — symbol zastępczy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4" name="Tekst — symbol zastępczy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5" name="Tekst — symbol zastępczy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6" name="Tekst — symbol zastępczy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7" name="Tekst — symbol zastępczy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8" name="Tekst — symbol zastępczy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19" name="Tekst — symbol zastępczy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0" name="Tekst — symbol zastępczy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1" name="Tekst — symbol zastępczy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2" name="Tekst — symbol zastępczy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3" name="Tekst — symbol zastępczy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4" name="Tekst — symbol zastępczy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5" name="Tekst — symbol zastępczy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6" name="Tekst — symbol zastępczy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7" name="Tekst — symbol zastępczy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8" name="Tekst — symbol zastępczy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29" name="Tekst — symbol zastępczy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30" name="Tekst — symbol zastępczy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31" name="Tekst — symbol zastępczy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pl-PL" noProof="0"/>
              <a:t>MM</a:t>
            </a:r>
          </a:p>
        </p:txBody>
      </p:sp>
      <p:sp>
        <p:nvSpPr>
          <p:cNvPr id="32" name="Prostokąt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36" name="Data — symbol zastępczy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37" name="Stopka — symbol zastępczy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38" name="Numer slajdu — symbol zastępczy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fika SmartArt 6 — symbol zastępczy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6776"/>
            <a:ext cx="10515600" cy="3697645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grafikę SmartArt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cxnSp>
        <p:nvCxnSpPr>
          <p:cNvPr id="10" name="Łącznik prosty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ajd zespołu — 4 osob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7" name="Obraz — symbol zastępczy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8" name="Obraz — symbol zastępczy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l-PL" noProof="0"/>
              <a:t>Kliknij ikonę, aby dodać obraz</a:t>
            </a:r>
          </a:p>
        </p:txBody>
      </p:sp>
      <p:sp>
        <p:nvSpPr>
          <p:cNvPr id="19" name="Obraz — symbol zastępczy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3" name="Tekst — symbol zastępczy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4" name="Tekst — symbol zastępczy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5" name="Tekst — symbol zastępczy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6" name="Tekst — symbol zastępczy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7" name="Tekst — symbol zastępczy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8" name="Tekst — symbol zastępczy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9" name="Tekst — symbol zastępczy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cxnSp>
        <p:nvCxnSpPr>
          <p:cNvPr id="10" name="Łącznik prosty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ajd zespołu — 8 osób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7" name="Obraz — symbol zastępczy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8" name="Obraz — symbol zastępczy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l-PL" noProof="0"/>
              <a:t>Kliknij ikonę, aby dodać obraz</a:t>
            </a:r>
          </a:p>
        </p:txBody>
      </p:sp>
      <p:sp>
        <p:nvSpPr>
          <p:cNvPr id="19" name="Obraz — symbol zastępczy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6" name="Tekst — symbol zastępczy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3" name="Tekst — symbol zastępczy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7" name="Tekst — symbol zastępczy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4" name="Tekst — symbol zastępczy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8" name="Tekst — symbol zastępczy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5" name="Tekst — symbol zastępczy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9" name="Tekst — symbol zastępczy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55" name="Obraz — symbol zastępczy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56" name="Obraz — symbol zastępczy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57" name="Obraz — symbol zastępczy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 rtl="0"/>
            <a:r>
              <a:rPr lang="pl-PL" noProof="0"/>
              <a:t>Kliknij ikonę, aby dodać obraz</a:t>
            </a:r>
          </a:p>
        </p:txBody>
      </p:sp>
      <p:sp>
        <p:nvSpPr>
          <p:cNvPr id="58" name="Obraz — symbol zastępczy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54" name="Tekst — symbol zastępczy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2" name="Tekst — symbol zastępczy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59" name="Tekst — symbol zastępczy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3" name="Tekst — symbol zastępczy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0" name="Tekst — symbol zastępczy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4" name="Tekst — symbol zastępczy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1" name="Tekst — symbol zastępczy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65" name="Tekst — symbol zastępczy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  <p:pic>
        <p:nvPicPr>
          <p:cNvPr id="13" name="Grafika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fika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wartość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11" name="Zawartość — symbol zastępczy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l-PL" noProof="0"/>
              <a:t>Kliknij, aby dodać zawartość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17" name="Tekst — symbol zastępczy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4" name="Zawartość — symbol zastępczy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4" name="Zawartość — symbol zastępczy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l-PL" noProof="0"/>
              <a:t>Kliknij, aby dodać zawartość</a:t>
            </a:r>
          </a:p>
        </p:txBody>
      </p:sp>
      <p:sp>
        <p:nvSpPr>
          <p:cNvPr id="5" name="Tekst — symbol zastępczy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18" name="Tekst — symbol zastępczy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l-PL" noProof="0"/>
              <a:t>KLIKNIJ, ABY EDYTOWAĆ</a:t>
            </a:r>
          </a:p>
        </p:txBody>
      </p:sp>
      <p:sp>
        <p:nvSpPr>
          <p:cNvPr id="6" name="Zawartość — symbol zastępczy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5" name="Zawartość — symbol zastępczy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l-PL" noProof="0"/>
              <a:t>Kliknij, aby dodać zawartość</a:t>
            </a:r>
          </a:p>
        </p:txBody>
      </p:sp>
      <p:sp>
        <p:nvSpPr>
          <p:cNvPr id="21" name="Tekst — symbol zastępczy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19" name="Tekst — symbol zastępczy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22" name="Zawartość — symbol zastępczy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26" name="Zawartość — symbol zastępczy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 rtlCol="0"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 rtl="0"/>
            <a:r>
              <a:rPr lang="pl-PL" noProof="0"/>
              <a:t>Kliknij, aby dodać zawartość</a:t>
            </a:r>
          </a:p>
        </p:txBody>
      </p:sp>
      <p:sp>
        <p:nvSpPr>
          <p:cNvPr id="14" name="Tekst — symbol zastępczy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#</a:t>
            </a:r>
          </a:p>
        </p:txBody>
      </p:sp>
      <p:sp>
        <p:nvSpPr>
          <p:cNvPr id="23" name="Tekst — symbol zastępczy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l-PL" noProof="0"/>
              <a:t>KLIKNIJ, ABY EDYTOWAĆ</a:t>
            </a:r>
          </a:p>
        </p:txBody>
      </p:sp>
      <p:cxnSp>
        <p:nvCxnSpPr>
          <p:cNvPr id="16" name="Łącznik prosty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Łącznik prosty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awartość — symbol zastępczy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7" name="Data — symbol zastępczy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8" name="Stopka — symbol zastępczy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9" name="Numer slajdu — symbol zastępczy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Podsumow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cxnSp>
        <p:nvCxnSpPr>
          <p:cNvPr id="23" name="Łącznik prosty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a — symbol zastępczy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22" name="Stopka — symbol zastępczy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24" name="Numer slajdu — symbol zastępczy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Zakończeni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l-PL" noProof="0"/>
              <a:t>Kliknij, aby edytować styl wzorca podtytułu</a:t>
            </a:r>
          </a:p>
        </p:txBody>
      </p:sp>
      <p:pic>
        <p:nvPicPr>
          <p:cNvPr id="6" name="Grafika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a — symbol zastępczy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10" name="Stopka — symbol zastępczy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11" name="Numer slajdu — symbol zastępczy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lan spotkania bez grafiki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4000000" cy="1325563"/>
          </a:xfrm>
        </p:spPr>
        <p:txBody>
          <a:bodyPr rtlCol="0" anchor="b">
            <a:normAutofit/>
          </a:bodyPr>
          <a:lstStyle>
            <a:lvl1pPr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499" y="2924175"/>
            <a:ext cx="4000000" cy="3700000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20XX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l-PL" noProof="0"/>
              <a:t>Prezentacja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90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— symbol zastępczy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4" name="Data — symbol zastępczy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20XX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pl-PL" noProof="0"/>
              <a:t>Prezentacja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fld id="{B5CEABB6-07DC-46E8-9B57-56EC44A396E5}" type="slidenum">
              <a:rPr lang="pl-PL" noProof="0" smtClean="0"/>
              <a:pPr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685" r:id="rId12"/>
    <p:sldLayoutId id="2147483700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  <p:sldLayoutId id="2147483750" r:id="rId9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 rtlCol="0"/>
          <a:lstStyle/>
          <a:p>
            <a:r>
              <a:rPr lang="pl-PL">
                <a:latin typeface="Calibri"/>
                <a:ea typeface="Calibri"/>
                <a:cs typeface="Calibri"/>
              </a:rPr>
              <a:t>Światło jako narzędzie pracy</a:t>
            </a:r>
            <a:endParaRPr lang="pl-PL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>
                <a:latin typeface="Calibri"/>
                <a:ea typeface="Calibri"/>
                <a:cs typeface="Calibri"/>
              </a:rPr>
              <a:t>Stefan Kawka &amp; Oskar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65B51ED-A1F6-95B6-0AEF-00B573FB3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Warsztaty beauty &amp; product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B999272-F6A5-87D4-48CB-942530DFD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Fotografia i wideo</a:t>
            </a:r>
          </a:p>
          <a:p>
            <a:r>
              <a:rPr lang="pl-PL" dirty="0"/>
              <a:t>Światło, model, produkt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E0359A7C-DA0A-EDDC-71C9-55A53C2A1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C42508FD-0C5A-012D-D654-ACCAC0184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2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 rot="8100000">
            <a:off x="6400800" y="1280160"/>
            <a:ext cx="2743200" cy="2743200"/>
          </a:xfrm>
          <a:prstGeom prst="triangle">
            <a:avLst/>
          </a:prstGeom>
          <a:solidFill>
            <a:srgbClr val="E3B18D">
              <a:alpha val="18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327648" y="1115568"/>
            <a:ext cx="512064" cy="512064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6126480" y="173736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światło</a:t>
            </a:r>
          </a:p>
        </p:txBody>
      </p:sp>
      <p:sp>
        <p:nvSpPr>
          <p:cNvPr id="104" name="Element 104"/>
          <p:cNvSpPr/>
          <p:nvPr/>
        </p:nvSpPr>
        <p:spPr>
          <a:xfrm>
            <a:off x="8138160" y="2651760"/>
            <a:ext cx="914400" cy="914400"/>
          </a:xfrm>
          <a:prstGeom prst="ellipse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7955280" y="3657600"/>
            <a:ext cx="1280160" cy="1280160"/>
          </a:xfrm>
          <a:prstGeom prst="round2SameRect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7955280" y="512064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model</a:t>
            </a:r>
          </a:p>
        </p:txBody>
      </p:sp>
      <p:sp>
        <p:nvSpPr>
          <p:cNvPr id="107" name="Element 107"/>
          <p:cNvSpPr/>
          <p:nvPr/>
        </p:nvSpPr>
        <p:spPr>
          <a:xfrm>
            <a:off x="10058400" y="3566160"/>
            <a:ext cx="914400" cy="1371600"/>
          </a:xfrm>
          <a:prstGeom prst="roundRect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10332720" y="3108960"/>
            <a:ext cx="365760" cy="457200"/>
          </a:xfrm>
          <a:prstGeom prst="rect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10287000" y="2880360"/>
            <a:ext cx="457200" cy="2286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0" name="Element 110"/>
          <p:cNvSpPr/>
          <p:nvPr/>
        </p:nvSpPr>
        <p:spPr>
          <a:xfrm>
            <a:off x="9875520" y="512064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produkt</a:t>
            </a:r>
          </a:p>
        </p:txBody>
      </p:sp>
    </p:spTree>
    <p:extLst>
      <p:ext uri="{BB962C8B-B14F-4D97-AF65-F5344CB8AC3E}">
        <p14:creationId xmlns:p14="http://schemas.microsoft.com/office/powerpoint/2010/main" val="2878776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471FB35-764B-F009-6CE5-91A47ACF5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Plan dnia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35FD058-2FA0-FA11-7186-F102FB516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pl-PL" dirty="0"/>
              <a:t>Teoria światła i ekspozycji</a:t>
            </a:r>
          </a:p>
          <a:p>
            <a:pPr>
              <a:spcBef>
                <a:spcPts val="600"/>
              </a:spcBef>
            </a:pPr>
            <a:r>
              <a:rPr lang="pl-PL" dirty="0"/>
              <a:t>Praktyka podstawowa</a:t>
            </a:r>
          </a:p>
          <a:p>
            <a:pPr>
              <a:spcBef>
                <a:spcPts val="600"/>
              </a:spcBef>
            </a:pPr>
            <a:r>
              <a:rPr lang="pl-PL" dirty="0"/>
              <a:t>Sprzęt i zastosowania</a:t>
            </a:r>
          </a:p>
          <a:p>
            <a:pPr>
              <a:spcBef>
                <a:spcPts val="600"/>
              </a:spcBef>
            </a:pPr>
            <a:r>
              <a:rPr lang="pl-PL" dirty="0"/>
              <a:t>13:00 — przerwa obiadowa</a:t>
            </a:r>
          </a:p>
          <a:p>
            <a:pPr>
              <a:spcBef>
                <a:spcPts val="600"/>
              </a:spcBef>
            </a:pPr>
            <a:r>
              <a:rPr lang="pl-PL" dirty="0"/>
              <a:t>Fotografia produktu</a:t>
            </a:r>
          </a:p>
          <a:p>
            <a:pPr>
              <a:spcBef>
                <a:spcPts val="600"/>
              </a:spcBef>
            </a:pPr>
            <a:r>
              <a:rPr lang="pl-PL" dirty="0"/>
              <a:t>Setupy studyjne</a:t>
            </a:r>
          </a:p>
          <a:p>
            <a:pPr>
              <a:spcBef>
                <a:spcPts val="600"/>
              </a:spcBef>
            </a:pPr>
            <a:r>
              <a:rPr lang="pl-PL" dirty="0"/>
              <a:t>LAB i własne ćwiczenia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13213C30-EEE7-BA77-1AD5-438CF14C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AEACE34-3F19-29E7-B25D-0FD6076E9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3</a:t>
            </a:fld>
            <a:endParaRPr lang="pl-PL" noProof="0"/>
          </a:p>
        </p:txBody>
      </p:sp>
      <p:cxnSp>
        <p:nvCxnSpPr>
          <p:cNvPr id="101" name="Linia 101"/>
          <p:cNvCxnSpPr/>
          <p:nvPr/>
        </p:nvCxnSpPr>
        <p:spPr>
          <a:xfrm flipV="1">
            <a:off x="5852160" y="3291840"/>
            <a:ext cx="367519" cy="118872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2" name="Linia 102"/>
          <p:cNvCxnSpPr/>
          <p:nvPr/>
        </p:nvCxnSpPr>
        <p:spPr>
          <a:xfrm flipV="1">
            <a:off x="6219679" y="2421637"/>
            <a:ext cx="1004081" cy="870203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3" name="Linia 103"/>
          <p:cNvCxnSpPr/>
          <p:nvPr/>
        </p:nvCxnSpPr>
        <p:spPr>
          <a:xfrm flipV="1">
            <a:off x="7223760" y="2103120"/>
            <a:ext cx="1371600" cy="318517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4" name="Linia 104"/>
          <p:cNvCxnSpPr/>
          <p:nvPr/>
        </p:nvCxnSpPr>
        <p:spPr>
          <a:xfrm>
            <a:off x="8595360" y="2103120"/>
            <a:ext cx="1371600" cy="318517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5" name="Linia 105"/>
          <p:cNvCxnSpPr/>
          <p:nvPr/>
        </p:nvCxnSpPr>
        <p:spPr>
          <a:xfrm>
            <a:off x="9966960" y="2421637"/>
            <a:ext cx="1004081" cy="870203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6" name="Linia 106"/>
          <p:cNvCxnSpPr/>
          <p:nvPr/>
        </p:nvCxnSpPr>
        <p:spPr>
          <a:xfrm>
            <a:off x="10971041" y="3291840"/>
            <a:ext cx="367519" cy="118872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sp>
        <p:nvSpPr>
          <p:cNvPr id="107" name="Element 107"/>
          <p:cNvSpPr/>
          <p:nvPr/>
        </p:nvSpPr>
        <p:spPr>
          <a:xfrm>
            <a:off x="5577840" y="420624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B18D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1</a:t>
            </a:r>
          </a:p>
        </p:txBody>
      </p:sp>
      <p:sp>
        <p:nvSpPr>
          <p:cNvPr id="108" name="Element 108"/>
          <p:cNvSpPr/>
          <p:nvPr/>
        </p:nvSpPr>
        <p:spPr>
          <a:xfrm>
            <a:off x="5945359" y="301752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B18D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2</a:t>
            </a:r>
          </a:p>
        </p:txBody>
      </p:sp>
      <p:sp>
        <p:nvSpPr>
          <p:cNvPr id="109" name="Element 109"/>
          <p:cNvSpPr/>
          <p:nvPr/>
        </p:nvSpPr>
        <p:spPr>
          <a:xfrm>
            <a:off x="6949440" y="2147317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B18D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3</a:t>
            </a:r>
          </a:p>
        </p:txBody>
      </p:sp>
      <p:sp>
        <p:nvSpPr>
          <p:cNvPr id="110" name="Element 110"/>
          <p:cNvSpPr/>
          <p:nvPr/>
        </p:nvSpPr>
        <p:spPr>
          <a:xfrm>
            <a:off x="8183880" y="1691640"/>
            <a:ext cx="822960" cy="82296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1" dirty="0">
                <a:solidFill>
                  <a:srgbClr val="FFFFFF"/>
                </a:solidFill>
                <a:latin typeface="+mn-lt"/>
              </a:rPr>
              <a:t>przerwa</a:t>
            </a:r>
          </a:p>
        </p:txBody>
      </p:sp>
      <p:sp>
        <p:nvSpPr>
          <p:cNvPr id="111" name="Element 111"/>
          <p:cNvSpPr/>
          <p:nvPr/>
        </p:nvSpPr>
        <p:spPr>
          <a:xfrm>
            <a:off x="9692640" y="2147317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B18D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4</a:t>
            </a:r>
          </a:p>
        </p:txBody>
      </p:sp>
      <p:sp>
        <p:nvSpPr>
          <p:cNvPr id="112" name="Element 112"/>
          <p:cNvSpPr/>
          <p:nvPr/>
        </p:nvSpPr>
        <p:spPr>
          <a:xfrm>
            <a:off x="10696721" y="301752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B18D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5</a:t>
            </a:r>
          </a:p>
        </p:txBody>
      </p:sp>
      <p:sp>
        <p:nvSpPr>
          <p:cNvPr id="113" name="Element 113"/>
          <p:cNvSpPr/>
          <p:nvPr/>
        </p:nvSpPr>
        <p:spPr>
          <a:xfrm>
            <a:off x="11064240" y="4206240"/>
            <a:ext cx="548640" cy="5486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3B18D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6</a:t>
            </a:r>
          </a:p>
        </p:txBody>
      </p:sp>
      <p:sp>
        <p:nvSpPr>
          <p:cNvPr id="114" name="Element 114"/>
          <p:cNvSpPr/>
          <p:nvPr/>
        </p:nvSpPr>
        <p:spPr>
          <a:xfrm>
            <a:off x="5394960" y="498348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9:00</a:t>
            </a:r>
          </a:p>
        </p:txBody>
      </p:sp>
      <p:sp>
        <p:nvSpPr>
          <p:cNvPr id="115" name="Element 115"/>
          <p:cNvSpPr/>
          <p:nvPr/>
        </p:nvSpPr>
        <p:spPr>
          <a:xfrm>
            <a:off x="10515600" y="498348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17:20</a:t>
            </a:r>
          </a:p>
        </p:txBody>
      </p:sp>
      <p:sp>
        <p:nvSpPr>
          <p:cNvPr id="116" name="Element 116"/>
          <p:cNvSpPr/>
          <p:nvPr/>
        </p:nvSpPr>
        <p:spPr>
          <a:xfrm>
            <a:off x="7863840" y="260604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13:00</a:t>
            </a:r>
          </a:p>
        </p:txBody>
      </p:sp>
      <p:sp>
        <p:nvSpPr>
          <p:cNvPr id="117" name="Element 117"/>
          <p:cNvSpPr/>
          <p:nvPr/>
        </p:nvSpPr>
        <p:spPr>
          <a:xfrm>
            <a:off x="7223760" y="33832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0" dirty="0">
                <a:solidFill>
                  <a:srgbClr val="8A8A8A"/>
                </a:solidFill>
                <a:latin typeface="+mn-lt"/>
              </a:rPr>
              <a:t>9:00 – 17:20</a:t>
            </a:r>
          </a:p>
        </p:txBody>
      </p:sp>
    </p:spTree>
    <p:extLst>
      <p:ext uri="{BB962C8B-B14F-4D97-AF65-F5344CB8AC3E}">
        <p14:creationId xmlns:p14="http://schemas.microsoft.com/office/powerpoint/2010/main" val="1969138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6DE529-1D4A-CD08-E2B3-EFE928A61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Zasady pracy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FF20398-C347-1A1D-B5C9-92BBC1599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Najpierw obserwujemy</a:t>
            </a:r>
          </a:p>
          <a:p>
            <a:r>
              <a:rPr lang="pl-PL" dirty="0"/>
              <a:t>Potem testujemy</a:t>
            </a:r>
          </a:p>
          <a:p>
            <a:r>
              <a:rPr lang="pl-PL" dirty="0"/>
              <a:t>Jeden element naraz</a:t>
            </a:r>
          </a:p>
          <a:p>
            <a:r>
              <a:rPr lang="pl-PL" dirty="0"/>
              <a:t>Zapisujemy ustawienia</a:t>
            </a:r>
          </a:p>
          <a:p>
            <a:r>
              <a:rPr lang="pl-PL" dirty="0"/>
              <a:t>Omawiamy wspólnie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8F741274-3727-5AE4-40FC-1C9480013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78087400-3866-FB8C-FE7E-326CA248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4</a:t>
            </a:fld>
            <a:endParaRPr lang="pl-PL" noProof="0"/>
          </a:p>
        </p:txBody>
      </p:sp>
      <p:cxnSp>
        <p:nvCxnSpPr>
          <p:cNvPr id="101" name="Linia 101"/>
          <p:cNvCxnSpPr/>
          <p:nvPr/>
        </p:nvCxnSpPr>
        <p:spPr>
          <a:xfrm>
            <a:off x="8595360" y="1691640"/>
            <a:ext cx="1652328" cy="1200486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2" name="Linia 102"/>
          <p:cNvCxnSpPr/>
          <p:nvPr/>
        </p:nvCxnSpPr>
        <p:spPr>
          <a:xfrm flipV="1">
            <a:off x="9616555" y="2892126"/>
            <a:ext cx="631133" cy="1942428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3" name="Linia 103"/>
          <p:cNvCxnSpPr/>
          <p:nvPr/>
        </p:nvCxnSpPr>
        <p:spPr>
          <a:xfrm>
            <a:off x="7574165" y="4834554"/>
            <a:ext cx="2042389" cy="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4" name="Linia 104"/>
          <p:cNvCxnSpPr/>
          <p:nvPr/>
        </p:nvCxnSpPr>
        <p:spPr>
          <a:xfrm>
            <a:off x="6943032" y="2892126"/>
            <a:ext cx="631133" cy="1942428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5" name="Linia 105"/>
          <p:cNvCxnSpPr/>
          <p:nvPr/>
        </p:nvCxnSpPr>
        <p:spPr>
          <a:xfrm flipV="1">
            <a:off x="6943032" y="1691640"/>
            <a:ext cx="1652328" cy="1200486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sp>
        <p:nvSpPr>
          <p:cNvPr id="106" name="Element 106"/>
          <p:cNvSpPr/>
          <p:nvPr/>
        </p:nvSpPr>
        <p:spPr>
          <a:xfrm>
            <a:off x="8275320" y="137160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1" dirty="0">
                <a:solidFill>
                  <a:srgbClr val="404040"/>
                </a:solidFill>
                <a:latin typeface="+mn-lt"/>
              </a:rPr>
              <a:t>1</a:t>
            </a:r>
          </a:p>
        </p:txBody>
      </p:sp>
      <p:sp>
        <p:nvSpPr>
          <p:cNvPr id="107" name="Element 107"/>
          <p:cNvSpPr/>
          <p:nvPr/>
        </p:nvSpPr>
        <p:spPr>
          <a:xfrm>
            <a:off x="9927648" y="2572086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1" dirty="0">
                <a:solidFill>
                  <a:srgbClr val="404040"/>
                </a:solidFill>
                <a:latin typeface="+mn-lt"/>
              </a:rPr>
              <a:t>2</a:t>
            </a:r>
          </a:p>
        </p:txBody>
      </p:sp>
      <p:sp>
        <p:nvSpPr>
          <p:cNvPr id="108" name="Element 108"/>
          <p:cNvSpPr/>
          <p:nvPr/>
        </p:nvSpPr>
        <p:spPr>
          <a:xfrm>
            <a:off x="9296515" y="4514514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1" dirty="0">
                <a:solidFill>
                  <a:srgbClr val="404040"/>
                </a:solidFill>
                <a:latin typeface="+mn-lt"/>
              </a:rPr>
              <a:t>3</a:t>
            </a:r>
          </a:p>
        </p:txBody>
      </p:sp>
      <p:sp>
        <p:nvSpPr>
          <p:cNvPr id="109" name="Element 109"/>
          <p:cNvSpPr/>
          <p:nvPr/>
        </p:nvSpPr>
        <p:spPr>
          <a:xfrm>
            <a:off x="7254125" y="4514514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1" dirty="0">
                <a:solidFill>
                  <a:srgbClr val="404040"/>
                </a:solidFill>
                <a:latin typeface="+mn-lt"/>
              </a:rPr>
              <a:t>4</a:t>
            </a:r>
          </a:p>
        </p:txBody>
      </p:sp>
      <p:sp>
        <p:nvSpPr>
          <p:cNvPr id="110" name="Element 110"/>
          <p:cNvSpPr/>
          <p:nvPr/>
        </p:nvSpPr>
        <p:spPr>
          <a:xfrm>
            <a:off x="6622992" y="2572086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1" dirty="0">
                <a:solidFill>
                  <a:srgbClr val="404040"/>
                </a:solidFill>
                <a:latin typeface="+mn-lt"/>
              </a:rPr>
              <a:t>5</a:t>
            </a:r>
          </a:p>
        </p:txBody>
      </p:sp>
      <p:sp>
        <p:nvSpPr>
          <p:cNvPr id="111" name="Element 111"/>
          <p:cNvSpPr/>
          <p:nvPr/>
        </p:nvSpPr>
        <p:spPr>
          <a:xfrm>
            <a:off x="7680960" y="320040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0" dirty="0">
                <a:solidFill>
                  <a:srgbClr val="8A8A8A"/>
                </a:solidFill>
                <a:latin typeface="+mn-lt"/>
              </a:rPr>
              <a:t>proces</a:t>
            </a:r>
          </a:p>
        </p:txBody>
      </p:sp>
    </p:spTree>
    <p:extLst>
      <p:ext uri="{BB962C8B-B14F-4D97-AF65-F5344CB8AC3E}">
        <p14:creationId xmlns:p14="http://schemas.microsoft.com/office/powerpoint/2010/main" val="2335561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16FC86C-983C-FBA7-23FD-9C7DCC82E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Trójkąt ekspozycji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1597D5B-B10A-6F08-5CCA-FC8429F73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ISO — czułość matrycy</a:t>
            </a:r>
          </a:p>
          <a:p>
            <a:r>
              <a:rPr lang="pl-PL" dirty="0"/>
              <a:t>Przysłona — światło i głębia</a:t>
            </a:r>
          </a:p>
          <a:p>
            <a:r>
              <a:rPr lang="pl-PL" dirty="0"/>
              <a:t>Czas migawki — ruch i światło</a:t>
            </a:r>
          </a:p>
          <a:p>
            <a:r>
              <a:rPr lang="pl-PL" dirty="0"/>
              <a:t>Jeden parametr naraz</a:t>
            </a:r>
          </a:p>
          <a:p>
            <a:r>
              <a:rPr lang="pl-PL" dirty="0"/>
              <a:t>Balans bieli (White Balance)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1F65F55E-6E16-0493-7411-365C43E0A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EFAED5D-03A1-4E64-0C1F-CD86B9B3A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5</a:t>
            </a:fld>
            <a:endParaRPr lang="pl-PL" noProof="0"/>
          </a:p>
        </p:txBody>
      </p:sp>
      <p:cxnSp>
        <p:nvCxnSpPr>
          <p:cNvPr id="101" name="Linia 101"/>
          <p:cNvCxnSpPr/>
          <p:nvPr/>
        </p:nvCxnSpPr>
        <p:spPr>
          <a:xfrm flipV="1">
            <a:off x="6309360" y="1417320"/>
            <a:ext cx="1828800" cy="3337560"/>
          </a:xfrm>
          <a:prstGeom prst="line">
            <a:avLst/>
          </a:prstGeom>
          <a:ln w="25400">
            <a:solidFill>
              <a:srgbClr val="E3B18D"/>
            </a:solidFill>
          </a:ln>
        </p:spPr>
      </p:cxnSp>
      <p:cxnSp>
        <p:nvCxnSpPr>
          <p:cNvPr id="102" name="Linia 102"/>
          <p:cNvCxnSpPr/>
          <p:nvPr/>
        </p:nvCxnSpPr>
        <p:spPr>
          <a:xfrm>
            <a:off x="8138160" y="1417320"/>
            <a:ext cx="1828800" cy="3337560"/>
          </a:xfrm>
          <a:prstGeom prst="line">
            <a:avLst/>
          </a:prstGeom>
          <a:ln w="25400">
            <a:solidFill>
              <a:srgbClr val="E3B18D"/>
            </a:solidFill>
          </a:ln>
        </p:spPr>
      </p:cxnSp>
      <p:cxnSp>
        <p:nvCxnSpPr>
          <p:cNvPr id="103" name="Linia 103"/>
          <p:cNvCxnSpPr/>
          <p:nvPr/>
        </p:nvCxnSpPr>
        <p:spPr>
          <a:xfrm>
            <a:off x="6309360" y="4754880"/>
            <a:ext cx="3657600" cy="0"/>
          </a:xfrm>
          <a:prstGeom prst="line">
            <a:avLst/>
          </a:prstGeom>
          <a:ln w="25400">
            <a:solidFill>
              <a:srgbClr val="E3B18D"/>
            </a:solidFill>
          </a:ln>
        </p:spPr>
      </p:cxnSp>
      <p:sp>
        <p:nvSpPr>
          <p:cNvPr id="104" name="Element 104"/>
          <p:cNvSpPr/>
          <p:nvPr/>
        </p:nvSpPr>
        <p:spPr>
          <a:xfrm>
            <a:off x="7635240" y="914400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2000" b="1" dirty="0">
                <a:solidFill>
                  <a:srgbClr val="404040"/>
                </a:solidFill>
                <a:latin typeface="+mn-lt"/>
              </a:rPr>
              <a:t>ISO</a:t>
            </a:r>
          </a:p>
        </p:txBody>
      </p:sp>
      <p:sp>
        <p:nvSpPr>
          <p:cNvPr id="105" name="Element 105"/>
          <p:cNvSpPr/>
          <p:nvPr/>
        </p:nvSpPr>
        <p:spPr>
          <a:xfrm>
            <a:off x="5806440" y="4251960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2000" b="1" dirty="0">
                <a:solidFill>
                  <a:srgbClr val="404040"/>
                </a:solidFill>
                <a:latin typeface="+mn-lt"/>
              </a:rPr>
              <a:t>f/</a:t>
            </a:r>
          </a:p>
        </p:txBody>
      </p:sp>
      <p:sp>
        <p:nvSpPr>
          <p:cNvPr id="106" name="Element 106"/>
          <p:cNvSpPr/>
          <p:nvPr/>
        </p:nvSpPr>
        <p:spPr>
          <a:xfrm>
            <a:off x="9464040" y="4251960"/>
            <a:ext cx="1005840" cy="10058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2000" b="1" dirty="0">
                <a:solidFill>
                  <a:srgbClr val="404040"/>
                </a:solidFill>
                <a:latin typeface="+mn-lt"/>
              </a:rPr>
              <a:t>1/s</a:t>
            </a:r>
          </a:p>
        </p:txBody>
      </p:sp>
      <p:sp>
        <p:nvSpPr>
          <p:cNvPr id="107" name="Element 107"/>
          <p:cNvSpPr/>
          <p:nvPr/>
        </p:nvSpPr>
        <p:spPr>
          <a:xfrm>
            <a:off x="7223760" y="37490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8A8A8A"/>
                </a:solidFill>
                <a:latin typeface="+mn-lt"/>
              </a:rPr>
              <a:t>EKSPOZYCJA</a:t>
            </a:r>
          </a:p>
        </p:txBody>
      </p:sp>
      <p:sp>
        <p:nvSpPr>
          <p:cNvPr id="108" name="Element 108"/>
          <p:cNvSpPr/>
          <p:nvPr/>
        </p:nvSpPr>
        <p:spPr>
          <a:xfrm>
            <a:off x="8823960" y="123444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8A8A8A"/>
                </a:solidFill>
                <a:latin typeface="+mn-lt"/>
              </a:rPr>
              <a:t>czułość</a:t>
            </a:r>
          </a:p>
        </p:txBody>
      </p:sp>
      <p:sp>
        <p:nvSpPr>
          <p:cNvPr id="109" name="Element 109"/>
          <p:cNvSpPr/>
          <p:nvPr/>
        </p:nvSpPr>
        <p:spPr>
          <a:xfrm>
            <a:off x="5394960" y="53949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przysłona</a:t>
            </a:r>
          </a:p>
        </p:txBody>
      </p:sp>
      <p:sp>
        <p:nvSpPr>
          <p:cNvPr id="110" name="Element 110"/>
          <p:cNvSpPr/>
          <p:nvPr/>
        </p:nvSpPr>
        <p:spPr>
          <a:xfrm>
            <a:off x="9052560" y="53949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migawka</a:t>
            </a:r>
          </a:p>
        </p:txBody>
      </p:sp>
    </p:spTree>
    <p:extLst>
      <p:ext uri="{BB962C8B-B14F-4D97-AF65-F5344CB8AC3E}">
        <p14:creationId xmlns:p14="http://schemas.microsoft.com/office/powerpoint/2010/main" val="2461716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11935-0DF5-5C59-8A56-B31F28CBC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Kontrola ekspozycji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5C491-2BDF-CCB7-4011-11A789F28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Histogram — rozkład jasności</a:t>
            </a:r>
          </a:p>
          <a:p>
            <a:r>
              <a:rPr lang="pl-PL" dirty="0"/>
              <a:t>Cienie i światła</a:t>
            </a:r>
          </a:p>
          <a:p>
            <a:r>
              <a:rPr lang="pl-PL" dirty="0"/>
              <a:t>False Color</a:t>
            </a:r>
          </a:p>
          <a:p>
            <a:r>
              <a:rPr lang="pl-PL" dirty="0"/>
              <a:t>Patrz na dane, nie tylko na ekran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AECFF8-0CA2-BE58-574A-3A513EA6D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1B100D-B019-F0F8-842B-D94762AB2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6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108192" y="4983480"/>
            <a:ext cx="265176" cy="13716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419088" y="4800600"/>
            <a:ext cx="265176" cy="3200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6729984" y="4480560"/>
            <a:ext cx="265176" cy="6400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7040880" y="4023360"/>
            <a:ext cx="265176" cy="10972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7351776" y="3474720"/>
            <a:ext cx="265176" cy="16459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7662672" y="3017520"/>
            <a:ext cx="265176" cy="21031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7973568" y="2651760"/>
            <a:ext cx="265176" cy="24688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8284464" y="2743200"/>
            <a:ext cx="265176" cy="23774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8595360" y="3108960"/>
            <a:ext cx="265176" cy="20116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0" name="Element 110"/>
          <p:cNvSpPr/>
          <p:nvPr/>
        </p:nvSpPr>
        <p:spPr>
          <a:xfrm>
            <a:off x="8906256" y="3566160"/>
            <a:ext cx="265176" cy="15544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1" name="Element 111"/>
          <p:cNvSpPr/>
          <p:nvPr/>
        </p:nvSpPr>
        <p:spPr>
          <a:xfrm>
            <a:off x="9217152" y="4023360"/>
            <a:ext cx="265176" cy="10972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9528048" y="4389120"/>
            <a:ext cx="265176" cy="7315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3" name="Element 113"/>
          <p:cNvSpPr/>
          <p:nvPr/>
        </p:nvSpPr>
        <p:spPr>
          <a:xfrm>
            <a:off x="9838944" y="4663440"/>
            <a:ext cx="265176" cy="4572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4" name="Element 114"/>
          <p:cNvSpPr/>
          <p:nvPr/>
        </p:nvSpPr>
        <p:spPr>
          <a:xfrm>
            <a:off x="10149840" y="4800600"/>
            <a:ext cx="265176" cy="3200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5" name="Element 115"/>
          <p:cNvSpPr/>
          <p:nvPr/>
        </p:nvSpPr>
        <p:spPr>
          <a:xfrm>
            <a:off x="10460736" y="4892040"/>
            <a:ext cx="265176" cy="2286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6" name="Element 116"/>
          <p:cNvSpPr/>
          <p:nvPr/>
        </p:nvSpPr>
        <p:spPr>
          <a:xfrm>
            <a:off x="10771632" y="5010912"/>
            <a:ext cx="265176" cy="109728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cxnSp>
        <p:nvCxnSpPr>
          <p:cNvPr id="117" name="Linia 117"/>
          <p:cNvCxnSpPr/>
          <p:nvPr/>
        </p:nvCxnSpPr>
        <p:spPr>
          <a:xfrm>
            <a:off x="6016752" y="5120640"/>
            <a:ext cx="5111496" cy="0"/>
          </a:xfrm>
          <a:prstGeom prst="line">
            <a:avLst/>
          </a:prstGeom>
          <a:ln w="19050">
            <a:solidFill>
              <a:srgbClr val="404040"/>
            </a:solidFill>
          </a:ln>
        </p:spPr>
      </p:cxnSp>
      <p:sp>
        <p:nvSpPr>
          <p:cNvPr id="118" name="Element 118"/>
          <p:cNvSpPr/>
          <p:nvPr/>
        </p:nvSpPr>
        <p:spPr>
          <a:xfrm>
            <a:off x="6108192" y="5257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8A8A8A"/>
                </a:solidFill>
                <a:latin typeface="+mn-lt"/>
              </a:rPr>
              <a:t>cienie</a:t>
            </a:r>
          </a:p>
        </p:txBody>
      </p:sp>
      <p:sp>
        <p:nvSpPr>
          <p:cNvPr id="119" name="Element 119"/>
          <p:cNvSpPr/>
          <p:nvPr/>
        </p:nvSpPr>
        <p:spPr>
          <a:xfrm>
            <a:off x="7863840" y="52578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półtony</a:t>
            </a:r>
          </a:p>
        </p:txBody>
      </p:sp>
      <p:sp>
        <p:nvSpPr>
          <p:cNvPr id="120" name="Element 120"/>
          <p:cNvSpPr/>
          <p:nvPr/>
        </p:nvSpPr>
        <p:spPr>
          <a:xfrm>
            <a:off x="9710928" y="52578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600" b="0" dirty="0">
                <a:solidFill>
                  <a:srgbClr val="8A8A8A"/>
                </a:solidFill>
                <a:latin typeface="+mn-lt"/>
              </a:rPr>
              <a:t>światła</a:t>
            </a:r>
          </a:p>
        </p:txBody>
      </p:sp>
      <p:sp>
        <p:nvSpPr>
          <p:cNvPr id="121" name="Element 121"/>
          <p:cNvSpPr/>
          <p:nvPr/>
        </p:nvSpPr>
        <p:spPr>
          <a:xfrm>
            <a:off x="6108192" y="1463040"/>
            <a:ext cx="4974336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800" b="1" dirty="0">
                <a:solidFill>
                  <a:srgbClr val="404040"/>
                </a:solidFill>
                <a:latin typeface="+mn-lt"/>
              </a:rPr>
              <a:t>histogram</a:t>
            </a:r>
          </a:p>
        </p:txBody>
      </p:sp>
    </p:spTree>
    <p:extLst>
      <p:ext uri="{BB962C8B-B14F-4D97-AF65-F5344CB8AC3E}">
        <p14:creationId xmlns:p14="http://schemas.microsoft.com/office/powerpoint/2010/main" val="39300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670CDA1-D44E-0080-E809-50E0C3C1D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Rodzaje światła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37B9EE7-3AD2-F740-CB47-739E875EB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Naturalne / sztuczne</a:t>
            </a:r>
          </a:p>
          <a:p>
            <a:r>
              <a:rPr lang="pl-PL" dirty="0"/>
              <a:t>Ciągłe / błyskowe</a:t>
            </a:r>
          </a:p>
          <a:p>
            <a:r>
              <a:rPr lang="pl-PL" dirty="0"/>
              <a:t>Miękkie / twarde</a:t>
            </a:r>
          </a:p>
          <a:p>
            <a:r>
              <a:rPr lang="pl-PL" dirty="0"/>
              <a:t>Ciepłe / zimne</a:t>
            </a:r>
          </a:p>
          <a:p>
            <a:r>
              <a:rPr lang="pl-PL" dirty="0"/>
              <a:t>CRI wpływa na kolor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E62F908B-71C4-0F83-AFE4-01AED17B6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E3558B40-751E-999E-2493-56F9BBC2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7</a:t>
            </a:fld>
            <a:endParaRPr lang="pl-PL" noProof="0"/>
          </a:p>
        </p:txBody>
      </p:sp>
      <p:sp>
        <p:nvSpPr>
          <p:cNvPr id="101" name="Gradient 101"/>
          <p:cNvSpPr/>
          <p:nvPr/>
        </p:nvSpPr>
        <p:spPr>
          <a:xfrm>
            <a:off x="6126480" y="3017520"/>
            <a:ext cx="5120640" cy="640080"/>
          </a:xfrm>
          <a:prstGeom prst="rect">
            <a:avLst/>
          </a:prstGeom>
          <a:gradFill>
            <a:gsLst>
              <a:gs pos="0">
                <a:srgbClr val="FFB36B"/>
              </a:gs>
              <a:gs pos="100000">
                <a:srgbClr val="CFE0F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126480" y="23774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800" b="0" dirty="0">
                <a:solidFill>
                  <a:srgbClr val="404040"/>
                </a:solidFill>
                <a:latin typeface="+mn-lt"/>
              </a:rPr>
              <a:t>ciepłe</a:t>
            </a:r>
          </a:p>
        </p:txBody>
      </p:sp>
      <p:sp>
        <p:nvSpPr>
          <p:cNvPr id="103" name="Element 103"/>
          <p:cNvSpPr/>
          <p:nvPr/>
        </p:nvSpPr>
        <p:spPr>
          <a:xfrm>
            <a:off x="8961120" y="23774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800" b="0" dirty="0">
                <a:solidFill>
                  <a:srgbClr val="404040"/>
                </a:solidFill>
                <a:latin typeface="+mn-lt"/>
              </a:rPr>
              <a:t>zimne</a:t>
            </a:r>
          </a:p>
        </p:txBody>
      </p:sp>
      <p:sp>
        <p:nvSpPr>
          <p:cNvPr id="104" name="Element 104"/>
          <p:cNvSpPr/>
          <p:nvPr/>
        </p:nvSpPr>
        <p:spPr>
          <a:xfrm>
            <a:off x="6126480" y="37947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8A8A8A"/>
                </a:solidFill>
                <a:latin typeface="+mn-lt"/>
              </a:rPr>
              <a:t>ok. 2700 K</a:t>
            </a:r>
          </a:p>
        </p:txBody>
      </p:sp>
      <p:sp>
        <p:nvSpPr>
          <p:cNvPr id="105" name="Element 105"/>
          <p:cNvSpPr/>
          <p:nvPr/>
        </p:nvSpPr>
        <p:spPr>
          <a:xfrm>
            <a:off x="8961120" y="379476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600" b="0" dirty="0">
                <a:solidFill>
                  <a:srgbClr val="8A8A8A"/>
                </a:solidFill>
                <a:latin typeface="+mn-lt"/>
              </a:rPr>
              <a:t>ok. 6500 K</a:t>
            </a:r>
          </a:p>
        </p:txBody>
      </p:sp>
      <p:sp>
        <p:nvSpPr>
          <p:cNvPr id="106" name="Element 106"/>
          <p:cNvSpPr/>
          <p:nvPr/>
        </p:nvSpPr>
        <p:spPr>
          <a:xfrm>
            <a:off x="6126480" y="46634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8A8A8A"/>
                </a:solidFill>
                <a:latin typeface="+mn-lt"/>
              </a:rPr>
              <a:t>temperatura barwowa światła</a:t>
            </a:r>
          </a:p>
        </p:txBody>
      </p:sp>
    </p:spTree>
    <p:extLst>
      <p:ext uri="{BB962C8B-B14F-4D97-AF65-F5344CB8AC3E}">
        <p14:creationId xmlns:p14="http://schemas.microsoft.com/office/powerpoint/2010/main" val="3316999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F3143-473E-9B5B-268D-828C710DE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Kierunek światła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1A9DA-6949-F5CE-E78D-B3E23098F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Front light</a:t>
            </a:r>
          </a:p>
          <a:p>
            <a:r>
              <a:rPr lang="pl-PL" dirty="0"/>
              <a:t>Side light</a:t>
            </a:r>
          </a:p>
          <a:p>
            <a:r>
              <a:rPr lang="pl-PL" dirty="0"/>
              <a:t>Back light</a:t>
            </a:r>
          </a:p>
          <a:p>
            <a:r>
              <a:rPr lang="pl-PL" dirty="0"/>
              <a:t>Top light</a:t>
            </a:r>
          </a:p>
          <a:p>
            <a:r>
              <a:rPr lang="pl-PL" dirty="0"/>
              <a:t>Counter light</a:t>
            </a:r>
          </a:p>
          <a:p>
            <a:r>
              <a:rPr lang="pl-PL" dirty="0"/>
              <a:t>Kierunek zmienia kształt twarzy i produktu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33F3A9-662C-766C-786D-4A14AF2D0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92EB6F-C972-AAE5-A329-D1C00FB1A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8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812280" y="1645920"/>
            <a:ext cx="3566160" cy="3566160"/>
          </a:xfrm>
          <a:prstGeom prst="ellipse">
            <a:avLst/>
          </a:prstGeom>
          <a:noFill/>
          <a:ln w="15875">
            <a:solidFill>
              <a:srgbClr val="E3B18D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8138160" y="2971800"/>
            <a:ext cx="914400" cy="9144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8138160" y="3246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FFFFFF"/>
                </a:solidFill>
                <a:latin typeface="+mn-lt"/>
              </a:rPr>
              <a:t>model</a:t>
            </a:r>
          </a:p>
        </p:txBody>
      </p:sp>
      <p:cxnSp>
        <p:nvCxnSpPr>
          <p:cNvPr id="104" name="Linia 104"/>
          <p:cNvCxnSpPr/>
          <p:nvPr/>
        </p:nvCxnSpPr>
        <p:spPr>
          <a:xfrm>
            <a:off x="8595360" y="3886200"/>
            <a:ext cx="0" cy="1124712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5" name="Element 105"/>
          <p:cNvSpPr/>
          <p:nvPr/>
        </p:nvSpPr>
        <p:spPr>
          <a:xfrm>
            <a:off x="8394192" y="501091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7498080" y="54864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Front</a:t>
            </a:r>
          </a:p>
        </p:txBody>
      </p:sp>
      <p:cxnSp>
        <p:nvCxnSpPr>
          <p:cNvPr id="107" name="Linia 107"/>
          <p:cNvCxnSpPr/>
          <p:nvPr/>
        </p:nvCxnSpPr>
        <p:spPr>
          <a:xfrm>
            <a:off x="9052560" y="3429000"/>
            <a:ext cx="1124712" cy="0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8" name="Element 108"/>
          <p:cNvSpPr/>
          <p:nvPr/>
        </p:nvSpPr>
        <p:spPr>
          <a:xfrm>
            <a:off x="10177272" y="322783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10652760" y="324612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404040"/>
                </a:solidFill>
                <a:latin typeface="+mn-lt"/>
              </a:rPr>
              <a:t>Side</a:t>
            </a:r>
          </a:p>
        </p:txBody>
      </p:sp>
      <p:cxnSp>
        <p:nvCxnSpPr>
          <p:cNvPr id="110" name="Linia 110"/>
          <p:cNvCxnSpPr/>
          <p:nvPr/>
        </p:nvCxnSpPr>
        <p:spPr>
          <a:xfrm>
            <a:off x="8595360" y="1847088"/>
            <a:ext cx="0" cy="1124712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11" name="Element 111"/>
          <p:cNvSpPr/>
          <p:nvPr/>
        </p:nvSpPr>
        <p:spPr>
          <a:xfrm>
            <a:off x="8394192" y="144475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7498080" y="11430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Back</a:t>
            </a:r>
          </a:p>
        </p:txBody>
      </p:sp>
      <p:cxnSp>
        <p:nvCxnSpPr>
          <p:cNvPr id="113" name="Linia 113"/>
          <p:cNvCxnSpPr/>
          <p:nvPr/>
        </p:nvCxnSpPr>
        <p:spPr>
          <a:xfrm>
            <a:off x="7476779" y="2310419"/>
            <a:ext cx="795291" cy="795291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14" name="Element 114"/>
          <p:cNvSpPr/>
          <p:nvPr/>
        </p:nvSpPr>
        <p:spPr>
          <a:xfrm>
            <a:off x="7133364" y="1967004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5" name="Element 115"/>
          <p:cNvSpPr/>
          <p:nvPr/>
        </p:nvSpPr>
        <p:spPr>
          <a:xfrm>
            <a:off x="5871492" y="166525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600" b="0" dirty="0">
                <a:solidFill>
                  <a:srgbClr val="404040"/>
                </a:solidFill>
                <a:latin typeface="+mn-lt"/>
              </a:rPr>
              <a:t>Counter</a:t>
            </a:r>
          </a:p>
        </p:txBody>
      </p:sp>
      <p:cxnSp>
        <p:nvCxnSpPr>
          <p:cNvPr id="116" name="Linia 116"/>
          <p:cNvCxnSpPr/>
          <p:nvPr/>
        </p:nvCxnSpPr>
        <p:spPr>
          <a:xfrm flipV="1">
            <a:off x="8918649" y="2310419"/>
            <a:ext cx="795291" cy="795291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17" name="Element 117"/>
          <p:cNvSpPr/>
          <p:nvPr/>
        </p:nvSpPr>
        <p:spPr>
          <a:xfrm>
            <a:off x="9655020" y="1967004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8" name="Element 118"/>
          <p:cNvSpPr/>
          <p:nvPr/>
        </p:nvSpPr>
        <p:spPr>
          <a:xfrm>
            <a:off x="10130508" y="1665252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404040"/>
                </a:solidFill>
                <a:latin typeface="+mn-lt"/>
              </a:rPr>
              <a:t>Top (z góry)</a:t>
            </a:r>
          </a:p>
        </p:txBody>
      </p:sp>
      <p:sp>
        <p:nvSpPr>
          <p:cNvPr id="119" name="Element 119"/>
          <p:cNvSpPr/>
          <p:nvPr/>
        </p:nvSpPr>
        <p:spPr>
          <a:xfrm>
            <a:off x="8229600" y="5897880"/>
            <a:ext cx="731520" cy="411480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404040"/>
                </a:solidFill>
                <a:latin typeface="+mn-lt"/>
              </a:rPr>
              <a:t>kamera</a:t>
            </a:r>
          </a:p>
        </p:txBody>
      </p:sp>
    </p:spTree>
    <p:extLst>
      <p:ext uri="{BB962C8B-B14F-4D97-AF65-F5344CB8AC3E}">
        <p14:creationId xmlns:p14="http://schemas.microsoft.com/office/powerpoint/2010/main" val="2777422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93989-54C2-F8C8-8681-BB49B423A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Soft light i hard 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08A3E-8778-5306-9407-265716FDA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Soft — softbox, parasolka</a:t>
            </a:r>
          </a:p>
          <a:p>
            <a:r>
              <a:rPr lang="pl-PL" dirty="0"/>
              <a:t>Hard — reflektor, gobo</a:t>
            </a:r>
          </a:p>
          <a:p>
            <a:r>
              <a:rPr lang="pl-PL" dirty="0"/>
              <a:t>Miękkie przejścia vs mocne cienie</a:t>
            </a:r>
          </a:p>
          <a:p>
            <a:r>
              <a:rPr lang="pl-PL" dirty="0"/>
              <a:t>Światło dobieramy do celu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0976D2-A506-5919-AA10-4B60A654F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B4AB93-C763-BF4E-595A-F61FDAEB0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9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492240" y="201168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446520" y="3714750"/>
            <a:ext cx="2103120" cy="525780"/>
          </a:xfrm>
          <a:prstGeom prst="ellipse">
            <a:avLst/>
          </a:prstGeom>
          <a:solidFill>
            <a:srgbClr val="404040">
              <a:alpha val="15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6629400" y="3760470"/>
            <a:ext cx="1737360" cy="434340"/>
          </a:xfrm>
          <a:prstGeom prst="ellipse">
            <a:avLst/>
          </a:prstGeom>
          <a:solidFill>
            <a:srgbClr val="404040">
              <a:alpha val="22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6812280" y="3806190"/>
            <a:ext cx="1371600" cy="342900"/>
          </a:xfrm>
          <a:prstGeom prst="ellipse">
            <a:avLst/>
          </a:prstGeom>
          <a:solidFill>
            <a:srgbClr val="404040">
              <a:alpha val="35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6126480" y="466344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2000" b="1" dirty="0">
                <a:solidFill>
                  <a:srgbClr val="404040"/>
                </a:solidFill>
                <a:latin typeface="+mn-lt"/>
              </a:rPr>
              <a:t>SOFT</a:t>
            </a:r>
          </a:p>
        </p:txBody>
      </p:sp>
      <p:sp>
        <p:nvSpPr>
          <p:cNvPr id="106" name="Element 106"/>
          <p:cNvSpPr/>
          <p:nvPr/>
        </p:nvSpPr>
        <p:spPr>
          <a:xfrm>
            <a:off x="9326880" y="201168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9646920" y="3803904"/>
            <a:ext cx="1371600" cy="347472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8961120" y="466344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2000" b="1" dirty="0">
                <a:solidFill>
                  <a:srgbClr val="404040"/>
                </a:solidFill>
                <a:latin typeface="+mn-lt"/>
              </a:rPr>
              <a:t>HARD</a:t>
            </a:r>
          </a:p>
        </p:txBody>
      </p:sp>
    </p:spTree>
    <p:extLst>
      <p:ext uri="{BB962C8B-B14F-4D97-AF65-F5344CB8AC3E}">
        <p14:creationId xmlns:p14="http://schemas.microsoft.com/office/powerpoint/2010/main" val="249264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D8F5C-3571-4B6D-27AA-DD6322DA9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Modyfikatory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86607-DB87-6250-A859-D5F6E12A8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b="1" dirty="0"/>
              <a:t>Zmiękczające</a:t>
            </a:r>
          </a:p>
          <a:p>
            <a:r>
              <a:rPr lang="pl-PL" dirty="0"/>
              <a:t>Softboxy, lanterny, octy</a:t>
            </a:r>
          </a:p>
          <a:p>
            <a:r>
              <a:rPr lang="pl-PL" b="1" dirty="0"/>
              <a:t>Kierunkowe</a:t>
            </a:r>
          </a:p>
          <a:p>
            <a:r>
              <a:rPr lang="pl-PL" dirty="0"/>
              <a:t>Fresnel, spotlight, strumienica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5E9E48-3888-6E57-E112-751C5C25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A0D6DC-0863-D15B-C760-DB49A23B4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10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 rot="16200000">
            <a:off x="6217920" y="2331720"/>
            <a:ext cx="1463040" cy="1005840"/>
          </a:xfrm>
          <a:prstGeom prst="trapezoid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cxnSp>
        <p:nvCxnSpPr>
          <p:cNvPr id="102" name="Linia 102"/>
          <p:cNvCxnSpPr/>
          <p:nvPr/>
        </p:nvCxnSpPr>
        <p:spPr>
          <a:xfrm flipV="1">
            <a:off x="7498080" y="1828800"/>
            <a:ext cx="1554480" cy="653796"/>
          </a:xfrm>
          <a:prstGeom prst="line">
            <a:avLst/>
          </a:prstGeom>
          <a:ln w="15875">
            <a:solidFill>
              <a:srgbClr val="E3B18D"/>
            </a:solidFill>
            <a:prstDash val="dash"/>
          </a:ln>
        </p:spPr>
      </p:cxnSp>
      <p:cxnSp>
        <p:nvCxnSpPr>
          <p:cNvPr id="103" name="Linia 103"/>
          <p:cNvCxnSpPr/>
          <p:nvPr/>
        </p:nvCxnSpPr>
        <p:spPr>
          <a:xfrm flipV="1">
            <a:off x="7498080" y="2377440"/>
            <a:ext cx="1554480" cy="297180"/>
          </a:xfrm>
          <a:prstGeom prst="line">
            <a:avLst/>
          </a:prstGeom>
          <a:ln w="15875">
            <a:solidFill>
              <a:srgbClr val="E3B18D"/>
            </a:solidFill>
            <a:prstDash val="dash"/>
          </a:ln>
        </p:spPr>
      </p:cxnSp>
      <p:cxnSp>
        <p:nvCxnSpPr>
          <p:cNvPr id="104" name="Linia 104"/>
          <p:cNvCxnSpPr/>
          <p:nvPr/>
        </p:nvCxnSpPr>
        <p:spPr>
          <a:xfrm>
            <a:off x="7498080" y="2834640"/>
            <a:ext cx="1554480" cy="0"/>
          </a:xfrm>
          <a:prstGeom prst="line">
            <a:avLst/>
          </a:prstGeom>
          <a:ln w="15875">
            <a:solidFill>
              <a:srgbClr val="E3B18D"/>
            </a:solidFill>
            <a:prstDash val="dash"/>
          </a:ln>
        </p:spPr>
      </p:cxnSp>
      <p:cxnSp>
        <p:nvCxnSpPr>
          <p:cNvPr id="105" name="Linia 105"/>
          <p:cNvCxnSpPr/>
          <p:nvPr/>
        </p:nvCxnSpPr>
        <p:spPr>
          <a:xfrm>
            <a:off x="7498080" y="2994660"/>
            <a:ext cx="1554480" cy="297180"/>
          </a:xfrm>
          <a:prstGeom prst="line">
            <a:avLst/>
          </a:prstGeom>
          <a:ln w="15875">
            <a:solidFill>
              <a:srgbClr val="E3B18D"/>
            </a:solidFill>
            <a:prstDash val="dash"/>
          </a:ln>
        </p:spPr>
      </p:cxnSp>
      <p:cxnSp>
        <p:nvCxnSpPr>
          <p:cNvPr id="106" name="Linia 106"/>
          <p:cNvCxnSpPr/>
          <p:nvPr/>
        </p:nvCxnSpPr>
        <p:spPr>
          <a:xfrm>
            <a:off x="7498080" y="3186684"/>
            <a:ext cx="1554480" cy="653796"/>
          </a:xfrm>
          <a:prstGeom prst="line">
            <a:avLst/>
          </a:prstGeom>
          <a:ln w="15875">
            <a:solidFill>
              <a:srgbClr val="E3B18D"/>
            </a:solidFill>
            <a:prstDash val="dash"/>
          </a:ln>
        </p:spPr>
      </p:cxnSp>
      <p:sp>
        <p:nvSpPr>
          <p:cNvPr id="107" name="Element 107"/>
          <p:cNvSpPr/>
          <p:nvPr/>
        </p:nvSpPr>
        <p:spPr>
          <a:xfrm>
            <a:off x="6217920" y="41148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softbox, oct</a:t>
            </a:r>
          </a:p>
        </p:txBody>
      </p:sp>
      <p:sp>
        <p:nvSpPr>
          <p:cNvPr id="108" name="Element 108"/>
          <p:cNvSpPr/>
          <p:nvPr/>
        </p:nvSpPr>
        <p:spPr>
          <a:xfrm>
            <a:off x="9400032" y="2633472"/>
            <a:ext cx="402336" cy="402336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cxnSp>
        <p:nvCxnSpPr>
          <p:cNvPr id="109" name="Linia 109"/>
          <p:cNvCxnSpPr/>
          <p:nvPr/>
        </p:nvCxnSpPr>
        <p:spPr>
          <a:xfrm flipV="1">
            <a:off x="9784080" y="2560320"/>
            <a:ext cx="1737360" cy="18288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10" name="Linia 110"/>
          <p:cNvCxnSpPr/>
          <p:nvPr/>
        </p:nvCxnSpPr>
        <p:spPr>
          <a:xfrm>
            <a:off x="9784080" y="2926080"/>
            <a:ext cx="1737360" cy="18288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sp>
        <p:nvSpPr>
          <p:cNvPr id="111" name="Element 111"/>
          <p:cNvSpPr/>
          <p:nvPr/>
        </p:nvSpPr>
        <p:spPr>
          <a:xfrm>
            <a:off x="9144000" y="411480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fresnel, spot</a:t>
            </a:r>
          </a:p>
        </p:txBody>
      </p:sp>
      <p:sp>
        <p:nvSpPr>
          <p:cNvPr id="112" name="Element 112"/>
          <p:cNvSpPr/>
          <p:nvPr/>
        </p:nvSpPr>
        <p:spPr>
          <a:xfrm>
            <a:off x="6217920" y="14630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800" b="1" dirty="0">
                <a:solidFill>
                  <a:srgbClr val="404040"/>
                </a:solidFill>
                <a:latin typeface="+mn-lt"/>
              </a:rPr>
              <a:t>miękko</a:t>
            </a:r>
          </a:p>
        </p:txBody>
      </p:sp>
      <p:sp>
        <p:nvSpPr>
          <p:cNvPr id="113" name="Element 113"/>
          <p:cNvSpPr/>
          <p:nvPr/>
        </p:nvSpPr>
        <p:spPr>
          <a:xfrm>
            <a:off x="9144000" y="14630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800" b="1" dirty="0">
                <a:solidFill>
                  <a:srgbClr val="404040"/>
                </a:solidFill>
                <a:latin typeface="+mn-lt"/>
              </a:rPr>
              <a:t>kierunkowo</a:t>
            </a:r>
          </a:p>
        </p:txBody>
      </p:sp>
    </p:spTree>
    <p:extLst>
      <p:ext uri="{BB962C8B-B14F-4D97-AF65-F5344CB8AC3E}">
        <p14:creationId xmlns:p14="http://schemas.microsoft.com/office/powerpoint/2010/main" val="3674534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88E3C-43D5-EE75-B533-7AB61B92E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Blenda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9C4CC-D103-A5A6-F908-511676C3D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Biała — delikatne odbicie</a:t>
            </a:r>
          </a:p>
          <a:p>
            <a:r>
              <a:rPr lang="pl-PL" dirty="0"/>
              <a:t>Srebrna — mocniejsze odbicie</a:t>
            </a:r>
          </a:p>
          <a:p>
            <a:r>
              <a:rPr lang="pl-PL" dirty="0"/>
              <a:t>Złota — cieplejszy efekt</a:t>
            </a:r>
          </a:p>
          <a:p>
            <a:r>
              <a:rPr lang="pl-PL" dirty="0"/>
              <a:t>Blenda działa jako fill light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08FF6F-ABE8-26F2-7F71-2943F4420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5AD85E-EAA7-43D1-3ED7-A9489E3BA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11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492240" y="246888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400800" y="42062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0" dirty="0">
                <a:solidFill>
                  <a:srgbClr val="404040"/>
                </a:solidFill>
                <a:latin typeface="+mn-lt"/>
              </a:rPr>
              <a:t>biała</a:t>
            </a:r>
          </a:p>
        </p:txBody>
      </p:sp>
      <p:sp>
        <p:nvSpPr>
          <p:cNvPr id="103" name="Element 103"/>
          <p:cNvSpPr/>
          <p:nvPr/>
        </p:nvSpPr>
        <p:spPr>
          <a:xfrm>
            <a:off x="8321040" y="2468880"/>
            <a:ext cx="1463040" cy="1463040"/>
          </a:xfrm>
          <a:prstGeom prst="ellipse">
            <a:avLst/>
          </a:prstGeom>
          <a:solidFill>
            <a:srgbClr val="C9CDD2"/>
          </a:solidFill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8229600" y="42062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0" dirty="0">
                <a:solidFill>
                  <a:srgbClr val="404040"/>
                </a:solidFill>
                <a:latin typeface="+mn-lt"/>
              </a:rPr>
              <a:t>srebrna</a:t>
            </a:r>
          </a:p>
        </p:txBody>
      </p:sp>
      <p:sp>
        <p:nvSpPr>
          <p:cNvPr id="105" name="Element 105"/>
          <p:cNvSpPr/>
          <p:nvPr/>
        </p:nvSpPr>
        <p:spPr>
          <a:xfrm>
            <a:off x="10149840" y="2468880"/>
            <a:ext cx="1463040" cy="1463040"/>
          </a:xfrm>
          <a:prstGeom prst="ellipse">
            <a:avLst/>
          </a:prstGeom>
          <a:solidFill>
            <a:srgbClr val="E8B84A"/>
          </a:solidFill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10058400" y="420624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800" b="0" dirty="0">
                <a:solidFill>
                  <a:srgbClr val="404040"/>
                </a:solidFill>
                <a:latin typeface="+mn-lt"/>
              </a:rPr>
              <a:t>złota</a:t>
            </a:r>
          </a:p>
        </p:txBody>
      </p:sp>
      <p:sp>
        <p:nvSpPr>
          <p:cNvPr id="107" name="Element 107"/>
          <p:cNvSpPr/>
          <p:nvPr/>
        </p:nvSpPr>
        <p:spPr>
          <a:xfrm>
            <a:off x="6400800" y="493776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coraz mocniejsze / cieplejsze odbicie</a:t>
            </a:r>
          </a:p>
        </p:txBody>
      </p:sp>
    </p:spTree>
    <p:extLst>
      <p:ext uri="{BB962C8B-B14F-4D97-AF65-F5344CB8AC3E}">
        <p14:creationId xmlns:p14="http://schemas.microsoft.com/office/powerpoint/2010/main" val="1508779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19116-1E94-BB68-20A0-43DB5D2EF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Trzy źródła światła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8916B-0BB7-AB61-31ED-25DB612E8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Key light — główne światło</a:t>
            </a:r>
          </a:p>
          <a:p>
            <a:r>
              <a:rPr lang="pl-PL" dirty="0"/>
              <a:t>Fill light — kontrola cieni</a:t>
            </a:r>
          </a:p>
          <a:p>
            <a:r>
              <a:rPr lang="pl-PL" dirty="0"/>
              <a:t>Rim / back / counter light — separacja od tła</a:t>
            </a:r>
          </a:p>
          <a:p>
            <a:r>
              <a:rPr lang="pl-PL" dirty="0"/>
              <a:t>Balans mocy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D946B5-FA5E-ABDF-838F-0C9F9F192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B70D42-E6C4-7C56-4CDA-87A9E31EE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12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812280" y="1645920"/>
            <a:ext cx="3566160" cy="3566160"/>
          </a:xfrm>
          <a:prstGeom prst="ellipse">
            <a:avLst/>
          </a:prstGeom>
          <a:noFill/>
          <a:ln w="15875">
            <a:solidFill>
              <a:srgbClr val="E3B18D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8138160" y="2971800"/>
            <a:ext cx="914400" cy="9144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8138160" y="3246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FFFFFF"/>
                </a:solidFill>
                <a:latin typeface="+mn-lt"/>
              </a:rPr>
              <a:t>model</a:t>
            </a:r>
          </a:p>
        </p:txBody>
      </p:sp>
      <p:cxnSp>
        <p:nvCxnSpPr>
          <p:cNvPr id="104" name="Linia 104"/>
          <p:cNvCxnSpPr/>
          <p:nvPr/>
        </p:nvCxnSpPr>
        <p:spPr>
          <a:xfrm flipV="1">
            <a:off x="7476779" y="3752289"/>
            <a:ext cx="795291" cy="795291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5" name="Element 105"/>
          <p:cNvSpPr/>
          <p:nvPr/>
        </p:nvSpPr>
        <p:spPr>
          <a:xfrm>
            <a:off x="7060212" y="4415508"/>
            <a:ext cx="548640" cy="54864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5871492" y="496414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pl-PL" sz="1600" b="0" dirty="0">
                <a:solidFill>
                  <a:srgbClr val="404040"/>
                </a:solidFill>
                <a:latin typeface="+mn-lt"/>
              </a:rPr>
              <a:t>Key</a:t>
            </a:r>
          </a:p>
        </p:txBody>
      </p:sp>
      <p:cxnSp>
        <p:nvCxnSpPr>
          <p:cNvPr id="107" name="Linia 107"/>
          <p:cNvCxnSpPr/>
          <p:nvPr/>
        </p:nvCxnSpPr>
        <p:spPr>
          <a:xfrm>
            <a:off x="8918649" y="3752289"/>
            <a:ext cx="795291" cy="795291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8" name="Element 108"/>
          <p:cNvSpPr/>
          <p:nvPr/>
        </p:nvSpPr>
        <p:spPr>
          <a:xfrm>
            <a:off x="9691596" y="4525236"/>
            <a:ext cx="329184" cy="329184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10130508" y="4964148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404040"/>
                </a:solidFill>
                <a:latin typeface="+mn-lt"/>
              </a:rPr>
              <a:t>Fill</a:t>
            </a:r>
          </a:p>
        </p:txBody>
      </p:sp>
      <p:cxnSp>
        <p:nvCxnSpPr>
          <p:cNvPr id="110" name="Linia 110"/>
          <p:cNvCxnSpPr/>
          <p:nvPr/>
        </p:nvCxnSpPr>
        <p:spPr>
          <a:xfrm>
            <a:off x="8595360" y="1847088"/>
            <a:ext cx="0" cy="1124712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11" name="Element 111"/>
          <p:cNvSpPr/>
          <p:nvPr/>
        </p:nvSpPr>
        <p:spPr>
          <a:xfrm>
            <a:off x="8394192" y="144475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7498080" y="11430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Rim / back / counter</a:t>
            </a:r>
          </a:p>
        </p:txBody>
      </p:sp>
      <p:sp>
        <p:nvSpPr>
          <p:cNvPr id="113" name="Element 113"/>
          <p:cNvSpPr/>
          <p:nvPr/>
        </p:nvSpPr>
        <p:spPr>
          <a:xfrm>
            <a:off x="8229600" y="5897880"/>
            <a:ext cx="731520" cy="411480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404040"/>
                </a:solidFill>
                <a:latin typeface="+mn-lt"/>
              </a:rPr>
              <a:t>kamera</a:t>
            </a:r>
          </a:p>
        </p:txBody>
      </p:sp>
    </p:spTree>
    <p:extLst>
      <p:ext uri="{BB962C8B-B14F-4D97-AF65-F5344CB8AC3E}">
        <p14:creationId xmlns:p14="http://schemas.microsoft.com/office/powerpoint/2010/main" val="631673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9B74B-BCF9-74DD-59F5-DE82981A3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Najczęstsze błędy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E3872-89CF-01FA-8AF7-B426CD334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Prześwietlenie</a:t>
            </a:r>
          </a:p>
          <a:p>
            <a:r>
              <a:rPr lang="pl-PL" dirty="0"/>
              <a:t>Niedoświetlenie</a:t>
            </a:r>
          </a:p>
          <a:p>
            <a:r>
              <a:rPr lang="pl-PL" dirty="0"/>
              <a:t>Zły balans bieli</a:t>
            </a:r>
          </a:p>
          <a:p>
            <a:r>
              <a:rPr lang="pl-PL" dirty="0"/>
              <a:t>Niepotrzebne odbicia</a:t>
            </a:r>
          </a:p>
          <a:p>
            <a:r>
              <a:rPr lang="pl-PL" dirty="0"/>
              <a:t>Bałagan w tle</a:t>
            </a:r>
          </a:p>
          <a:p>
            <a:r>
              <a:rPr lang="pl-PL" dirty="0"/>
              <a:t>Migotanie światła w wideo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C72CD-79CB-93DA-2519-5E89D9121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F8C5C5-4DE5-1431-46B2-9942F962D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13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126480" y="2011680"/>
            <a:ext cx="1645920" cy="2103120"/>
          </a:xfrm>
          <a:prstGeom prst="rect">
            <a:avLst/>
          </a:prstGeom>
          <a:noFill/>
          <a:ln w="1905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263640" y="2286000"/>
            <a:ext cx="146304" cy="16459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6437376" y="2560320"/>
            <a:ext cx="146304" cy="13716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6611112" y="3017520"/>
            <a:ext cx="146304" cy="9144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6784848" y="3383280"/>
            <a:ext cx="146304" cy="5486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6958584" y="3611880"/>
            <a:ext cx="146304" cy="3200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7132320" y="3749040"/>
            <a:ext cx="146304" cy="1828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7306056" y="3840480"/>
            <a:ext cx="146304" cy="914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7479792" y="3886200"/>
            <a:ext cx="146304" cy="457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0" name="Element 110"/>
          <p:cNvSpPr/>
          <p:nvPr/>
        </p:nvSpPr>
        <p:spPr>
          <a:xfrm>
            <a:off x="6126480" y="425196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za ciemno</a:t>
            </a:r>
          </a:p>
        </p:txBody>
      </p:sp>
      <p:sp>
        <p:nvSpPr>
          <p:cNvPr id="111" name="Element 111"/>
          <p:cNvSpPr/>
          <p:nvPr/>
        </p:nvSpPr>
        <p:spPr>
          <a:xfrm>
            <a:off x="7955280" y="2011680"/>
            <a:ext cx="1645920" cy="2103120"/>
          </a:xfrm>
          <a:prstGeom prst="rect">
            <a:avLst/>
          </a:prstGeom>
          <a:noFill/>
          <a:ln w="1905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8092440" y="3749040"/>
            <a:ext cx="146304" cy="1828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3" name="Element 113"/>
          <p:cNvSpPr/>
          <p:nvPr/>
        </p:nvSpPr>
        <p:spPr>
          <a:xfrm>
            <a:off x="8266176" y="3474720"/>
            <a:ext cx="146304" cy="4572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4" name="Element 114"/>
          <p:cNvSpPr/>
          <p:nvPr/>
        </p:nvSpPr>
        <p:spPr>
          <a:xfrm>
            <a:off x="8439912" y="3108960"/>
            <a:ext cx="146304" cy="82296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5" name="Element 115"/>
          <p:cNvSpPr/>
          <p:nvPr/>
        </p:nvSpPr>
        <p:spPr>
          <a:xfrm>
            <a:off x="8613648" y="2651760"/>
            <a:ext cx="146304" cy="128016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6" name="Element 116"/>
          <p:cNvSpPr/>
          <p:nvPr/>
        </p:nvSpPr>
        <p:spPr>
          <a:xfrm>
            <a:off x="8787384" y="2651760"/>
            <a:ext cx="146304" cy="128016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7" name="Element 117"/>
          <p:cNvSpPr/>
          <p:nvPr/>
        </p:nvSpPr>
        <p:spPr>
          <a:xfrm>
            <a:off x="8961120" y="3108960"/>
            <a:ext cx="146304" cy="82296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8" name="Element 118"/>
          <p:cNvSpPr/>
          <p:nvPr/>
        </p:nvSpPr>
        <p:spPr>
          <a:xfrm>
            <a:off x="9134856" y="3474720"/>
            <a:ext cx="146304" cy="4572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9" name="Element 119"/>
          <p:cNvSpPr/>
          <p:nvPr/>
        </p:nvSpPr>
        <p:spPr>
          <a:xfrm>
            <a:off x="9308592" y="3749040"/>
            <a:ext cx="146304" cy="1828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0" name="Element 120"/>
          <p:cNvSpPr/>
          <p:nvPr/>
        </p:nvSpPr>
        <p:spPr>
          <a:xfrm>
            <a:off x="7955280" y="425196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OK</a:t>
            </a:r>
          </a:p>
        </p:txBody>
      </p:sp>
      <p:sp>
        <p:nvSpPr>
          <p:cNvPr id="121" name="Element 121"/>
          <p:cNvSpPr/>
          <p:nvPr/>
        </p:nvSpPr>
        <p:spPr>
          <a:xfrm>
            <a:off x="9784080" y="2011680"/>
            <a:ext cx="1645920" cy="2103120"/>
          </a:xfrm>
          <a:prstGeom prst="rect">
            <a:avLst/>
          </a:prstGeom>
          <a:noFill/>
          <a:ln w="1905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22" name="Element 122"/>
          <p:cNvSpPr/>
          <p:nvPr/>
        </p:nvSpPr>
        <p:spPr>
          <a:xfrm>
            <a:off x="9921240" y="3886200"/>
            <a:ext cx="146304" cy="457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3" name="Element 123"/>
          <p:cNvSpPr/>
          <p:nvPr/>
        </p:nvSpPr>
        <p:spPr>
          <a:xfrm>
            <a:off x="10094976" y="3840480"/>
            <a:ext cx="146304" cy="914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4" name="Element 124"/>
          <p:cNvSpPr/>
          <p:nvPr/>
        </p:nvSpPr>
        <p:spPr>
          <a:xfrm>
            <a:off x="10268712" y="3749040"/>
            <a:ext cx="146304" cy="18288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5" name="Element 125"/>
          <p:cNvSpPr/>
          <p:nvPr/>
        </p:nvSpPr>
        <p:spPr>
          <a:xfrm>
            <a:off x="10442448" y="3611880"/>
            <a:ext cx="146304" cy="3200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6" name="Element 126"/>
          <p:cNvSpPr/>
          <p:nvPr/>
        </p:nvSpPr>
        <p:spPr>
          <a:xfrm>
            <a:off x="10616184" y="3383280"/>
            <a:ext cx="146304" cy="54864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7" name="Element 127"/>
          <p:cNvSpPr/>
          <p:nvPr/>
        </p:nvSpPr>
        <p:spPr>
          <a:xfrm>
            <a:off x="10789920" y="3017520"/>
            <a:ext cx="146304" cy="9144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8" name="Element 128"/>
          <p:cNvSpPr/>
          <p:nvPr/>
        </p:nvSpPr>
        <p:spPr>
          <a:xfrm>
            <a:off x="10963656" y="2560320"/>
            <a:ext cx="146304" cy="137160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9" name="Element 129"/>
          <p:cNvSpPr/>
          <p:nvPr/>
        </p:nvSpPr>
        <p:spPr>
          <a:xfrm>
            <a:off x="11137392" y="2286000"/>
            <a:ext cx="146304" cy="16459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30" name="Element 130"/>
          <p:cNvSpPr/>
          <p:nvPr/>
        </p:nvSpPr>
        <p:spPr>
          <a:xfrm>
            <a:off x="9784080" y="425196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za jasno</a:t>
            </a:r>
          </a:p>
        </p:txBody>
      </p:sp>
      <p:sp>
        <p:nvSpPr>
          <p:cNvPr id="131" name="Element 131"/>
          <p:cNvSpPr/>
          <p:nvPr/>
        </p:nvSpPr>
        <p:spPr>
          <a:xfrm>
            <a:off x="6126480" y="484632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histogram: zły i dobry rozkład</a:t>
            </a:r>
          </a:p>
        </p:txBody>
      </p:sp>
    </p:spTree>
    <p:extLst>
      <p:ext uri="{BB962C8B-B14F-4D97-AF65-F5344CB8AC3E}">
        <p14:creationId xmlns:p14="http://schemas.microsoft.com/office/powerpoint/2010/main" val="1322217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68B15-B057-BAB7-1BF0-F88D5D669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Praca z modelem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97FA0-7E4C-86E8-D400-36CACE0D5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Kierunek ciała</a:t>
            </a:r>
          </a:p>
          <a:p>
            <a:r>
              <a:rPr lang="pl-PL" dirty="0"/>
              <a:t>Ułożenie głowy</a:t>
            </a:r>
          </a:p>
          <a:p>
            <a:r>
              <a:rPr lang="pl-PL" dirty="0"/>
              <a:t>Wzrok</a:t>
            </a:r>
          </a:p>
          <a:p>
            <a:r>
              <a:rPr lang="pl-PL" dirty="0"/>
              <a:t>Dłonie</a:t>
            </a:r>
          </a:p>
          <a:p>
            <a:r>
              <a:rPr lang="pl-PL" dirty="0"/>
              <a:t>Jasne komunikaty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D5B169-FCDA-574B-450D-54635396B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BC4D1C-7493-C852-3A6C-0E96CFD57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14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 rot="-2100000">
            <a:off x="7406640" y="2697480"/>
            <a:ext cx="2377440" cy="640080"/>
          </a:xfrm>
          <a:prstGeom prst="ellipse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8321040" y="2743200"/>
            <a:ext cx="548640" cy="54864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 rot="10800000">
            <a:off x="8485632" y="3246120"/>
            <a:ext cx="237744" cy="274320"/>
          </a:xfrm>
          <a:prstGeom prst="triangl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8183880" y="5029200"/>
            <a:ext cx="822960" cy="411480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404040"/>
                </a:solidFill>
                <a:latin typeface="+mn-lt"/>
              </a:rPr>
              <a:t>kamera</a:t>
            </a:r>
          </a:p>
        </p:txBody>
      </p:sp>
      <p:cxnSp>
        <p:nvCxnSpPr>
          <p:cNvPr id="105" name="Linia 105"/>
          <p:cNvCxnSpPr/>
          <p:nvPr/>
        </p:nvCxnSpPr>
        <p:spPr>
          <a:xfrm>
            <a:off x="8595360" y="3566160"/>
            <a:ext cx="0" cy="1463040"/>
          </a:xfrm>
          <a:prstGeom prst="line">
            <a:avLst/>
          </a:prstGeom>
          <a:ln w="19050">
            <a:solidFill>
              <a:srgbClr val="E3B18D"/>
            </a:solidFill>
            <a:prstDash val="dash"/>
          </a:ln>
        </p:spPr>
      </p:cxnSp>
      <p:sp>
        <p:nvSpPr>
          <p:cNvPr id="106" name="Element 106"/>
          <p:cNvSpPr/>
          <p:nvPr/>
        </p:nvSpPr>
        <p:spPr>
          <a:xfrm>
            <a:off x="8778240" y="411480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oś kamery</a:t>
            </a:r>
          </a:p>
        </p:txBody>
      </p:sp>
      <p:cxnSp>
        <p:nvCxnSpPr>
          <p:cNvPr id="107" name="Linia 107"/>
          <p:cNvCxnSpPr/>
          <p:nvPr/>
        </p:nvCxnSpPr>
        <p:spPr>
          <a:xfrm flipV="1">
            <a:off x="9573768" y="2011680"/>
            <a:ext cx="484632" cy="320040"/>
          </a:xfrm>
          <a:prstGeom prst="line">
            <a:avLst/>
          </a:prstGeom>
          <a:ln w="12700">
            <a:solidFill>
              <a:srgbClr val="8A8A8A"/>
            </a:solidFill>
          </a:ln>
        </p:spPr>
      </p:cxnSp>
      <p:sp>
        <p:nvSpPr>
          <p:cNvPr id="108" name="Element 108"/>
          <p:cNvSpPr/>
          <p:nvPr/>
        </p:nvSpPr>
        <p:spPr>
          <a:xfrm>
            <a:off x="10104120" y="18288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8A8A8A"/>
                </a:solidFill>
                <a:latin typeface="+mn-lt"/>
              </a:rPr>
              <a:t>linia barków</a:t>
            </a:r>
          </a:p>
        </p:txBody>
      </p:sp>
      <p:cxnSp>
        <p:nvCxnSpPr>
          <p:cNvPr id="109" name="Linia 109"/>
          <p:cNvCxnSpPr/>
          <p:nvPr/>
        </p:nvCxnSpPr>
        <p:spPr>
          <a:xfrm>
            <a:off x="8869680" y="2880360"/>
            <a:ext cx="1188720" cy="0"/>
          </a:xfrm>
          <a:prstGeom prst="line">
            <a:avLst/>
          </a:prstGeom>
          <a:ln w="12700">
            <a:solidFill>
              <a:srgbClr val="8A8A8A"/>
            </a:solidFill>
          </a:ln>
        </p:spPr>
      </p:cxnSp>
      <p:sp>
        <p:nvSpPr>
          <p:cNvPr id="110" name="Element 110"/>
          <p:cNvSpPr/>
          <p:nvPr/>
        </p:nvSpPr>
        <p:spPr>
          <a:xfrm>
            <a:off x="10104120" y="26974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8A8A8A"/>
                </a:solidFill>
                <a:latin typeface="+mn-lt"/>
              </a:rPr>
              <a:t>głowa i wzrok</a:t>
            </a:r>
          </a:p>
        </p:txBody>
      </p:sp>
      <p:sp>
        <p:nvSpPr>
          <p:cNvPr id="111" name="Element 111"/>
          <p:cNvSpPr/>
          <p:nvPr/>
        </p:nvSpPr>
        <p:spPr>
          <a:xfrm>
            <a:off x="6309360" y="146304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widok z góry: ciało lekko skręcone do kamery</a:t>
            </a:r>
          </a:p>
        </p:txBody>
      </p:sp>
    </p:spTree>
    <p:extLst>
      <p:ext uri="{BB962C8B-B14F-4D97-AF65-F5344CB8AC3E}">
        <p14:creationId xmlns:p14="http://schemas.microsoft.com/office/powerpoint/2010/main" val="1926785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6EFAF-E81A-21EF-DB2E-8CA6CB7D1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Kontrast i negative fill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5933E-34F2-FA99-98AF-A95F6B6C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Kontrolowane zabieranie światła</a:t>
            </a:r>
          </a:p>
          <a:p>
            <a:r>
              <a:rPr lang="pl-PL" dirty="0"/>
              <a:t>Flagi, negatywy, flopy</a:t>
            </a:r>
          </a:p>
          <a:p>
            <a:r>
              <a:rPr lang="pl-PL" dirty="0"/>
              <a:t>Dostosowanie kontrastu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18F6A0-E188-77C0-388E-DB8F74C8B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D58810-057A-1CC9-B688-B90B3DF87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15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8046720" y="2880360"/>
            <a:ext cx="1097280" cy="10972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8046720" y="324612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FFFFFF"/>
                </a:solidFill>
                <a:latin typeface="+mn-lt"/>
              </a:rPr>
              <a:t>model</a:t>
            </a:r>
          </a:p>
        </p:txBody>
      </p:sp>
      <p:sp>
        <p:nvSpPr>
          <p:cNvPr id="103" name="Element 103"/>
          <p:cNvSpPr/>
          <p:nvPr/>
        </p:nvSpPr>
        <p:spPr>
          <a:xfrm>
            <a:off x="5943600" y="3154680"/>
            <a:ext cx="548640" cy="54864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5577840" y="384048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światło</a:t>
            </a:r>
          </a:p>
        </p:txBody>
      </p:sp>
      <p:cxnSp>
        <p:nvCxnSpPr>
          <p:cNvPr id="105" name="Linia 105"/>
          <p:cNvCxnSpPr/>
          <p:nvPr/>
        </p:nvCxnSpPr>
        <p:spPr>
          <a:xfrm>
            <a:off x="6492240" y="3429000"/>
            <a:ext cx="1463040" cy="0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6" name="Element 106"/>
          <p:cNvSpPr/>
          <p:nvPr/>
        </p:nvSpPr>
        <p:spPr>
          <a:xfrm>
            <a:off x="10332720" y="2423160"/>
            <a:ext cx="201168" cy="20116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9784080" y="457200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flaga</a:t>
            </a:r>
          </a:p>
        </p:txBody>
      </p:sp>
      <p:cxnSp>
        <p:nvCxnSpPr>
          <p:cNvPr id="108" name="Linia 108"/>
          <p:cNvCxnSpPr/>
          <p:nvPr/>
        </p:nvCxnSpPr>
        <p:spPr>
          <a:xfrm>
            <a:off x="9235440" y="3429000"/>
            <a:ext cx="1051560" cy="0"/>
          </a:xfrm>
          <a:prstGeom prst="line">
            <a:avLst/>
          </a:prstGeom>
          <a:ln w="15875">
            <a:solidFill>
              <a:srgbClr val="8A8A8A"/>
            </a:solidFill>
            <a:prstDash val="dash"/>
          </a:ln>
        </p:spPr>
      </p:cxnSp>
      <p:sp>
        <p:nvSpPr>
          <p:cNvPr id="109" name="Element 109"/>
          <p:cNvSpPr/>
          <p:nvPr/>
        </p:nvSpPr>
        <p:spPr>
          <a:xfrm>
            <a:off x="6309360" y="14630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flaga zabiera światło po drugiej stronie</a:t>
            </a:r>
          </a:p>
        </p:txBody>
      </p:sp>
    </p:spTree>
    <p:extLst>
      <p:ext uri="{BB962C8B-B14F-4D97-AF65-F5344CB8AC3E}">
        <p14:creationId xmlns:p14="http://schemas.microsoft.com/office/powerpoint/2010/main" val="2713917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D8E41-4415-8D7A-9E3F-66AF8B001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Jedna osoba i dwie osoby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5ED88-EB13-0728-02A4-809548A8C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Odległość od źródła</a:t>
            </a:r>
          </a:p>
          <a:p>
            <a:r>
              <a:rPr lang="pl-PL" dirty="0"/>
              <a:t>Wielkość źródła</a:t>
            </a:r>
          </a:p>
          <a:p>
            <a:r>
              <a:rPr lang="pl-PL" dirty="0"/>
              <a:t>Pozycja względem osi</a:t>
            </a:r>
          </a:p>
          <a:p>
            <a:r>
              <a:rPr lang="pl-PL" dirty="0"/>
              <a:t>Kontrola cieni na obu twarzach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1BD0FD-0506-842F-5A90-FCDE95EF0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FCFE14-3D87-7884-4FE8-0449C13B9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16</a:t>
            </a:fld>
            <a:endParaRPr lang="pl-PL" noProof="0"/>
          </a:p>
        </p:txBody>
      </p:sp>
      <p:cxnSp>
        <p:nvCxnSpPr>
          <p:cNvPr id="101" name="Linia 101"/>
          <p:cNvCxnSpPr/>
          <p:nvPr/>
        </p:nvCxnSpPr>
        <p:spPr>
          <a:xfrm>
            <a:off x="6949440" y="2433008"/>
            <a:ext cx="156678" cy="109707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2" name="Linia 102"/>
          <p:cNvCxnSpPr/>
          <p:nvPr/>
        </p:nvCxnSpPr>
        <p:spPr>
          <a:xfrm>
            <a:off x="7106118" y="2542715"/>
            <a:ext cx="135247" cy="135247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3" name="Linia 103"/>
          <p:cNvCxnSpPr/>
          <p:nvPr/>
        </p:nvCxnSpPr>
        <p:spPr>
          <a:xfrm>
            <a:off x="7241365" y="2677962"/>
            <a:ext cx="109707" cy="156678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4" name="Linia 104"/>
          <p:cNvCxnSpPr/>
          <p:nvPr/>
        </p:nvCxnSpPr>
        <p:spPr>
          <a:xfrm>
            <a:off x="7351072" y="2834640"/>
            <a:ext cx="80834" cy="173348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5" name="Linia 105"/>
          <p:cNvCxnSpPr/>
          <p:nvPr/>
        </p:nvCxnSpPr>
        <p:spPr>
          <a:xfrm>
            <a:off x="7431906" y="3007988"/>
            <a:ext cx="49504" cy="184751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6" name="Linia 106"/>
          <p:cNvCxnSpPr/>
          <p:nvPr/>
        </p:nvCxnSpPr>
        <p:spPr>
          <a:xfrm>
            <a:off x="7481410" y="3192739"/>
            <a:ext cx="16670" cy="190541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7" name="Linia 107"/>
          <p:cNvCxnSpPr/>
          <p:nvPr/>
        </p:nvCxnSpPr>
        <p:spPr>
          <a:xfrm flipV="1">
            <a:off x="7481410" y="3383280"/>
            <a:ext cx="16670" cy="190541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8" name="Linia 108"/>
          <p:cNvCxnSpPr/>
          <p:nvPr/>
        </p:nvCxnSpPr>
        <p:spPr>
          <a:xfrm flipV="1">
            <a:off x="7431906" y="3573821"/>
            <a:ext cx="49504" cy="184751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9" name="Linia 109"/>
          <p:cNvCxnSpPr/>
          <p:nvPr/>
        </p:nvCxnSpPr>
        <p:spPr>
          <a:xfrm flipV="1">
            <a:off x="7351072" y="3758572"/>
            <a:ext cx="80834" cy="173348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0" name="Linia 110"/>
          <p:cNvCxnSpPr/>
          <p:nvPr/>
        </p:nvCxnSpPr>
        <p:spPr>
          <a:xfrm flipV="1">
            <a:off x="7241365" y="3931920"/>
            <a:ext cx="109707" cy="156678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1" name="Linia 111"/>
          <p:cNvCxnSpPr/>
          <p:nvPr/>
        </p:nvCxnSpPr>
        <p:spPr>
          <a:xfrm flipV="1">
            <a:off x="7106118" y="4088598"/>
            <a:ext cx="135247" cy="135247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2" name="Linia 112"/>
          <p:cNvCxnSpPr/>
          <p:nvPr/>
        </p:nvCxnSpPr>
        <p:spPr>
          <a:xfrm flipV="1">
            <a:off x="6949440" y="4223845"/>
            <a:ext cx="156678" cy="109707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3" name="Linia 113"/>
          <p:cNvCxnSpPr/>
          <p:nvPr/>
        </p:nvCxnSpPr>
        <p:spPr>
          <a:xfrm>
            <a:off x="7406640" y="1641114"/>
            <a:ext cx="287243" cy="20113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4" name="Linia 114"/>
          <p:cNvCxnSpPr/>
          <p:nvPr/>
        </p:nvCxnSpPr>
        <p:spPr>
          <a:xfrm>
            <a:off x="7693883" y="1842244"/>
            <a:ext cx="247953" cy="247953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5" name="Linia 115"/>
          <p:cNvCxnSpPr/>
          <p:nvPr/>
        </p:nvCxnSpPr>
        <p:spPr>
          <a:xfrm>
            <a:off x="7941836" y="2090197"/>
            <a:ext cx="201130" cy="287243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6" name="Linia 116"/>
          <p:cNvCxnSpPr/>
          <p:nvPr/>
        </p:nvCxnSpPr>
        <p:spPr>
          <a:xfrm>
            <a:off x="8142966" y="2377440"/>
            <a:ext cx="148195" cy="317805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7" name="Linia 117"/>
          <p:cNvCxnSpPr/>
          <p:nvPr/>
        </p:nvCxnSpPr>
        <p:spPr>
          <a:xfrm>
            <a:off x="8291161" y="2695245"/>
            <a:ext cx="90757" cy="338711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8" name="Linia 118"/>
          <p:cNvCxnSpPr/>
          <p:nvPr/>
        </p:nvCxnSpPr>
        <p:spPr>
          <a:xfrm>
            <a:off x="8381918" y="3033955"/>
            <a:ext cx="30562" cy="349325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9" name="Linia 119"/>
          <p:cNvCxnSpPr/>
          <p:nvPr/>
        </p:nvCxnSpPr>
        <p:spPr>
          <a:xfrm flipV="1">
            <a:off x="8381918" y="3383280"/>
            <a:ext cx="30562" cy="349325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0" name="Linia 120"/>
          <p:cNvCxnSpPr/>
          <p:nvPr/>
        </p:nvCxnSpPr>
        <p:spPr>
          <a:xfrm flipV="1">
            <a:off x="8291161" y="3732605"/>
            <a:ext cx="90757" cy="338711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1" name="Linia 121"/>
          <p:cNvCxnSpPr/>
          <p:nvPr/>
        </p:nvCxnSpPr>
        <p:spPr>
          <a:xfrm flipV="1">
            <a:off x="8142966" y="4071315"/>
            <a:ext cx="148195" cy="317805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2" name="Linia 122"/>
          <p:cNvCxnSpPr/>
          <p:nvPr/>
        </p:nvCxnSpPr>
        <p:spPr>
          <a:xfrm flipV="1">
            <a:off x="7941836" y="4389120"/>
            <a:ext cx="201130" cy="287243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3" name="Linia 123"/>
          <p:cNvCxnSpPr/>
          <p:nvPr/>
        </p:nvCxnSpPr>
        <p:spPr>
          <a:xfrm flipV="1">
            <a:off x="7693883" y="4676363"/>
            <a:ext cx="247953" cy="247953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4" name="Linia 124"/>
          <p:cNvCxnSpPr/>
          <p:nvPr/>
        </p:nvCxnSpPr>
        <p:spPr>
          <a:xfrm flipV="1">
            <a:off x="7406640" y="4924316"/>
            <a:ext cx="287243" cy="20113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5" name="Linia 125"/>
          <p:cNvCxnSpPr/>
          <p:nvPr/>
        </p:nvCxnSpPr>
        <p:spPr>
          <a:xfrm>
            <a:off x="7863840" y="849220"/>
            <a:ext cx="417808" cy="292552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6" name="Linia 126"/>
          <p:cNvCxnSpPr/>
          <p:nvPr/>
        </p:nvCxnSpPr>
        <p:spPr>
          <a:xfrm>
            <a:off x="8281648" y="1141773"/>
            <a:ext cx="360659" cy="360659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7" name="Linia 127"/>
          <p:cNvCxnSpPr/>
          <p:nvPr/>
        </p:nvCxnSpPr>
        <p:spPr>
          <a:xfrm>
            <a:off x="8642307" y="1502432"/>
            <a:ext cx="292552" cy="417808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8" name="Linia 128"/>
          <p:cNvCxnSpPr/>
          <p:nvPr/>
        </p:nvCxnSpPr>
        <p:spPr>
          <a:xfrm>
            <a:off x="8934860" y="1920240"/>
            <a:ext cx="215556" cy="462262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29" name="Linia 129"/>
          <p:cNvCxnSpPr/>
          <p:nvPr/>
        </p:nvCxnSpPr>
        <p:spPr>
          <a:xfrm>
            <a:off x="9150416" y="2382502"/>
            <a:ext cx="132010" cy="49267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30" name="Linia 130"/>
          <p:cNvCxnSpPr/>
          <p:nvPr/>
        </p:nvCxnSpPr>
        <p:spPr>
          <a:xfrm>
            <a:off x="9282426" y="2875172"/>
            <a:ext cx="44454" cy="508108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31" name="Linia 131"/>
          <p:cNvCxnSpPr/>
          <p:nvPr/>
        </p:nvCxnSpPr>
        <p:spPr>
          <a:xfrm flipV="1">
            <a:off x="9282426" y="3383280"/>
            <a:ext cx="44454" cy="508108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32" name="Linia 132"/>
          <p:cNvCxnSpPr/>
          <p:nvPr/>
        </p:nvCxnSpPr>
        <p:spPr>
          <a:xfrm flipV="1">
            <a:off x="9150416" y="3891388"/>
            <a:ext cx="132010" cy="49267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33" name="Linia 133"/>
          <p:cNvCxnSpPr/>
          <p:nvPr/>
        </p:nvCxnSpPr>
        <p:spPr>
          <a:xfrm flipV="1">
            <a:off x="8934860" y="4384058"/>
            <a:ext cx="215556" cy="462262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34" name="Linia 134"/>
          <p:cNvCxnSpPr/>
          <p:nvPr/>
        </p:nvCxnSpPr>
        <p:spPr>
          <a:xfrm flipV="1">
            <a:off x="8642307" y="4846320"/>
            <a:ext cx="292552" cy="417808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35" name="Linia 135"/>
          <p:cNvCxnSpPr/>
          <p:nvPr/>
        </p:nvCxnSpPr>
        <p:spPr>
          <a:xfrm flipV="1">
            <a:off x="8281648" y="5264128"/>
            <a:ext cx="360659" cy="360659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36" name="Linia 136"/>
          <p:cNvCxnSpPr/>
          <p:nvPr/>
        </p:nvCxnSpPr>
        <p:spPr>
          <a:xfrm flipV="1">
            <a:off x="7863840" y="5624787"/>
            <a:ext cx="417808" cy="292552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sp>
        <p:nvSpPr>
          <p:cNvPr id="137" name="Element 137"/>
          <p:cNvSpPr/>
          <p:nvPr/>
        </p:nvSpPr>
        <p:spPr>
          <a:xfrm>
            <a:off x="6126480" y="3108960"/>
            <a:ext cx="548640" cy="54864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38" name="Element 138"/>
          <p:cNvSpPr/>
          <p:nvPr/>
        </p:nvSpPr>
        <p:spPr>
          <a:xfrm>
            <a:off x="5943600" y="374904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źródło</a:t>
            </a:r>
          </a:p>
        </p:txBody>
      </p:sp>
      <p:sp>
        <p:nvSpPr>
          <p:cNvPr id="139" name="Element 139"/>
          <p:cNvSpPr/>
          <p:nvPr/>
        </p:nvSpPr>
        <p:spPr>
          <a:xfrm>
            <a:off x="7242048" y="3127248"/>
            <a:ext cx="512064" cy="5120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40" name="Element 140"/>
          <p:cNvSpPr/>
          <p:nvPr/>
        </p:nvSpPr>
        <p:spPr>
          <a:xfrm>
            <a:off x="7223760" y="37033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1 osoba</a:t>
            </a:r>
          </a:p>
        </p:txBody>
      </p:sp>
      <p:sp>
        <p:nvSpPr>
          <p:cNvPr id="141" name="Element 141"/>
          <p:cNvSpPr/>
          <p:nvPr/>
        </p:nvSpPr>
        <p:spPr>
          <a:xfrm>
            <a:off x="9034823" y="2669508"/>
            <a:ext cx="512064" cy="5120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42" name="Element 142"/>
          <p:cNvSpPr/>
          <p:nvPr/>
        </p:nvSpPr>
        <p:spPr>
          <a:xfrm>
            <a:off x="9034823" y="3584988"/>
            <a:ext cx="512064" cy="5120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43" name="Element 143"/>
          <p:cNvSpPr/>
          <p:nvPr/>
        </p:nvSpPr>
        <p:spPr>
          <a:xfrm>
            <a:off x="8412480" y="21031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2 osoby, ta sama odległość</a:t>
            </a:r>
          </a:p>
        </p:txBody>
      </p:sp>
      <p:sp>
        <p:nvSpPr>
          <p:cNvPr id="144" name="Element 144"/>
          <p:cNvSpPr/>
          <p:nvPr/>
        </p:nvSpPr>
        <p:spPr>
          <a:xfrm>
            <a:off x="6035040" y="53949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im dalej od źródła, tym mniej światła</a:t>
            </a:r>
          </a:p>
        </p:txBody>
      </p:sp>
    </p:spTree>
    <p:extLst>
      <p:ext uri="{BB962C8B-B14F-4D97-AF65-F5344CB8AC3E}">
        <p14:creationId xmlns:p14="http://schemas.microsoft.com/office/powerpoint/2010/main" val="3798427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21403-8815-D66C-6BC3-03F299D17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Produkt: odbicia i cienie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0CE74-D747-F57B-BF15-907D5004C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Szkło odbija otoczenie</a:t>
            </a:r>
          </a:p>
          <a:p>
            <a:r>
              <a:rPr lang="pl-PL" dirty="0"/>
              <a:t>Metal pokazuje kształt źródła</a:t>
            </a:r>
          </a:p>
          <a:p>
            <a:r>
              <a:rPr lang="pl-PL" dirty="0"/>
              <a:t>Plastik wymaga kontroli refleksów</a:t>
            </a:r>
          </a:p>
          <a:p>
            <a:r>
              <a:rPr lang="pl-PL" dirty="0"/>
              <a:t>Cień może budować formę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4767C-8350-DA20-E83C-0E6E2E424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66E7F4-764B-1F42-2CF6-35D220DAA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17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309360" y="4572000"/>
            <a:ext cx="1371600" cy="274320"/>
          </a:xfrm>
          <a:prstGeom prst="ellipse">
            <a:avLst/>
          </a:prstGeom>
          <a:solidFill>
            <a:srgbClr val="404040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400800" y="2560320"/>
            <a:ext cx="914400" cy="2103120"/>
          </a:xfrm>
          <a:prstGeom prst="trapezoid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6583680" y="2743200"/>
            <a:ext cx="73152" cy="1645920"/>
          </a:xfrm>
          <a:prstGeom prst="rect">
            <a:avLst/>
          </a:prstGeom>
          <a:solidFill>
            <a:srgbClr val="E3B18D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6126480" y="50292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szkło</a:t>
            </a:r>
          </a:p>
        </p:txBody>
      </p:sp>
      <p:sp>
        <p:nvSpPr>
          <p:cNvPr id="105" name="Element 105"/>
          <p:cNvSpPr/>
          <p:nvPr/>
        </p:nvSpPr>
        <p:spPr>
          <a:xfrm>
            <a:off x="8229600" y="4572000"/>
            <a:ext cx="1371600" cy="274320"/>
          </a:xfrm>
          <a:prstGeom prst="ellipse">
            <a:avLst/>
          </a:prstGeom>
          <a:solidFill>
            <a:srgbClr val="404040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Gradient 106"/>
          <p:cNvSpPr/>
          <p:nvPr/>
        </p:nvSpPr>
        <p:spPr>
          <a:xfrm>
            <a:off x="8366760" y="2560320"/>
            <a:ext cx="822960" cy="2103120"/>
          </a:xfrm>
          <a:prstGeom prst="rect">
            <a:avLst/>
          </a:prstGeom>
          <a:gradFill>
            <a:gsLst>
              <a:gs pos="0">
                <a:srgbClr val="D5D8DC"/>
              </a:gs>
              <a:gs pos="100000">
                <a:srgbClr val="6E7378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8595360" y="2560320"/>
            <a:ext cx="73152" cy="210312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8046720" y="50292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metal</a:t>
            </a:r>
          </a:p>
        </p:txBody>
      </p:sp>
      <p:sp>
        <p:nvSpPr>
          <p:cNvPr id="109" name="Element 109"/>
          <p:cNvSpPr/>
          <p:nvPr/>
        </p:nvSpPr>
        <p:spPr>
          <a:xfrm>
            <a:off x="10149840" y="4572000"/>
            <a:ext cx="1371600" cy="274320"/>
          </a:xfrm>
          <a:prstGeom prst="ellipse">
            <a:avLst/>
          </a:prstGeom>
          <a:solidFill>
            <a:srgbClr val="404040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0" name="Element 110"/>
          <p:cNvSpPr/>
          <p:nvPr/>
        </p:nvSpPr>
        <p:spPr>
          <a:xfrm>
            <a:off x="10241280" y="2560320"/>
            <a:ext cx="914400" cy="2103120"/>
          </a:xfrm>
          <a:prstGeom prst="roundRect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1" name="Element 111"/>
          <p:cNvSpPr/>
          <p:nvPr/>
        </p:nvSpPr>
        <p:spPr>
          <a:xfrm>
            <a:off x="9966960" y="502920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plastik</a:t>
            </a:r>
          </a:p>
        </p:txBody>
      </p:sp>
    </p:spTree>
    <p:extLst>
      <p:ext uri="{BB962C8B-B14F-4D97-AF65-F5344CB8AC3E}">
        <p14:creationId xmlns:p14="http://schemas.microsoft.com/office/powerpoint/2010/main" val="19266048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76612-AC0A-531B-C378-A4D0345C6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Kąt światła przy produkcie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E69F6-AB71-3006-2D73-D4BB06A52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Światło boczne = tekstura</a:t>
            </a:r>
          </a:p>
          <a:p>
            <a:r>
              <a:rPr lang="pl-PL" dirty="0"/>
              <a:t>Światło frontalne = mniej cieni</a:t>
            </a:r>
          </a:p>
          <a:p>
            <a:r>
              <a:rPr lang="pl-PL" dirty="0"/>
              <a:t>Światło z tyłu = kontur i głębia</a:t>
            </a:r>
          </a:p>
          <a:p>
            <a:r>
              <a:rPr lang="pl-PL" dirty="0"/>
              <a:t>Kąt dobieramy do materiału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CEE00C-D62C-6037-98F8-03C5E6613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788DB3-E8BB-7DC6-92D5-21033A1F5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18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812280" y="1645920"/>
            <a:ext cx="3566160" cy="3566160"/>
          </a:xfrm>
          <a:prstGeom prst="ellipse">
            <a:avLst/>
          </a:prstGeom>
          <a:noFill/>
          <a:ln w="15875">
            <a:solidFill>
              <a:srgbClr val="E3B18D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8138160" y="2971800"/>
            <a:ext cx="914400" cy="9144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8138160" y="32461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FFFFFF"/>
                </a:solidFill>
                <a:latin typeface="+mn-lt"/>
              </a:rPr>
              <a:t>produkt</a:t>
            </a:r>
          </a:p>
        </p:txBody>
      </p:sp>
      <p:cxnSp>
        <p:nvCxnSpPr>
          <p:cNvPr id="104" name="Linia 104"/>
          <p:cNvCxnSpPr/>
          <p:nvPr/>
        </p:nvCxnSpPr>
        <p:spPr>
          <a:xfrm>
            <a:off x="9052560" y="3429000"/>
            <a:ext cx="1124712" cy="0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5" name="Element 105"/>
          <p:cNvSpPr/>
          <p:nvPr/>
        </p:nvSpPr>
        <p:spPr>
          <a:xfrm>
            <a:off x="10177272" y="322783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10652760" y="3246120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404040"/>
                </a:solidFill>
                <a:latin typeface="+mn-lt"/>
              </a:rPr>
              <a:t>Boczne</a:t>
            </a:r>
          </a:p>
        </p:txBody>
      </p:sp>
      <p:cxnSp>
        <p:nvCxnSpPr>
          <p:cNvPr id="107" name="Linia 107"/>
          <p:cNvCxnSpPr/>
          <p:nvPr/>
        </p:nvCxnSpPr>
        <p:spPr>
          <a:xfrm>
            <a:off x="8595360" y="3886200"/>
            <a:ext cx="0" cy="1124712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08" name="Element 108"/>
          <p:cNvSpPr/>
          <p:nvPr/>
        </p:nvSpPr>
        <p:spPr>
          <a:xfrm>
            <a:off x="8394192" y="501091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7498080" y="54864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Frontalne</a:t>
            </a:r>
          </a:p>
        </p:txBody>
      </p:sp>
      <p:cxnSp>
        <p:nvCxnSpPr>
          <p:cNvPr id="110" name="Linia 110"/>
          <p:cNvCxnSpPr/>
          <p:nvPr/>
        </p:nvCxnSpPr>
        <p:spPr>
          <a:xfrm>
            <a:off x="8595360" y="1847088"/>
            <a:ext cx="0" cy="1124712"/>
          </a:xfrm>
          <a:prstGeom prst="line">
            <a:avLst/>
          </a:prstGeom>
          <a:ln w="15875">
            <a:solidFill>
              <a:srgbClr val="E3B18D"/>
            </a:solidFill>
          </a:ln>
        </p:spPr>
      </p:cxnSp>
      <p:sp>
        <p:nvSpPr>
          <p:cNvPr id="111" name="Element 111"/>
          <p:cNvSpPr/>
          <p:nvPr/>
        </p:nvSpPr>
        <p:spPr>
          <a:xfrm>
            <a:off x="8394192" y="1444752"/>
            <a:ext cx="402336" cy="402336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7498080" y="11430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404040"/>
                </a:solidFill>
                <a:latin typeface="+mn-lt"/>
              </a:rPr>
              <a:t>Z tyłu</a:t>
            </a:r>
          </a:p>
        </p:txBody>
      </p:sp>
      <p:sp>
        <p:nvSpPr>
          <p:cNvPr id="113" name="Element 113"/>
          <p:cNvSpPr/>
          <p:nvPr/>
        </p:nvSpPr>
        <p:spPr>
          <a:xfrm>
            <a:off x="8229600" y="5897880"/>
            <a:ext cx="731520" cy="411480"/>
          </a:xfrm>
          <a:prstGeom prst="roundRect">
            <a:avLst/>
          </a:prstGeom>
          <a:noFill/>
          <a:ln w="19050">
            <a:solidFill>
              <a:srgbClr val="404040"/>
            </a:solidFill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404040"/>
                </a:solidFill>
                <a:latin typeface="+mn-lt"/>
              </a:rPr>
              <a:t>kamera</a:t>
            </a:r>
          </a:p>
        </p:txBody>
      </p:sp>
    </p:spTree>
    <p:extLst>
      <p:ext uri="{BB962C8B-B14F-4D97-AF65-F5344CB8AC3E}">
        <p14:creationId xmlns:p14="http://schemas.microsoft.com/office/powerpoint/2010/main" val="24864125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C2645-5EBF-48C5-3B87-093699F4D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Hero shot i storytelling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E5792-36EA-9C4E-1693-89E2793E8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Jeden główny produkt</a:t>
            </a:r>
          </a:p>
          <a:p>
            <a:r>
              <a:rPr lang="pl-PL" dirty="0"/>
              <a:t>Hierarchia w kadrze</a:t>
            </a:r>
          </a:p>
          <a:p>
            <a:r>
              <a:rPr lang="pl-PL" dirty="0"/>
              <a:t>Rekwizyty z funkcją</a:t>
            </a:r>
          </a:p>
          <a:p>
            <a:r>
              <a:rPr lang="pl-PL" dirty="0"/>
              <a:t>Obraz ma coś komunikować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19845-D26F-245A-51E3-74CCC9FEB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47FD3A-FFCB-E024-CFCB-AB4821141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19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309360" y="1737360"/>
            <a:ext cx="5120640" cy="3291840"/>
          </a:xfrm>
          <a:prstGeom prst="rect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cxnSp>
        <p:nvCxnSpPr>
          <p:cNvPr id="102" name="Linia 102"/>
          <p:cNvCxnSpPr/>
          <p:nvPr/>
        </p:nvCxnSpPr>
        <p:spPr>
          <a:xfrm>
            <a:off x="8016240" y="1737360"/>
            <a:ext cx="0" cy="329184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3" name="Linia 103"/>
          <p:cNvCxnSpPr/>
          <p:nvPr/>
        </p:nvCxnSpPr>
        <p:spPr>
          <a:xfrm>
            <a:off x="6309360" y="2834640"/>
            <a:ext cx="5120640" cy="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4" name="Linia 104"/>
          <p:cNvCxnSpPr/>
          <p:nvPr/>
        </p:nvCxnSpPr>
        <p:spPr>
          <a:xfrm>
            <a:off x="9723120" y="1737360"/>
            <a:ext cx="0" cy="329184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05" name="Linia 105"/>
          <p:cNvCxnSpPr/>
          <p:nvPr/>
        </p:nvCxnSpPr>
        <p:spPr>
          <a:xfrm>
            <a:off x="6309360" y="3931920"/>
            <a:ext cx="5120640" cy="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sp>
        <p:nvSpPr>
          <p:cNvPr id="106" name="Element 106"/>
          <p:cNvSpPr/>
          <p:nvPr/>
        </p:nvSpPr>
        <p:spPr>
          <a:xfrm>
            <a:off x="9174480" y="3383280"/>
            <a:ext cx="1097280" cy="109728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9174480" y="45720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1" dirty="0">
                <a:solidFill>
                  <a:srgbClr val="404040"/>
                </a:solidFill>
                <a:latin typeface="+mn-lt"/>
              </a:rPr>
              <a:t>hero</a:t>
            </a:r>
          </a:p>
        </p:txBody>
      </p:sp>
      <p:sp>
        <p:nvSpPr>
          <p:cNvPr id="108" name="Element 108"/>
          <p:cNvSpPr/>
          <p:nvPr/>
        </p:nvSpPr>
        <p:spPr>
          <a:xfrm>
            <a:off x="7723632" y="2633472"/>
            <a:ext cx="402336" cy="402336"/>
          </a:xfrm>
          <a:prstGeom prst="ellipse">
            <a:avLst/>
          </a:prstGeom>
          <a:noFill/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7077456" y="4242816"/>
            <a:ext cx="292608" cy="292608"/>
          </a:xfrm>
          <a:prstGeom prst="ellipse">
            <a:avLst/>
          </a:prstGeom>
          <a:noFill/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10" name="Element 110"/>
          <p:cNvSpPr/>
          <p:nvPr/>
        </p:nvSpPr>
        <p:spPr>
          <a:xfrm>
            <a:off x="6309360" y="516636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600" b="0" dirty="0">
                <a:solidFill>
                  <a:srgbClr val="8A8A8A"/>
                </a:solidFill>
                <a:latin typeface="+mn-lt"/>
              </a:rPr>
              <a:t>hierarchia w kadrze</a:t>
            </a:r>
          </a:p>
        </p:txBody>
      </p:sp>
    </p:spTree>
    <p:extLst>
      <p:ext uri="{BB962C8B-B14F-4D97-AF65-F5344CB8AC3E}">
        <p14:creationId xmlns:p14="http://schemas.microsoft.com/office/powerpoint/2010/main" val="27036749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C05D2-CF30-1E37-7F79-81754E633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Odstawianie produktu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200DB-4EA1-3CD7-3F60-38FBE45E4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Zaczynamy od pełnej sceny</a:t>
            </a:r>
          </a:p>
          <a:p>
            <a:r>
              <a:rPr lang="pl-PL" dirty="0"/>
              <a:t>Usuwamy jeden element</a:t>
            </a:r>
          </a:p>
          <a:p>
            <a:r>
              <a:rPr lang="pl-PL" dirty="0"/>
              <a:t>Porównujemy efekt</a:t>
            </a:r>
          </a:p>
          <a:p>
            <a:r>
              <a:rPr lang="pl-PL" dirty="0"/>
              <a:t>Zostawiamy tylko to, co potrzebne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9C6ACB-D737-9CB5-B6AD-3FFF8D16C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ED0100-109E-5BC8-94CC-44DA20ED7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20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217920" y="2103120"/>
            <a:ext cx="2194560" cy="2194560"/>
          </a:xfrm>
          <a:prstGeom prst="rect">
            <a:avLst/>
          </a:prstGeom>
          <a:noFill/>
          <a:ln w="1905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9144000" y="2103120"/>
            <a:ext cx="2194560" cy="2194560"/>
          </a:xfrm>
          <a:prstGeom prst="rect">
            <a:avLst/>
          </a:prstGeom>
          <a:noFill/>
          <a:ln w="1905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7040880" y="2926080"/>
            <a:ext cx="548640" cy="54864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4" name="Element 104"/>
          <p:cNvSpPr/>
          <p:nvPr/>
        </p:nvSpPr>
        <p:spPr>
          <a:xfrm>
            <a:off x="6583680" y="2468880"/>
            <a:ext cx="411480" cy="411480"/>
          </a:xfrm>
          <a:prstGeom prst="rect">
            <a:avLst/>
          </a:prstGeom>
          <a:noFill/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7772400" y="2560320"/>
            <a:ext cx="411480" cy="411480"/>
          </a:xfrm>
          <a:prstGeom prst="rect">
            <a:avLst/>
          </a:prstGeom>
          <a:noFill/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6583680" y="3703320"/>
            <a:ext cx="411480" cy="411480"/>
          </a:xfrm>
          <a:prstGeom prst="rect">
            <a:avLst/>
          </a:prstGeom>
          <a:noFill/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7818120" y="3703320"/>
            <a:ext cx="411480" cy="411480"/>
          </a:xfrm>
          <a:prstGeom prst="rect">
            <a:avLst/>
          </a:prstGeom>
          <a:noFill/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9966960" y="2926080"/>
            <a:ext cx="548640" cy="54864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9509760" y="2468880"/>
            <a:ext cx="411480" cy="411480"/>
          </a:xfrm>
          <a:prstGeom prst="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sp>
        <p:nvSpPr>
          <p:cNvPr id="110" name="Element 110"/>
          <p:cNvSpPr/>
          <p:nvPr/>
        </p:nvSpPr>
        <p:spPr>
          <a:xfrm>
            <a:off x="10698480" y="2560320"/>
            <a:ext cx="411480" cy="411480"/>
          </a:xfrm>
          <a:prstGeom prst="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sp>
        <p:nvSpPr>
          <p:cNvPr id="111" name="Element 111"/>
          <p:cNvSpPr/>
          <p:nvPr/>
        </p:nvSpPr>
        <p:spPr>
          <a:xfrm>
            <a:off x="9509760" y="3703320"/>
            <a:ext cx="411480" cy="411480"/>
          </a:xfrm>
          <a:prstGeom prst="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10744200" y="3703320"/>
            <a:ext cx="411480" cy="411480"/>
          </a:xfrm>
          <a:prstGeom prst="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txBody>
          <a:bodyPr/>
          <a:lstStyle/>
          <a:p>
            <a:endParaRPr lang="pl-PL"/>
          </a:p>
        </p:txBody>
      </p:sp>
      <p:cxnSp>
        <p:nvCxnSpPr>
          <p:cNvPr id="113" name="Strzałka 113"/>
          <p:cNvCxnSpPr/>
          <p:nvPr/>
        </p:nvCxnSpPr>
        <p:spPr>
          <a:xfrm>
            <a:off x="8503920" y="3200400"/>
            <a:ext cx="548640" cy="0"/>
          </a:xfrm>
          <a:prstGeom prst="line">
            <a:avLst/>
          </a:prstGeom>
          <a:ln w="19050">
            <a:solidFill>
              <a:srgbClr val="404040"/>
            </a:solidFill>
            <a:tailEnd type="triangle"/>
          </a:ln>
        </p:spPr>
      </p:cxnSp>
      <p:sp>
        <p:nvSpPr>
          <p:cNvPr id="114" name="Element 114"/>
          <p:cNvSpPr/>
          <p:nvPr/>
        </p:nvSpPr>
        <p:spPr>
          <a:xfrm>
            <a:off x="6217920" y="443484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pełna scena</a:t>
            </a:r>
          </a:p>
        </p:txBody>
      </p:sp>
      <p:sp>
        <p:nvSpPr>
          <p:cNvPr id="115" name="Element 115"/>
          <p:cNvSpPr/>
          <p:nvPr/>
        </p:nvSpPr>
        <p:spPr>
          <a:xfrm>
            <a:off x="9144000" y="443484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tylko to, co potrzebne</a:t>
            </a:r>
          </a:p>
        </p:txBody>
      </p:sp>
    </p:spTree>
    <p:extLst>
      <p:ext uri="{BB962C8B-B14F-4D97-AF65-F5344CB8AC3E}">
        <p14:creationId xmlns:p14="http://schemas.microsoft.com/office/powerpoint/2010/main" val="2831860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B22A3-F7B5-EB81-0C03-45920788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Światło naturalne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622E5-31E0-A96E-C024-73979D4F5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Słońce — key light</a:t>
            </a:r>
          </a:p>
          <a:p>
            <a:r>
              <a:rPr lang="pl-PL" dirty="0"/>
              <a:t>Niebo — fill light</a:t>
            </a:r>
          </a:p>
          <a:p>
            <a:r>
              <a:rPr lang="pl-PL" dirty="0"/>
              <a:t>Złota godzina (golden hour)</a:t>
            </a:r>
          </a:p>
          <a:p>
            <a:r>
              <a:rPr lang="pl-PL" dirty="0"/>
              <a:t>Chmury — naturalna dyfuzja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349C34-48EC-0B94-2492-C0E2BEB67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F30EF5-9C5F-6D07-0FFD-D7E6159EB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21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492240" y="1554480"/>
            <a:ext cx="914400" cy="91440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cxnSp>
        <p:nvCxnSpPr>
          <p:cNvPr id="102" name="Linia 102"/>
          <p:cNvCxnSpPr/>
          <p:nvPr/>
        </p:nvCxnSpPr>
        <p:spPr>
          <a:xfrm>
            <a:off x="7543800" y="2011680"/>
            <a:ext cx="274320" cy="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3" name="Linia 103"/>
          <p:cNvCxnSpPr/>
          <p:nvPr/>
        </p:nvCxnSpPr>
        <p:spPr>
          <a:xfrm>
            <a:off x="7369716" y="2431956"/>
            <a:ext cx="193974" cy="193974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4" name="Linia 104"/>
          <p:cNvCxnSpPr/>
          <p:nvPr/>
        </p:nvCxnSpPr>
        <p:spPr>
          <a:xfrm>
            <a:off x="6949440" y="2606040"/>
            <a:ext cx="0" cy="27432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5" name="Linia 105"/>
          <p:cNvCxnSpPr/>
          <p:nvPr/>
        </p:nvCxnSpPr>
        <p:spPr>
          <a:xfrm flipV="1">
            <a:off x="6335190" y="2431956"/>
            <a:ext cx="193974" cy="193974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6" name="Linia 106"/>
          <p:cNvCxnSpPr/>
          <p:nvPr/>
        </p:nvCxnSpPr>
        <p:spPr>
          <a:xfrm>
            <a:off x="6080760" y="2011680"/>
            <a:ext cx="274320" cy="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7" name="Linia 107"/>
          <p:cNvCxnSpPr/>
          <p:nvPr/>
        </p:nvCxnSpPr>
        <p:spPr>
          <a:xfrm>
            <a:off x="6335190" y="1397430"/>
            <a:ext cx="193974" cy="193974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8" name="Linia 108"/>
          <p:cNvCxnSpPr/>
          <p:nvPr/>
        </p:nvCxnSpPr>
        <p:spPr>
          <a:xfrm>
            <a:off x="6949440" y="1143000"/>
            <a:ext cx="0" cy="274320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cxnSp>
        <p:nvCxnSpPr>
          <p:cNvPr id="109" name="Linia 109"/>
          <p:cNvCxnSpPr/>
          <p:nvPr/>
        </p:nvCxnSpPr>
        <p:spPr>
          <a:xfrm flipV="1">
            <a:off x="7369716" y="1397430"/>
            <a:ext cx="193974" cy="193974"/>
          </a:xfrm>
          <a:prstGeom prst="line">
            <a:avLst/>
          </a:prstGeom>
          <a:ln w="19050">
            <a:solidFill>
              <a:srgbClr val="E3B18D"/>
            </a:solidFill>
          </a:ln>
        </p:spPr>
      </p:cxnSp>
      <p:sp>
        <p:nvSpPr>
          <p:cNvPr id="110" name="Element 110"/>
          <p:cNvSpPr/>
          <p:nvPr/>
        </p:nvSpPr>
        <p:spPr>
          <a:xfrm>
            <a:off x="6217920" y="3017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key light</a:t>
            </a:r>
          </a:p>
        </p:txBody>
      </p:sp>
      <p:sp>
        <p:nvSpPr>
          <p:cNvPr id="111" name="Element 111"/>
          <p:cNvSpPr/>
          <p:nvPr/>
        </p:nvSpPr>
        <p:spPr>
          <a:xfrm>
            <a:off x="9326880" y="1554480"/>
            <a:ext cx="1737360" cy="1005840"/>
          </a:xfrm>
          <a:prstGeom prst="cloud">
            <a:avLst/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12" name="Element 112"/>
          <p:cNvSpPr/>
          <p:nvPr/>
        </p:nvSpPr>
        <p:spPr>
          <a:xfrm>
            <a:off x="9326880" y="361188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dyfuzja</a:t>
            </a:r>
          </a:p>
        </p:txBody>
      </p:sp>
      <p:cxnSp>
        <p:nvCxnSpPr>
          <p:cNvPr id="113" name="Linia 113"/>
          <p:cNvCxnSpPr/>
          <p:nvPr/>
        </p:nvCxnSpPr>
        <p:spPr>
          <a:xfrm flipV="1">
            <a:off x="9464040" y="2651760"/>
            <a:ext cx="274320" cy="91440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4" name="Linia 114"/>
          <p:cNvCxnSpPr/>
          <p:nvPr/>
        </p:nvCxnSpPr>
        <p:spPr>
          <a:xfrm>
            <a:off x="10195560" y="2651760"/>
            <a:ext cx="0" cy="91440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5" name="Linia 115"/>
          <p:cNvCxnSpPr/>
          <p:nvPr/>
        </p:nvCxnSpPr>
        <p:spPr>
          <a:xfrm>
            <a:off x="10652760" y="2651760"/>
            <a:ext cx="274320" cy="914400"/>
          </a:xfrm>
          <a:prstGeom prst="line">
            <a:avLst/>
          </a:prstGeom>
          <a:ln w="12700">
            <a:solidFill>
              <a:srgbClr val="E3B18D"/>
            </a:solidFill>
            <a:prstDash val="dash"/>
          </a:ln>
        </p:spPr>
      </p:cxnSp>
      <p:cxnSp>
        <p:nvCxnSpPr>
          <p:cNvPr id="116" name="Linia 116"/>
          <p:cNvCxnSpPr/>
          <p:nvPr/>
        </p:nvCxnSpPr>
        <p:spPr>
          <a:xfrm>
            <a:off x="6217920" y="4754880"/>
            <a:ext cx="5120640" cy="0"/>
          </a:xfrm>
          <a:prstGeom prst="line">
            <a:avLst/>
          </a:prstGeom>
          <a:ln w="22225">
            <a:solidFill>
              <a:srgbClr val="404040"/>
            </a:solidFill>
          </a:ln>
        </p:spPr>
      </p:cxnSp>
      <p:sp>
        <p:nvSpPr>
          <p:cNvPr id="117" name="Element 117"/>
          <p:cNvSpPr/>
          <p:nvPr/>
        </p:nvSpPr>
        <p:spPr>
          <a:xfrm>
            <a:off x="8503920" y="4160520"/>
            <a:ext cx="548640" cy="54864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18" name="Element 118"/>
          <p:cNvSpPr/>
          <p:nvPr/>
        </p:nvSpPr>
        <p:spPr>
          <a:xfrm>
            <a:off x="7863840" y="48463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fill light z nieba</a:t>
            </a:r>
          </a:p>
        </p:txBody>
      </p:sp>
      <p:sp>
        <p:nvSpPr>
          <p:cNvPr id="119" name="Gradient 119"/>
          <p:cNvSpPr/>
          <p:nvPr/>
        </p:nvSpPr>
        <p:spPr>
          <a:xfrm>
            <a:off x="6217920" y="5394960"/>
            <a:ext cx="5120640" cy="182880"/>
          </a:xfrm>
          <a:prstGeom prst="rect">
            <a:avLst/>
          </a:prstGeom>
          <a:gradFill>
            <a:gsLst>
              <a:gs pos="0">
                <a:srgbClr val="FFB36B"/>
              </a:gs>
              <a:gs pos="100000">
                <a:srgbClr val="CFE0F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20" name="Element 120"/>
          <p:cNvSpPr/>
          <p:nvPr/>
        </p:nvSpPr>
        <p:spPr>
          <a:xfrm>
            <a:off x="6217920" y="56235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złota godzina</a:t>
            </a:r>
          </a:p>
        </p:txBody>
      </p:sp>
    </p:spTree>
    <p:extLst>
      <p:ext uri="{BB962C8B-B14F-4D97-AF65-F5344CB8AC3E}">
        <p14:creationId xmlns:p14="http://schemas.microsoft.com/office/powerpoint/2010/main" val="2930735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667AF-D510-A228-1C18-B7709F66C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Sprzęt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60EAC-BFE7-AA15-17E6-38E853AC3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Mini Pavo</a:t>
            </a:r>
          </a:p>
          <a:p>
            <a:r>
              <a:rPr lang="pl-PL" dirty="0"/>
              <a:t>MC Pro</a:t>
            </a:r>
          </a:p>
          <a:p>
            <a:r>
              <a:rPr lang="pl-PL" dirty="0"/>
              <a:t>Czekoladki / małe panele LED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19D980-F2F9-A529-8B9D-D04C82064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B8234A-3202-12E9-A648-BD92C8CAE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22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309360" y="2743200"/>
            <a:ext cx="2560320" cy="365760"/>
          </a:xfrm>
          <a:prstGeom prst="roundRect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355080" y="2807208"/>
            <a:ext cx="2468880" cy="237744"/>
          </a:xfrm>
          <a:prstGeom prst="roundRect">
            <a:avLst/>
          </a:prstGeom>
          <a:solidFill>
            <a:srgbClr val="E3B18D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6309360" y="329184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Mini Pavo</a:t>
            </a:r>
          </a:p>
        </p:txBody>
      </p:sp>
      <p:sp>
        <p:nvSpPr>
          <p:cNvPr id="104" name="Element 104"/>
          <p:cNvSpPr/>
          <p:nvPr/>
        </p:nvSpPr>
        <p:spPr>
          <a:xfrm>
            <a:off x="9144000" y="2286000"/>
            <a:ext cx="1280160" cy="914400"/>
          </a:xfrm>
          <a:prstGeom prst="rect">
            <a:avLst/>
          </a:prstGeom>
          <a:noFill/>
          <a:ln w="2222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9281160" y="2423160"/>
            <a:ext cx="1005840" cy="640080"/>
          </a:xfrm>
          <a:prstGeom prst="rect">
            <a:avLst/>
          </a:prstGeom>
          <a:solidFill>
            <a:srgbClr val="E3B18D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9144000" y="329184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MC Pro</a:t>
            </a:r>
          </a:p>
        </p:txBody>
      </p:sp>
      <p:sp>
        <p:nvSpPr>
          <p:cNvPr id="107" name="Element 107"/>
          <p:cNvSpPr/>
          <p:nvPr/>
        </p:nvSpPr>
        <p:spPr>
          <a:xfrm>
            <a:off x="6583680" y="4297680"/>
            <a:ext cx="548640" cy="548640"/>
          </a:xfrm>
          <a:prstGeom prst="rect">
            <a:avLst/>
          </a:prstGeom>
          <a:solidFill>
            <a:srgbClr val="E3B18D"/>
          </a:solidFill>
          <a:ln w="1587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7269480" y="4297680"/>
            <a:ext cx="548640" cy="548640"/>
          </a:xfrm>
          <a:prstGeom prst="rect">
            <a:avLst/>
          </a:prstGeom>
          <a:solidFill>
            <a:srgbClr val="E3B18D"/>
          </a:solidFill>
          <a:ln w="1587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7955280" y="4297680"/>
            <a:ext cx="548640" cy="548640"/>
          </a:xfrm>
          <a:prstGeom prst="rect">
            <a:avLst/>
          </a:prstGeom>
          <a:solidFill>
            <a:srgbClr val="E3B18D"/>
          </a:solidFill>
          <a:ln w="15875">
            <a:solidFill>
              <a:srgbClr val="404040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10" name="Element 110"/>
          <p:cNvSpPr/>
          <p:nvPr/>
        </p:nvSpPr>
        <p:spPr>
          <a:xfrm>
            <a:off x="6309360" y="49834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600" b="0" dirty="0">
                <a:solidFill>
                  <a:srgbClr val="8A8A8A"/>
                </a:solidFill>
                <a:latin typeface="+mn-lt"/>
              </a:rPr>
              <a:t>czekoladki</a:t>
            </a:r>
          </a:p>
        </p:txBody>
      </p:sp>
      <p:sp>
        <p:nvSpPr>
          <p:cNvPr id="111" name="Element 111"/>
          <p:cNvSpPr/>
          <p:nvPr/>
        </p:nvSpPr>
        <p:spPr>
          <a:xfrm>
            <a:off x="9144000" y="438912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małe, mobilne, na baterie</a:t>
            </a:r>
          </a:p>
        </p:txBody>
      </p:sp>
    </p:spTree>
    <p:extLst>
      <p:ext uri="{BB962C8B-B14F-4D97-AF65-F5344CB8AC3E}">
        <p14:creationId xmlns:p14="http://schemas.microsoft.com/office/powerpoint/2010/main" val="26044558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B68C7-8646-86F5-4BB3-FA09E6204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Set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CB4BC-8167-DFE2-C1AC-E2D8BBB82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BCA624-379F-A259-7E97-9BAC6DCB7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285D8B-8689-41C4-A01C-8EA642BD6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23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271283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69949-F01B-DD3C-EE56-87BCED881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Set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F76F7-DF63-2D42-5CAE-97F22D80D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F8BC7-2BF3-31C9-C943-9D6ECD61C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0933C0-39ED-B5D8-28CE-2EA49282A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24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22654423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F93DF-9464-1EBF-7BFD-B679DDA2E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Set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03A79-9CFB-91C2-B731-089A5C6F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9BD17D-2785-8D17-256F-DECF4417A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AD46E0-CB2E-5CEF-BF44-7B85DC90F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25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7888194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86DE529-1D4A-CD08-E2B3-EFE928A61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BHP na planie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FF20398-C347-1A1D-B5C9-92BBC1599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Kable zabezpieczone</a:t>
            </a:r>
          </a:p>
          <a:p>
            <a:r>
              <a:rPr lang="pl-PL" dirty="0"/>
              <a:t>Statywy obciążone</a:t>
            </a:r>
          </a:p>
          <a:p>
            <a:r>
              <a:rPr lang="pl-PL" dirty="0"/>
              <a:t>Lampy stabilnie</a:t>
            </a:r>
          </a:p>
          <a:p>
            <a:r>
              <a:rPr lang="pl-PL" dirty="0"/>
              <a:t>Gorącego sprzętu nie dotykamy</a:t>
            </a:r>
          </a:p>
          <a:p>
            <a:r>
              <a:rPr lang="pl-PL" dirty="0"/>
              <a:t>Zmiany mówimy grupie</a:t>
            </a:r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8F741274-3727-5AE4-40FC-1C9480013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78087400-3866-FB8C-FE7E-326CA248A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4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309360" y="2011680"/>
            <a:ext cx="2377440" cy="2103120"/>
          </a:xfrm>
          <a:prstGeom prst="triangle">
            <a:avLst/>
          </a:prstGeom>
          <a:noFill/>
          <a:ln w="3810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7223760" y="2926080"/>
            <a:ext cx="5486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4800" b="1" dirty="0">
                <a:solidFill>
                  <a:srgbClr val="404040"/>
                </a:solidFill>
                <a:latin typeface="+mn-lt"/>
              </a:rPr>
              <a:t>!</a:t>
            </a:r>
          </a:p>
        </p:txBody>
      </p:sp>
      <p:cxnSp>
        <p:nvCxnSpPr>
          <p:cNvPr id="103" name="Linia 103"/>
          <p:cNvCxnSpPr/>
          <p:nvPr/>
        </p:nvCxnSpPr>
        <p:spPr>
          <a:xfrm>
            <a:off x="10058400" y="2194560"/>
            <a:ext cx="0" cy="1920240"/>
          </a:xfrm>
          <a:prstGeom prst="line">
            <a:avLst/>
          </a:prstGeom>
          <a:ln w="25400">
            <a:solidFill>
              <a:srgbClr val="404040"/>
            </a:solidFill>
          </a:ln>
        </p:spPr>
      </p:cxnSp>
      <p:cxnSp>
        <p:nvCxnSpPr>
          <p:cNvPr id="104" name="Linia 104"/>
          <p:cNvCxnSpPr/>
          <p:nvPr/>
        </p:nvCxnSpPr>
        <p:spPr>
          <a:xfrm flipV="1">
            <a:off x="9326880" y="4114800"/>
            <a:ext cx="731520" cy="914400"/>
          </a:xfrm>
          <a:prstGeom prst="line">
            <a:avLst/>
          </a:prstGeom>
          <a:ln w="25400">
            <a:solidFill>
              <a:srgbClr val="404040"/>
            </a:solidFill>
          </a:ln>
        </p:spPr>
      </p:cxnSp>
      <p:cxnSp>
        <p:nvCxnSpPr>
          <p:cNvPr id="105" name="Linia 105"/>
          <p:cNvCxnSpPr/>
          <p:nvPr/>
        </p:nvCxnSpPr>
        <p:spPr>
          <a:xfrm>
            <a:off x="10058400" y="4114800"/>
            <a:ext cx="731520" cy="914400"/>
          </a:xfrm>
          <a:prstGeom prst="line">
            <a:avLst/>
          </a:prstGeom>
          <a:ln w="25400">
            <a:solidFill>
              <a:srgbClr val="404040"/>
            </a:solidFill>
          </a:ln>
        </p:spPr>
      </p:cxnSp>
      <p:cxnSp>
        <p:nvCxnSpPr>
          <p:cNvPr id="106" name="Linia 106"/>
          <p:cNvCxnSpPr/>
          <p:nvPr/>
        </p:nvCxnSpPr>
        <p:spPr>
          <a:xfrm>
            <a:off x="10058400" y="4114800"/>
            <a:ext cx="0" cy="914400"/>
          </a:xfrm>
          <a:prstGeom prst="line">
            <a:avLst/>
          </a:prstGeom>
          <a:ln w="25400">
            <a:solidFill>
              <a:srgbClr val="404040"/>
            </a:solidFill>
          </a:ln>
        </p:spPr>
      </p:cxnSp>
      <p:sp>
        <p:nvSpPr>
          <p:cNvPr id="107" name="Element 107"/>
          <p:cNvSpPr/>
          <p:nvPr/>
        </p:nvSpPr>
        <p:spPr>
          <a:xfrm>
            <a:off x="9738360" y="1828800"/>
            <a:ext cx="640080" cy="457200"/>
          </a:xfrm>
          <a:prstGeom prst="round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9784080" y="4663440"/>
            <a:ext cx="548640" cy="3657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8869680" y="51663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statyw + obciążenie</a:t>
            </a:r>
          </a:p>
        </p:txBody>
      </p:sp>
      <p:sp>
        <p:nvSpPr>
          <p:cNvPr id="110" name="Element 110"/>
          <p:cNvSpPr/>
          <p:nvPr/>
        </p:nvSpPr>
        <p:spPr>
          <a:xfrm>
            <a:off x="6309360" y="42976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400" b="0" dirty="0">
                <a:solidFill>
                  <a:srgbClr val="8A8A8A"/>
                </a:solidFill>
                <a:latin typeface="+mn-lt"/>
              </a:rPr>
              <a:t>uwaga na planie</a:t>
            </a:r>
          </a:p>
        </p:txBody>
      </p:sp>
    </p:spTree>
    <p:extLst>
      <p:ext uri="{BB962C8B-B14F-4D97-AF65-F5344CB8AC3E}">
        <p14:creationId xmlns:p14="http://schemas.microsoft.com/office/powerpoint/2010/main" val="23355613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C2645-5EBF-48C5-3B87-093699F4D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Spójność wizualna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E5792-36EA-9C4E-1693-89E2793E8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Powtarzalne światło</a:t>
            </a:r>
          </a:p>
          <a:p>
            <a:r>
              <a:rPr lang="pl-PL" dirty="0"/>
              <a:t>Stała kolorystyka</a:t>
            </a:r>
          </a:p>
          <a:p>
            <a:r>
              <a:rPr lang="pl-PL" dirty="0"/>
              <a:t>Podobna kompozycja</a:t>
            </a:r>
          </a:p>
          <a:p>
            <a:r>
              <a:rPr lang="pl-PL" dirty="0"/>
              <a:t>Rozpoznawalny styl marki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19845-D26F-245A-51E3-74CCC9FEB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pl-PL" dirty="0"/>
              <a:t>Światło jako narzędzie pracy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47FD3A-FFCB-E024-CFCB-AB4821141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l-PL" noProof="0" smtClean="0"/>
              <a:t>19</a:t>
            </a:fld>
            <a:endParaRPr lang="pl-PL" noProof="0"/>
          </a:p>
        </p:txBody>
      </p:sp>
      <p:sp>
        <p:nvSpPr>
          <p:cNvPr id="101" name="Element 101"/>
          <p:cNvSpPr/>
          <p:nvPr/>
        </p:nvSpPr>
        <p:spPr>
          <a:xfrm>
            <a:off x="6217920" y="1737360"/>
            <a:ext cx="5120640" cy="3291840"/>
          </a:xfrm>
          <a:prstGeom prst="rect">
            <a:avLst/>
          </a:prstGeom>
          <a:noFill/>
          <a:ln w="1905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2" name="Element 102"/>
          <p:cNvSpPr/>
          <p:nvPr/>
        </p:nvSpPr>
        <p:spPr>
          <a:xfrm>
            <a:off x="6537960" y="2057400"/>
            <a:ext cx="822960" cy="82296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3" name="Element 103"/>
          <p:cNvSpPr/>
          <p:nvPr/>
        </p:nvSpPr>
        <p:spPr>
          <a:xfrm>
            <a:off x="7589520" y="219456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3600" b="1" dirty="0">
                <a:solidFill>
                  <a:srgbClr val="404040"/>
                </a:solidFill>
                <a:latin typeface="+mn-lt"/>
              </a:rPr>
              <a:t>Aa</a:t>
            </a:r>
          </a:p>
        </p:txBody>
      </p:sp>
      <p:sp>
        <p:nvSpPr>
          <p:cNvPr id="104" name="Element 104"/>
          <p:cNvSpPr/>
          <p:nvPr/>
        </p:nvSpPr>
        <p:spPr>
          <a:xfrm>
            <a:off x="6492240" y="3291840"/>
            <a:ext cx="731520" cy="731520"/>
          </a:xfrm>
          <a:prstGeom prst="rect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5" name="Element 105"/>
          <p:cNvSpPr/>
          <p:nvPr/>
        </p:nvSpPr>
        <p:spPr>
          <a:xfrm>
            <a:off x="7360920" y="3291840"/>
            <a:ext cx="731520" cy="7315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6" name="Element 106"/>
          <p:cNvSpPr/>
          <p:nvPr/>
        </p:nvSpPr>
        <p:spPr>
          <a:xfrm>
            <a:off x="8229600" y="3291840"/>
            <a:ext cx="731520" cy="731520"/>
          </a:xfrm>
          <a:prstGeom prst="rect">
            <a:avLst/>
          </a:prstGeom>
          <a:solidFill>
            <a:srgbClr val="C9CDD2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7" name="Element 107"/>
          <p:cNvSpPr/>
          <p:nvPr/>
        </p:nvSpPr>
        <p:spPr>
          <a:xfrm>
            <a:off x="9098280" y="3291840"/>
            <a:ext cx="731520" cy="731520"/>
          </a:xfrm>
          <a:prstGeom prst="rect">
            <a:avLst/>
          </a:prstGeom>
          <a:solidFill>
            <a:srgbClr val="FBF4EF"/>
          </a:solidFill>
          <a:ln w="12700">
            <a:solidFill>
              <a:srgbClr val="E3B18D"/>
            </a:solidFill>
          </a:ln>
        </p:spPr>
        <p:txBody>
          <a:bodyPr/>
          <a:lstStyle/>
          <a:p>
            <a:endParaRPr lang="pl-PL"/>
          </a:p>
        </p:txBody>
      </p:sp>
      <p:sp>
        <p:nvSpPr>
          <p:cNvPr id="108" name="Element 108"/>
          <p:cNvSpPr/>
          <p:nvPr/>
        </p:nvSpPr>
        <p:spPr>
          <a:xfrm>
            <a:off x="9966960" y="3291840"/>
            <a:ext cx="731520" cy="731520"/>
          </a:xfrm>
          <a:prstGeom prst="rect">
            <a:avLst/>
          </a:prstGeom>
          <a:solidFill>
            <a:srgbClr val="8A8A8A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sp>
        <p:nvSpPr>
          <p:cNvPr id="109" name="Element 109"/>
          <p:cNvSpPr/>
          <p:nvPr/>
        </p:nvSpPr>
        <p:spPr>
          <a:xfrm>
            <a:off x="10104120" y="2240280"/>
            <a:ext cx="457200" cy="457200"/>
          </a:xfrm>
          <a:prstGeom prst="ellipse">
            <a:avLst/>
          </a:prstGeom>
          <a:solidFill>
            <a:srgbClr val="E3B18D"/>
          </a:solidFill>
          <a:ln>
            <a:noFill/>
          </a:ln>
        </p:spPr>
        <p:txBody>
          <a:bodyPr/>
          <a:lstStyle/>
          <a:p>
            <a:endParaRPr lang="pl-PL"/>
          </a:p>
        </p:txBody>
      </p:sp>
      <p:cxnSp>
        <p:nvCxnSpPr>
          <p:cNvPr id="110" name="Linia 110"/>
          <p:cNvCxnSpPr/>
          <p:nvPr/>
        </p:nvCxnSpPr>
        <p:spPr>
          <a:xfrm>
            <a:off x="9509760" y="2468880"/>
            <a:ext cx="548640" cy="0"/>
          </a:xfrm>
          <a:prstGeom prst="line">
            <a:avLst/>
          </a:prstGeom>
          <a:ln w="15875">
            <a:solidFill>
              <a:srgbClr val="E3B18D"/>
            </a:solidFill>
            <a:prstDash val="dash"/>
          </a:ln>
        </p:spPr>
      </p:cxnSp>
      <p:sp>
        <p:nvSpPr>
          <p:cNvPr id="111" name="Element 111"/>
          <p:cNvSpPr/>
          <p:nvPr/>
        </p:nvSpPr>
        <p:spPr>
          <a:xfrm>
            <a:off x="9418320" y="27432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pl-PL" sz="1200" b="0" dirty="0">
                <a:solidFill>
                  <a:srgbClr val="8A8A8A"/>
                </a:solidFill>
                <a:latin typeface="+mn-lt"/>
              </a:rPr>
              <a:t>to samo światło</a:t>
            </a:r>
          </a:p>
        </p:txBody>
      </p:sp>
      <p:sp>
        <p:nvSpPr>
          <p:cNvPr id="112" name="Element 112"/>
          <p:cNvSpPr/>
          <p:nvPr/>
        </p:nvSpPr>
        <p:spPr>
          <a:xfrm>
            <a:off x="6492240" y="42976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pl-PL" sz="1400" b="0" dirty="0">
                <a:solidFill>
                  <a:srgbClr val="8A8A8A"/>
                </a:solidFill>
                <a:latin typeface="+mn-lt"/>
              </a:rPr>
              <a:t>logo · font · paleta · światło</a:t>
            </a:r>
          </a:p>
        </p:txBody>
      </p:sp>
    </p:spTree>
    <p:extLst>
      <p:ext uri="{BB962C8B-B14F-4D97-AF65-F5344CB8AC3E}">
        <p14:creationId xmlns:p14="http://schemas.microsoft.com/office/powerpoint/2010/main" val="2703674974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noline" id="{080CB5C6-FA0A-40B0-8C1A-A4BA88D91EE0}" vid="{DC98E595-77B2-413A-A4EA-B47400BD13CB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75DC67E-4FAC-4989-A1C6-9CCFAE7240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C14FED0-9A95-4A83-8CAA-A3BB5938F8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C4BA2C8-4C3C-4809-AD4F-FED9B4D74B8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Colorful Certificate</Template>
  <TotalTime>0</TotalTime>
  <Words>792</Words>
  <Application>Microsoft Office PowerPoint</Application>
  <PresentationFormat>Widescreen</PresentationFormat>
  <Paragraphs>262</Paragraphs>
  <Slides>25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Monoline</vt:lpstr>
      <vt:lpstr>Światło jako narzędzie pracy</vt:lpstr>
      <vt:lpstr>Warsztaty fotografii i wideo beauty &amp; product</vt:lpstr>
      <vt:lpstr>Plan dnia </vt:lpstr>
      <vt:lpstr>Zasady pracy&amp; BHP na planie  </vt:lpstr>
      <vt:lpstr>Parametry kamery Trójkąt ekspozycji</vt:lpstr>
      <vt:lpstr>Kontrola ekspozycji</vt:lpstr>
      <vt:lpstr>Rodzaje światła</vt:lpstr>
      <vt:lpstr>Kierunek światła </vt:lpstr>
      <vt:lpstr> Soft light i hard light</vt:lpstr>
      <vt:lpstr>Modyfikatory</vt:lpstr>
      <vt:lpstr>Blenda</vt:lpstr>
      <vt:lpstr> Trzy źródła światła</vt:lpstr>
      <vt:lpstr>Najczęstsze błędy</vt:lpstr>
      <vt:lpstr>Praca z modelem</vt:lpstr>
      <vt:lpstr>Kontrast &amp; Negativ fill</vt:lpstr>
      <vt:lpstr>Jedna osoba i dwie osoby </vt:lpstr>
      <vt:lpstr> Produkt: odbicia i cienie </vt:lpstr>
      <vt:lpstr>Kąt światła przy produkcie </vt:lpstr>
      <vt:lpstr>Hero shot i storytelling&amp; Spójność wizualna </vt:lpstr>
      <vt:lpstr>Stopniowe odstawianie produktu &amp; Światło Wędrujące </vt:lpstr>
      <vt:lpstr>Rozumienie śwaitła naturalnego</vt:lpstr>
      <vt:lpstr>PowerPoint Presentation</vt:lpstr>
      <vt:lpstr>Set 1</vt:lpstr>
      <vt:lpstr>Set 2</vt:lpstr>
      <vt:lpstr>Set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181</cp:revision>
  <dcterms:created xsi:type="dcterms:W3CDTF">2026-10-22T11:13:38Z</dcterms:created>
  <dcterms:modified xsi:type="dcterms:W3CDTF">2026-10-22T18:10:58Z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