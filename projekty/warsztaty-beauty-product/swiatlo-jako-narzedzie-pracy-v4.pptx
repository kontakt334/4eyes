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0"/>
  </p:notesMasterIdLst>
  <p:handoutMasterIdLst>
    <p:handoutMasterId r:id="rId31"/>
  </p:handoutMasterIdLst>
  <p:sldIdLst>
    <p:sldId id="256" r:id="rId5"/>
    <p:sldId id="260" r:id="rId6"/>
    <p:sldId id="257" r:id="rId7"/>
    <p:sldId id="258" r:id="rId8"/>
    <p:sldId id="281" r:id="rId39"/>
    <p:sldId id="259" r:id="rId9"/>
    <p:sldId id="263" r:id="rId10"/>
    <p:sldId id="261" r:id="rId11"/>
    <p:sldId id="267" r:id="rId15"/>
    <p:sldId id="262" r:id="rId12"/>
    <p:sldId id="266" r:id="rId13"/>
    <p:sldId id="269" r:id="rId14"/>
    <p:sldId id="268" r:id="rId16"/>
    <p:sldId id="264" r:id="rId17"/>
    <p:sldId id="265" r:id="rId18"/>
    <p:sldId id="270" r:id="rId19"/>
    <p:sldId id="271" r:id="rId20"/>
    <p:sldId id="272" r:id="rId21"/>
    <p:sldId id="273" r:id="rId22"/>
    <p:sldId id="274" r:id="rId23"/>
    <p:sldId id="282" r:id="rId40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467" dt="2026-10-22T18:42:13.828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  <Relationship Id="rId39" Type="http://schemas.openxmlformats.org/officeDocument/2006/relationships/slide" Target="slides/slide26.xml"/>
  <Relationship Id="rId40" Type="http://schemas.openxmlformats.org/officeDocument/2006/relationships/slide" Target="slides/slide27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Kawka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8100000">
            <a:off x="6400800" y="1280160"/>
            <a:ext cx="2743200" cy="2743200"/>
          </a:xfrm>
          <a:prstGeom prst="triangle">
            <a:avLst/>
          </a:prstGeom>
          <a:solidFill>
            <a:srgbClr val="E3B18D">
              <a:alpha val="18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27648" y="111556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126480" y="173736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8138160" y="2651760"/>
            <a:ext cx="914400" cy="91440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955280" y="3657600"/>
            <a:ext cx="1280160" cy="1280160"/>
          </a:xfrm>
          <a:prstGeom prst="round2Same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95528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model</a:t>
            </a:r>
          </a:p>
        </p:txBody>
      </p:sp>
      <p:sp>
        <p:nvSpPr>
          <p:cNvPr id="107" name="Element 107"/>
          <p:cNvSpPr/>
          <p:nvPr/>
        </p:nvSpPr>
        <p:spPr>
          <a:xfrm>
            <a:off x="10058400" y="3566160"/>
            <a:ext cx="914400" cy="137160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10332720" y="3108960"/>
            <a:ext cx="365760" cy="4572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287000" y="2880360"/>
            <a:ext cx="457200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987552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produkt</a:t>
            </a:r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pl-PL" dirty="0"/>
              <a:t>Teoria światła i ekspozycji</a:t>
            </a:r>
          </a:p>
          <a:p>
            <a:pPr>
              <a:spcBef>
                <a:spcPts val="600"/>
              </a:spcBef>
            </a:pPr>
            <a:r>
              <a:rPr lang="pl-PL" dirty="0"/>
              <a:t>Praktyka podstawowa</a:t>
            </a:r>
          </a:p>
          <a:p>
            <a:pPr>
              <a:spcBef>
                <a:spcPts val="600"/>
              </a:spcBef>
            </a:pPr>
            <a:r>
              <a:rPr lang="pl-PL" dirty="0"/>
              <a:t>Sprzęt i zastosowania</a:t>
            </a:r>
          </a:p>
          <a:p>
            <a:pPr>
              <a:spcBef>
                <a:spcPts val="600"/>
              </a:spcBef>
            </a:pPr>
            <a:r>
              <a:rPr lang="pl-PL" dirty="0"/>
              <a:t>13:00 — przerwa obiadowa</a:t>
            </a:r>
          </a:p>
          <a:p>
            <a:pPr>
              <a:spcBef>
                <a:spcPts val="600"/>
              </a:spcBef>
            </a:pPr>
            <a:r>
              <a:rPr lang="pl-PL" dirty="0"/>
              <a:t>Fotografia produktu</a:t>
            </a:r>
          </a:p>
          <a:p>
            <a:pPr>
              <a:spcBef>
                <a:spcPts val="600"/>
              </a:spcBef>
            </a:pPr>
            <a:r>
              <a:rPr lang="pl-PL" dirty="0"/>
              <a:t>Setupy studyjne</a:t>
            </a:r>
          </a:p>
          <a:p>
            <a:pPr>
              <a:spcBef>
                <a:spcPts val="600"/>
              </a:spcBef>
            </a:pPr>
            <a:r>
              <a:rPr lang="pl-PL" dirty="0"/>
              <a:t>LAB i własne ćwiczenia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219679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2237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85953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966960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971041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8" name="Element 108"/>
          <p:cNvSpPr/>
          <p:nvPr/>
        </p:nvSpPr>
        <p:spPr>
          <a:xfrm>
            <a:off x="5945359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9" name="Element 109"/>
          <p:cNvSpPr/>
          <p:nvPr/>
        </p:nvSpPr>
        <p:spPr>
          <a:xfrm>
            <a:off x="69494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0" name="Element 110"/>
          <p:cNvSpPr/>
          <p:nvPr/>
        </p:nvSpPr>
        <p:spPr>
          <a:xfrm>
            <a:off x="8183880" y="169164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1" dirty="0">
                <a:solidFill>
                  <a:srgbClr val="FFFFFF"/>
                </a:solidFill>
                <a:latin typeface="+mn-lt"/>
              </a:rPr>
              <a:t>przerwa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6926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2" name="Element 112"/>
          <p:cNvSpPr/>
          <p:nvPr/>
        </p:nvSpPr>
        <p:spPr>
          <a:xfrm>
            <a:off x="10696721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10642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6</a:t>
            </a:r>
          </a:p>
        </p:txBody>
      </p:sp>
      <p:sp>
        <p:nvSpPr>
          <p:cNvPr id="114" name="Element 114"/>
          <p:cNvSpPr/>
          <p:nvPr/>
        </p:nvSpPr>
        <p:spPr>
          <a:xfrm>
            <a:off x="539496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9:00</a:t>
            </a:r>
          </a:p>
        </p:txBody>
      </p:sp>
      <p:sp>
        <p:nvSpPr>
          <p:cNvPr id="115" name="Element 115"/>
          <p:cNvSpPr/>
          <p:nvPr/>
        </p:nvSpPr>
        <p:spPr>
          <a:xfrm>
            <a:off x="1051560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17:20</a:t>
            </a:r>
          </a:p>
        </p:txBody>
      </p:sp>
      <p:sp>
        <p:nvSpPr>
          <p:cNvPr id="116" name="Element 116"/>
          <p:cNvSpPr/>
          <p:nvPr/>
        </p:nvSpPr>
        <p:spPr>
          <a:xfrm>
            <a:off x="7863840" y="260604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13:00</a:t>
            </a:r>
          </a:p>
        </p:txBody>
      </p:sp>
      <p:sp>
        <p:nvSpPr>
          <p:cNvPr id="117" name="Element 117"/>
          <p:cNvSpPr/>
          <p:nvPr/>
        </p:nvSpPr>
        <p:spPr>
          <a:xfrm>
            <a:off x="7223760" y="3383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9:00 – 17:20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8595360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9616555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574165" y="4834554"/>
            <a:ext cx="204238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3032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943032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8275320" y="13716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927648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29651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09" name="Element 109"/>
          <p:cNvSpPr/>
          <p:nvPr/>
        </p:nvSpPr>
        <p:spPr>
          <a:xfrm>
            <a:off x="725412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22992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80960" y="32004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proces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8F5C-3571-4B6D-27AA-DD6322DA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Modyfikatory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86607-DB87-6250-A859-D5F6E12A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Zmiękczające</a:t>
            </a:r>
          </a:p>
          <a:p>
            <a:r>
              <a:rPr lang="pl-PL" dirty="0"/>
              <a:t>Softboxy, lanterny, octy</a:t>
            </a:r>
          </a:p>
          <a:p>
            <a:r>
              <a:rPr lang="pl-PL" b="1" dirty="0"/>
              <a:t>Kierunkowe</a:t>
            </a:r>
          </a:p>
          <a:p>
            <a:r>
              <a:rPr lang="pl-PL" dirty="0"/>
              <a:t>Fresnel, spotlight, strumienica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5E9E48-3888-6E57-E112-751C5C25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0D6DC-0863-D15B-C760-DB49A23B4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6200000">
            <a:off x="6217920" y="2331720"/>
            <a:ext cx="1463040" cy="100584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 flipV="1">
            <a:off x="7498080" y="1828800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 flipV="1">
            <a:off x="7498080" y="237744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498080" y="2834640"/>
            <a:ext cx="155448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98080" y="299466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98080" y="3186684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7" name="Element 107"/>
          <p:cNvSpPr/>
          <p:nvPr/>
        </p:nvSpPr>
        <p:spPr>
          <a:xfrm>
            <a:off x="621792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softbox, oct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400032" y="2633472"/>
            <a:ext cx="402336" cy="40233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 flipV="1">
            <a:off x="9784080" y="256032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10" name="Linia 110"/>
          <p:cNvCxnSpPr/>
          <p:nvPr/>
        </p:nvCxnSpPr>
        <p:spPr>
          <a:xfrm>
            <a:off x="9784080" y="292608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9144000" y="41148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fresnel, spot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miękko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14400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kierunkowo</a:t>
            </a:r>
          </a:p>
        </p:txBody>
      </p:sp>
    </p:spTree>
    <p:extLst>
      <p:ext uri="{BB962C8B-B14F-4D97-AF65-F5344CB8AC3E}">
        <p14:creationId xmlns:p14="http://schemas.microsoft.com/office/powerpoint/2010/main" val="367453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88E3C-43D5-EE75-B533-7AB61B92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Blenda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9C4CC-D103-A5A6-F908-511676C3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Biała — delikatne odbicie</a:t>
            </a:r>
          </a:p>
          <a:p>
            <a:r>
              <a:rPr lang="pl-PL" dirty="0"/>
              <a:t>Srebrna — mocniejsze odbicie</a:t>
            </a:r>
          </a:p>
          <a:p>
            <a:r>
              <a:rPr lang="pl-PL" dirty="0"/>
              <a:t>Złota — cieplejszy efekt</a:t>
            </a:r>
          </a:p>
          <a:p>
            <a:r>
              <a:rPr lang="pl-PL" dirty="0"/>
              <a:t>Blenda działa jako fill light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8FF6F-ABE8-26F2-7F71-2943F4420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D85E-EAA7-43D1-3ED7-A9489E3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4688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biała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321040" y="2468880"/>
            <a:ext cx="1463040" cy="1463040"/>
          </a:xfrm>
          <a:prstGeom prst="ellipse">
            <a:avLst/>
          </a:prstGeom>
          <a:solidFill>
            <a:srgbClr val="C9CDD2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2296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srebrna</a:t>
            </a:r>
          </a:p>
        </p:txBody>
      </p:sp>
      <p:sp>
        <p:nvSpPr>
          <p:cNvPr id="105" name="Element 105"/>
          <p:cNvSpPr/>
          <p:nvPr/>
        </p:nvSpPr>
        <p:spPr>
          <a:xfrm>
            <a:off x="10149840" y="2468880"/>
            <a:ext cx="1463040" cy="1463040"/>
          </a:xfrm>
          <a:prstGeom prst="ellipse">
            <a:avLst/>
          </a:prstGeom>
          <a:solidFill>
            <a:srgbClr val="E8B84A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złota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coraz mocniejsze / cieplejsze odbicie</a:t>
            </a:r>
          </a:p>
        </p:txBody>
      </p:sp>
    </p:spTree>
    <p:extLst>
      <p:ext uri="{BB962C8B-B14F-4D97-AF65-F5344CB8AC3E}">
        <p14:creationId xmlns:p14="http://schemas.microsoft.com/office/powerpoint/2010/main" val="1508779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116-1E94-BB68-20A0-43DB5D2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Trzy źródła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916B-0BB7-AB61-31ED-25DB612E8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light — główne światło</a:t>
            </a:r>
          </a:p>
          <a:p>
            <a:r>
              <a:rPr lang="pl-PL" dirty="0"/>
              <a:t>Fill light — kontrola cieni</a:t>
            </a:r>
          </a:p>
          <a:p>
            <a:r>
              <a:rPr lang="pl-PL" dirty="0"/>
              <a:t>Rim / back / counter light — separacja od tła</a:t>
            </a:r>
          </a:p>
          <a:p>
            <a:r>
              <a:rPr lang="pl-PL" dirty="0"/>
              <a:t>Balans mocy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946B5-FA5E-ABDF-838F-0C9F9F192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0D42-E6C4-7C56-4CDA-87A9E31E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 flipV="1">
            <a:off x="747677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7060212" y="4415508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5871492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91864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9691596" y="4525236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30508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Rim / back / counter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631673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13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263640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43737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611112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784848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58584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13232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0605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79792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1264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ciemno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9552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09244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26617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8439912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8613648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787384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961120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13485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30859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79552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OK</a:t>
            </a:r>
          </a:p>
        </p:txBody>
      </p:sp>
      <p:sp>
        <p:nvSpPr>
          <p:cNvPr id="121" name="Element 121"/>
          <p:cNvSpPr/>
          <p:nvPr/>
        </p:nvSpPr>
        <p:spPr>
          <a:xfrm>
            <a:off x="97840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2" name="Element 122"/>
          <p:cNvSpPr/>
          <p:nvPr/>
        </p:nvSpPr>
        <p:spPr>
          <a:xfrm>
            <a:off x="9921240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09497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026871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10442448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6" name="Element 126"/>
          <p:cNvSpPr/>
          <p:nvPr/>
        </p:nvSpPr>
        <p:spPr>
          <a:xfrm>
            <a:off x="10616184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7" name="Element 127"/>
          <p:cNvSpPr/>
          <p:nvPr/>
        </p:nvSpPr>
        <p:spPr>
          <a:xfrm>
            <a:off x="10789920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8" name="Element 128"/>
          <p:cNvSpPr/>
          <p:nvPr/>
        </p:nvSpPr>
        <p:spPr>
          <a:xfrm>
            <a:off x="1096365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9" name="Element 129"/>
          <p:cNvSpPr/>
          <p:nvPr/>
        </p:nvSpPr>
        <p:spPr>
          <a:xfrm>
            <a:off x="11137392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0" name="Element 130"/>
          <p:cNvSpPr/>
          <p:nvPr/>
        </p:nvSpPr>
        <p:spPr>
          <a:xfrm>
            <a:off x="97840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jasno</a:t>
            </a:r>
          </a:p>
        </p:txBody>
      </p:sp>
      <p:sp>
        <p:nvSpPr>
          <p:cNvPr id="131" name="Element 131"/>
          <p:cNvSpPr/>
          <p:nvPr/>
        </p:nvSpPr>
        <p:spPr>
          <a:xfrm>
            <a:off x="6126480" y="4846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histogram: zły i dobry rozkład</a:t>
            </a:r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-2100000">
            <a:off x="7406640" y="2697480"/>
            <a:ext cx="2377440" cy="64008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 rot="10800000">
            <a:off x="8485632" y="3246120"/>
            <a:ext cx="237744" cy="274320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183880" y="5029200"/>
            <a:ext cx="82296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8595360" y="3566160"/>
            <a:ext cx="0" cy="1463040"/>
          </a:xfrm>
          <a:prstGeom prst="line">
            <a:avLst/>
          </a:prstGeom>
          <a:ln w="1905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8778240" y="41148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oś kamery</a:t>
            </a:r>
          </a:p>
        </p:txBody>
      </p:sp>
      <p:cxnSp>
        <p:nvCxnSpPr>
          <p:cNvPr id="107" name="Linia 107"/>
          <p:cNvCxnSpPr/>
          <p:nvPr/>
        </p:nvCxnSpPr>
        <p:spPr>
          <a:xfrm flipV="1">
            <a:off x="9573768" y="2011680"/>
            <a:ext cx="484632" cy="32004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04120" y="1828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linia barków</a:t>
            </a:r>
          </a:p>
        </p:txBody>
      </p:sp>
      <p:cxnSp>
        <p:nvCxnSpPr>
          <p:cNvPr id="109" name="Linia 109"/>
          <p:cNvCxnSpPr/>
          <p:nvPr/>
        </p:nvCxnSpPr>
        <p:spPr>
          <a:xfrm>
            <a:off x="8869680" y="2880360"/>
            <a:ext cx="1188720" cy="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10104120" y="2697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głowa i wzrok</a:t>
            </a:r>
          </a:p>
        </p:txBody>
      </p:sp>
      <p:sp>
        <p:nvSpPr>
          <p:cNvPr id="111" name="Element 111"/>
          <p:cNvSpPr/>
          <p:nvPr/>
        </p:nvSpPr>
        <p:spPr>
          <a:xfrm>
            <a:off x="6309360" y="146304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widok z góry: ciało lekko skręcone do kamery</a:t>
            </a:r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6EFAF-E81A-21EF-DB2E-8CA6CB7D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Kontrast i negative fill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933E-34F2-FA99-98AF-A95F6B6C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Kontrolowane zabieranie światła</a:t>
            </a:r>
          </a:p>
          <a:p>
            <a:r>
              <a:rPr lang="pl-PL" dirty="0"/>
              <a:t>Flagi, negatywy, flopy</a:t>
            </a:r>
          </a:p>
          <a:p>
            <a:r>
              <a:rPr lang="pl-PL" dirty="0"/>
              <a:t>Dostosowanie kontrastu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8F6A0-E188-77C0-388E-DB8F74C8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58810-057A-1CC9-B688-B90B3DF8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15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8046720" y="2880360"/>
            <a:ext cx="1097280" cy="10972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046720" y="32461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sp>
        <p:nvSpPr>
          <p:cNvPr id="103" name="Element 103"/>
          <p:cNvSpPr/>
          <p:nvPr/>
        </p:nvSpPr>
        <p:spPr>
          <a:xfrm>
            <a:off x="5943600" y="31546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5577840" y="3840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światło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6492240" y="3429000"/>
            <a:ext cx="146304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10332720" y="2423160"/>
            <a:ext cx="201168" cy="2011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784080" y="45720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flaga</a:t>
            </a:r>
          </a:p>
        </p:txBody>
      </p:sp>
      <p:cxnSp>
        <p:nvCxnSpPr>
          <p:cNvPr id="108" name="Linia 108"/>
          <p:cNvCxnSpPr/>
          <p:nvPr/>
        </p:nvCxnSpPr>
        <p:spPr>
          <a:xfrm>
            <a:off x="9235440" y="3429000"/>
            <a:ext cx="1051560" cy="0"/>
          </a:xfrm>
          <a:prstGeom prst="line">
            <a:avLst/>
          </a:prstGeom>
          <a:ln w="15875">
            <a:solidFill>
              <a:srgbClr val="8A8A8A"/>
            </a:solidFill>
            <a:prstDash val="dash"/>
          </a:ln>
        </p:spPr>
      </p:cxnSp>
      <p:sp>
        <p:nvSpPr>
          <p:cNvPr id="109" name="Element 109"/>
          <p:cNvSpPr/>
          <p:nvPr/>
        </p:nvSpPr>
        <p:spPr>
          <a:xfrm>
            <a:off x="6309360" y="14630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flaga zabiera światło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2713917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Jedna osoba i dwie osoby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Odległość od źródła</a:t>
            </a:r>
          </a:p>
          <a:p>
            <a:r>
              <a:rPr lang="pl-PL" dirty="0"/>
              <a:t>Wielkość źródła</a:t>
            </a:r>
          </a:p>
          <a:p>
            <a:r>
              <a:rPr lang="pl-PL" dirty="0"/>
              <a:t>Pozycja względem osi</a:t>
            </a:r>
          </a:p>
          <a:p>
            <a:r>
              <a:rPr lang="pl-PL" dirty="0"/>
              <a:t>Kontrola cieni na obu twarzach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949440" y="2433008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2" name="Linia 102"/>
          <p:cNvCxnSpPr/>
          <p:nvPr/>
        </p:nvCxnSpPr>
        <p:spPr>
          <a:xfrm>
            <a:off x="7106118" y="2542715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7241365" y="2677962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351072" y="2834640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31906" y="3007988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81410" y="3192739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7" name="Linia 107"/>
          <p:cNvCxnSpPr/>
          <p:nvPr/>
        </p:nvCxnSpPr>
        <p:spPr>
          <a:xfrm flipV="1">
            <a:off x="7481410" y="3383280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8" name="Linia 108"/>
          <p:cNvCxnSpPr/>
          <p:nvPr/>
        </p:nvCxnSpPr>
        <p:spPr>
          <a:xfrm flipV="1">
            <a:off x="7431906" y="3573821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9" name="Linia 109"/>
          <p:cNvCxnSpPr/>
          <p:nvPr/>
        </p:nvCxnSpPr>
        <p:spPr>
          <a:xfrm flipV="1">
            <a:off x="7351072" y="3758572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0" name="Linia 110"/>
          <p:cNvCxnSpPr/>
          <p:nvPr/>
        </p:nvCxnSpPr>
        <p:spPr>
          <a:xfrm flipV="1">
            <a:off x="7241365" y="3931920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1" name="Linia 111"/>
          <p:cNvCxnSpPr/>
          <p:nvPr/>
        </p:nvCxnSpPr>
        <p:spPr>
          <a:xfrm flipV="1">
            <a:off x="7106118" y="4088598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2" name="Linia 112"/>
          <p:cNvCxnSpPr/>
          <p:nvPr/>
        </p:nvCxnSpPr>
        <p:spPr>
          <a:xfrm flipV="1">
            <a:off x="6949440" y="4223845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3" name="Linia 113"/>
          <p:cNvCxnSpPr/>
          <p:nvPr/>
        </p:nvCxnSpPr>
        <p:spPr>
          <a:xfrm>
            <a:off x="7406640" y="1641114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7693883" y="1842244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7941836" y="2090197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8142966" y="2377440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7" name="Linia 117"/>
          <p:cNvCxnSpPr/>
          <p:nvPr/>
        </p:nvCxnSpPr>
        <p:spPr>
          <a:xfrm>
            <a:off x="8291161" y="269524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8" name="Linia 118"/>
          <p:cNvCxnSpPr/>
          <p:nvPr/>
        </p:nvCxnSpPr>
        <p:spPr>
          <a:xfrm>
            <a:off x="8381918" y="3033955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9" name="Linia 119"/>
          <p:cNvCxnSpPr/>
          <p:nvPr/>
        </p:nvCxnSpPr>
        <p:spPr>
          <a:xfrm flipV="1">
            <a:off x="8381918" y="3383280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0" name="Linia 120"/>
          <p:cNvCxnSpPr/>
          <p:nvPr/>
        </p:nvCxnSpPr>
        <p:spPr>
          <a:xfrm flipV="1">
            <a:off x="8291161" y="373260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8142966" y="4071315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2" name="Linia 122"/>
          <p:cNvCxnSpPr/>
          <p:nvPr/>
        </p:nvCxnSpPr>
        <p:spPr>
          <a:xfrm flipV="1">
            <a:off x="7941836" y="4389120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3" name="Linia 123"/>
          <p:cNvCxnSpPr/>
          <p:nvPr/>
        </p:nvCxnSpPr>
        <p:spPr>
          <a:xfrm flipV="1">
            <a:off x="7693883" y="4676363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4" name="Linia 124"/>
          <p:cNvCxnSpPr/>
          <p:nvPr/>
        </p:nvCxnSpPr>
        <p:spPr>
          <a:xfrm flipV="1">
            <a:off x="7406640" y="4924316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5" name="Linia 125"/>
          <p:cNvCxnSpPr/>
          <p:nvPr/>
        </p:nvCxnSpPr>
        <p:spPr>
          <a:xfrm>
            <a:off x="7863840" y="849220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6" name="Linia 126"/>
          <p:cNvCxnSpPr/>
          <p:nvPr/>
        </p:nvCxnSpPr>
        <p:spPr>
          <a:xfrm>
            <a:off x="8281648" y="1141773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7" name="Linia 127"/>
          <p:cNvCxnSpPr/>
          <p:nvPr/>
        </p:nvCxnSpPr>
        <p:spPr>
          <a:xfrm>
            <a:off x="8642307" y="1502432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8" name="Linia 128"/>
          <p:cNvCxnSpPr/>
          <p:nvPr/>
        </p:nvCxnSpPr>
        <p:spPr>
          <a:xfrm>
            <a:off x="8934860" y="1920240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9" name="Linia 129"/>
          <p:cNvCxnSpPr/>
          <p:nvPr/>
        </p:nvCxnSpPr>
        <p:spPr>
          <a:xfrm>
            <a:off x="9150416" y="2382502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0" name="Linia 130"/>
          <p:cNvCxnSpPr/>
          <p:nvPr/>
        </p:nvCxnSpPr>
        <p:spPr>
          <a:xfrm>
            <a:off x="9282426" y="2875172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1" name="Linia 131"/>
          <p:cNvCxnSpPr/>
          <p:nvPr/>
        </p:nvCxnSpPr>
        <p:spPr>
          <a:xfrm flipV="1">
            <a:off x="9282426" y="3383280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2" name="Linia 132"/>
          <p:cNvCxnSpPr/>
          <p:nvPr/>
        </p:nvCxnSpPr>
        <p:spPr>
          <a:xfrm flipV="1">
            <a:off x="9150416" y="3891388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3" name="Linia 133"/>
          <p:cNvCxnSpPr/>
          <p:nvPr/>
        </p:nvCxnSpPr>
        <p:spPr>
          <a:xfrm flipV="1">
            <a:off x="8934860" y="4384058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4" name="Linia 134"/>
          <p:cNvCxnSpPr/>
          <p:nvPr/>
        </p:nvCxnSpPr>
        <p:spPr>
          <a:xfrm flipV="1">
            <a:off x="8642307" y="4846320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5" name="Linia 135"/>
          <p:cNvCxnSpPr/>
          <p:nvPr/>
        </p:nvCxnSpPr>
        <p:spPr>
          <a:xfrm flipV="1">
            <a:off x="8281648" y="5264128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6" name="Linia 136"/>
          <p:cNvCxnSpPr/>
          <p:nvPr/>
        </p:nvCxnSpPr>
        <p:spPr>
          <a:xfrm flipV="1">
            <a:off x="7863840" y="5624787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37" name="Element 137"/>
          <p:cNvSpPr/>
          <p:nvPr/>
        </p:nvSpPr>
        <p:spPr>
          <a:xfrm>
            <a:off x="6126480" y="310896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8" name="Element 138"/>
          <p:cNvSpPr/>
          <p:nvPr/>
        </p:nvSpPr>
        <p:spPr>
          <a:xfrm>
            <a:off x="5943600" y="374904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39" name="Element 139"/>
          <p:cNvSpPr/>
          <p:nvPr/>
        </p:nvSpPr>
        <p:spPr>
          <a:xfrm>
            <a:off x="7242048" y="312724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0" name="Element 140"/>
          <p:cNvSpPr/>
          <p:nvPr/>
        </p:nvSpPr>
        <p:spPr>
          <a:xfrm>
            <a:off x="7223760" y="3703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1 osoba</a:t>
            </a:r>
          </a:p>
        </p:txBody>
      </p:sp>
      <p:sp>
        <p:nvSpPr>
          <p:cNvPr id="141" name="Element 141"/>
          <p:cNvSpPr/>
          <p:nvPr/>
        </p:nvSpPr>
        <p:spPr>
          <a:xfrm>
            <a:off x="9034823" y="266950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2" name="Element 142"/>
          <p:cNvSpPr/>
          <p:nvPr/>
        </p:nvSpPr>
        <p:spPr>
          <a:xfrm>
            <a:off x="9034823" y="358498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3" name="Element 143"/>
          <p:cNvSpPr/>
          <p:nvPr/>
        </p:nvSpPr>
        <p:spPr>
          <a:xfrm>
            <a:off x="8412480" y="21031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2 osoby, ta sama odległość</a:t>
            </a:r>
          </a:p>
        </p:txBody>
      </p:sp>
      <p:sp>
        <p:nvSpPr>
          <p:cNvPr id="144" name="Element 144"/>
          <p:cNvSpPr/>
          <p:nvPr/>
        </p:nvSpPr>
        <p:spPr>
          <a:xfrm>
            <a:off x="6035040" y="5394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im dalej od źródła, tym mniej światła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1403-8815-D66C-6BC3-03F299D1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Produkt: odbicia i cienie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0CE74-D747-F57B-BF15-907D5004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Szkło odbija otoczenie</a:t>
            </a:r>
          </a:p>
          <a:p>
            <a:r>
              <a:rPr lang="pl-PL" dirty="0"/>
              <a:t>Metal pokazuje kształt źródła</a:t>
            </a:r>
          </a:p>
          <a:p>
            <a:r>
              <a:rPr lang="pl-PL" dirty="0"/>
              <a:t>Plastik wymaga kontroli refleksów</a:t>
            </a:r>
          </a:p>
          <a:p>
            <a:r>
              <a:rPr lang="pl-PL" dirty="0"/>
              <a:t>Cień może budować formę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767C-8350-DA20-E83C-0E6E2E4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6E7F4-764B-1F42-2CF6-35D220DA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2560320"/>
            <a:ext cx="914400" cy="210312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583680" y="2743200"/>
            <a:ext cx="73152" cy="1645920"/>
          </a:xfrm>
          <a:prstGeom prst="rect">
            <a:avLst/>
          </a:prstGeom>
          <a:solidFill>
            <a:srgbClr val="E3B18D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12648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szkło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22960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Gradient 106"/>
          <p:cNvSpPr/>
          <p:nvPr/>
        </p:nvSpPr>
        <p:spPr>
          <a:xfrm>
            <a:off x="8366760" y="2560320"/>
            <a:ext cx="822960" cy="2103120"/>
          </a:xfrm>
          <a:prstGeom prst="rect">
            <a:avLst/>
          </a:prstGeom>
          <a:gradFill>
            <a:gsLst>
              <a:gs pos="0">
                <a:srgbClr val="D5D8DC"/>
              </a:gs>
              <a:gs pos="100000">
                <a:srgbClr val="6E7378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595360" y="2560320"/>
            <a:ext cx="73152" cy="210312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04672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metal</a:t>
            </a:r>
          </a:p>
        </p:txBody>
      </p:sp>
      <p:sp>
        <p:nvSpPr>
          <p:cNvPr id="109" name="Element 109"/>
          <p:cNvSpPr/>
          <p:nvPr/>
        </p:nvSpPr>
        <p:spPr>
          <a:xfrm>
            <a:off x="1014984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241280" y="2560320"/>
            <a:ext cx="914400" cy="2103120"/>
          </a:xfrm>
          <a:prstGeom prst="round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96696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plastik</a:t>
            </a:r>
          </a:p>
        </p:txBody>
      </p:sp>
    </p:spTree>
    <p:extLst>
      <p:ext uri="{BB962C8B-B14F-4D97-AF65-F5344CB8AC3E}">
        <p14:creationId xmlns:p14="http://schemas.microsoft.com/office/powerpoint/2010/main" val="1926604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76612-AC0A-531B-C378-A4D0345C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Kąt światła przy produkcie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E69F6-AB71-3006-2D73-D4BB06A52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boczne = tekstura</a:t>
            </a:r>
          </a:p>
          <a:p>
            <a:r>
              <a:rPr lang="pl-PL" dirty="0"/>
              <a:t>Światło frontalne = mniej cieni</a:t>
            </a:r>
          </a:p>
          <a:p>
            <a:r>
              <a:rPr lang="pl-PL" dirty="0"/>
              <a:t>Światło z tyłu = kontur i głębia</a:t>
            </a:r>
          </a:p>
          <a:p>
            <a:r>
              <a:rPr lang="pl-PL" dirty="0"/>
              <a:t>Kąt dobieramy do materiału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EE00C-D62C-6037-98F8-03C5E661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788DB3-E8BB-7DC6-92D5-21033A1F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produkt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Boczne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Frontalne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Z tyłu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486412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Hero shot i storytelling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Jeden główny produkt</a:t>
            </a:r>
          </a:p>
          <a:p>
            <a:r>
              <a:rPr lang="pl-PL" dirty="0"/>
              <a:t>Hierarchia w kadrze</a:t>
            </a:r>
          </a:p>
          <a:p>
            <a:r>
              <a:rPr lang="pl-PL" dirty="0"/>
              <a:t>Rekwizyty z funkcją</a:t>
            </a:r>
          </a:p>
          <a:p>
            <a:r>
              <a:rPr lang="pl-PL" dirty="0"/>
              <a:t>Obraz ma coś komunikować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1737360"/>
            <a:ext cx="5120640" cy="329184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801624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6309360" y="283464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972312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6309360" y="393192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9174480" y="3383280"/>
            <a:ext cx="1097280" cy="109728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174480" y="45720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hero</a:t>
            </a:r>
          </a:p>
        </p:txBody>
      </p:sp>
      <p:sp>
        <p:nvSpPr>
          <p:cNvPr id="108" name="Element 108"/>
          <p:cNvSpPr/>
          <p:nvPr/>
        </p:nvSpPr>
        <p:spPr>
          <a:xfrm>
            <a:off x="7723632" y="2633472"/>
            <a:ext cx="402336" cy="402336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077456" y="4242816"/>
            <a:ext cx="292608" cy="292608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51663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hierarchia w kadrze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05D2-CF30-1E37-7F79-81754E633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Odstawianie produktu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200DB-4EA1-3CD7-3F60-38FBE45E4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Zaczynamy od pełnej sceny</a:t>
            </a:r>
          </a:p>
          <a:p>
            <a:r>
              <a:rPr lang="pl-PL" dirty="0"/>
              <a:t>Usuwamy jeden element</a:t>
            </a:r>
          </a:p>
          <a:p>
            <a:r>
              <a:rPr lang="pl-PL" dirty="0"/>
              <a:t>Porównujemy efekt</a:t>
            </a:r>
          </a:p>
          <a:p>
            <a:r>
              <a:rPr lang="pl-PL" dirty="0"/>
              <a:t>Zostawiamy tylko to, co potrzebne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9C6ACB-D737-9CB5-B6AD-3FFF8D16C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ED0100-109E-5BC8-94CC-44DA20ED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2103120"/>
            <a:ext cx="2194560" cy="219456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9144000" y="2103120"/>
            <a:ext cx="2194560" cy="219456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040880" y="29260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583680" y="246888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772400" y="2560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583680" y="3703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818120" y="3703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29260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9509760" y="246888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698480" y="2560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509760" y="3703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10744200" y="3703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cxnSp>
        <p:nvCxnSpPr>
          <p:cNvPr id="113" name="Strzałka 113"/>
          <p:cNvCxnSpPr/>
          <p:nvPr/>
        </p:nvCxnSpPr>
        <p:spPr>
          <a:xfrm>
            <a:off x="8503920" y="3200400"/>
            <a:ext cx="54864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6217920" y="44348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pełna scena</a:t>
            </a:r>
          </a:p>
        </p:txBody>
      </p:sp>
      <p:sp>
        <p:nvSpPr>
          <p:cNvPr id="115" name="Element 115"/>
          <p:cNvSpPr/>
          <p:nvPr/>
        </p:nvSpPr>
        <p:spPr>
          <a:xfrm>
            <a:off x="9144000" y="44348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tylko to, co potrzebne</a:t>
            </a:r>
          </a:p>
        </p:txBody>
      </p:sp>
    </p:spTree>
    <p:extLst>
      <p:ext uri="{BB962C8B-B14F-4D97-AF65-F5344CB8AC3E}">
        <p14:creationId xmlns:p14="http://schemas.microsoft.com/office/powerpoint/2010/main" val="2831860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22A3-F7B5-EB81-0C03-45920788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Światło naturalne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622E5-31E0-A96E-C024-73979D4F5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Słońce — key light</a:t>
            </a:r>
          </a:p>
          <a:p>
            <a:r>
              <a:rPr lang="pl-PL" dirty="0"/>
              <a:t>Niebo — fill light</a:t>
            </a:r>
          </a:p>
          <a:p>
            <a:r>
              <a:rPr lang="pl-PL" dirty="0"/>
              <a:t>Złota godzina (golden hour)</a:t>
            </a:r>
          </a:p>
          <a:p>
            <a:r>
              <a:rPr lang="pl-PL" dirty="0"/>
              <a:t>Chmury — naturalna dyfuzja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49C34-48EC-0B94-2492-C0E2BEB6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F30EF5-9C5F-6D07-0FFD-D7E6159EB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1554480"/>
            <a:ext cx="914400" cy="9144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54380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369716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9440" y="260604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335190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608076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7" name="Linia 107"/>
          <p:cNvCxnSpPr/>
          <p:nvPr/>
        </p:nvCxnSpPr>
        <p:spPr>
          <a:xfrm>
            <a:off x="6335190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8" name="Linia 108"/>
          <p:cNvCxnSpPr/>
          <p:nvPr/>
        </p:nvCxnSpPr>
        <p:spPr>
          <a:xfrm>
            <a:off x="6949440" y="114300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9" name="Linia 109"/>
          <p:cNvCxnSpPr/>
          <p:nvPr/>
        </p:nvCxnSpPr>
        <p:spPr>
          <a:xfrm flipV="1">
            <a:off x="7369716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6217920" y="30175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key light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326880" y="1554480"/>
            <a:ext cx="1737360" cy="1005840"/>
          </a:xfrm>
          <a:prstGeom prst="clou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326880" y="3611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dyfuzja</a:t>
            </a:r>
          </a:p>
        </p:txBody>
      </p:sp>
      <p:cxnSp>
        <p:nvCxnSpPr>
          <p:cNvPr id="113" name="Linia 113"/>
          <p:cNvCxnSpPr/>
          <p:nvPr/>
        </p:nvCxnSpPr>
        <p:spPr>
          <a:xfrm flipV="1">
            <a:off x="946404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10195560" y="2651760"/>
            <a:ext cx="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1065276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6217920" y="4754880"/>
            <a:ext cx="512064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8503920" y="416052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786384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fill light z nieba</a:t>
            </a:r>
          </a:p>
        </p:txBody>
      </p:sp>
      <p:sp>
        <p:nvSpPr>
          <p:cNvPr id="119" name="Gradient 119"/>
          <p:cNvSpPr/>
          <p:nvPr/>
        </p:nvSpPr>
        <p:spPr>
          <a:xfrm>
            <a:off x="6217920" y="5394960"/>
            <a:ext cx="5120640" cy="1828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6217920" y="56235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złota godzina</a:t>
            </a:r>
          </a:p>
        </p:txBody>
      </p:sp>
    </p:spTree>
    <p:extLst>
      <p:ext uri="{BB962C8B-B14F-4D97-AF65-F5344CB8AC3E}">
        <p14:creationId xmlns:p14="http://schemas.microsoft.com/office/powerpoint/2010/main" val="293073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667AF-D510-A228-1C18-B7709F66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Sprzęt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0EAC-BFE7-AA15-17E6-38E853AC3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Mini Pavo</a:t>
            </a:r>
          </a:p>
          <a:p>
            <a:r>
              <a:rPr lang="pl-PL" dirty="0"/>
              <a:t>MC Pro</a:t>
            </a:r>
          </a:p>
          <a:p>
            <a:r>
              <a:rPr lang="pl-PL" dirty="0"/>
              <a:t>Czekoladki / małe panele LED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19D980-F2F9-A529-8B9D-D04C82064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B8234A-3202-12E9-A648-BD92C8CA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743200"/>
            <a:ext cx="2560320" cy="36576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55080" y="2807208"/>
            <a:ext cx="2468880" cy="237744"/>
          </a:xfrm>
          <a:prstGeom prst="roundRect">
            <a:avLst/>
          </a:prstGeom>
          <a:solidFill>
            <a:srgbClr val="E3B18D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309360" y="3291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Mini Pavo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9144000" y="2286000"/>
            <a:ext cx="1280160" cy="9144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9281160" y="2423160"/>
            <a:ext cx="1005840" cy="640080"/>
          </a:xfrm>
          <a:prstGeom prst="rect">
            <a:avLst/>
          </a:prstGeom>
          <a:solidFill>
            <a:srgbClr val="E3B18D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9144000" y="32918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MC Pro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5836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2694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9552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49834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czekoladki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144000" y="43891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małe, mobilne, na baterie</a:t>
            </a:r>
          </a:p>
        </p:txBody>
      </p:sp>
    </p:spTree>
    <p:extLst>
      <p:ext uri="{BB962C8B-B14F-4D97-AF65-F5344CB8AC3E}">
        <p14:creationId xmlns:p14="http://schemas.microsoft.com/office/powerpoint/2010/main" val="2604455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68C7-8646-86F5-4BB3-FA09E620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Klasyczny 3-punktowy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CB4BC-8167-DFE2-C1AC-E2D8BBB82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— kształt i struktura</a:t>
            </a:r>
          </a:p>
          <a:p>
            <a:r>
              <a:rPr lang="pl-PL" dirty="0"/>
              <a:t>Fill — kontrola cieni</a:t>
            </a:r>
          </a:p>
          <a:p>
            <a:r>
              <a:rPr lang="pl-PL" dirty="0"/>
              <a:t>Rim — jasna obwódka z tyłu</a:t>
            </a:r>
          </a:p>
          <a:p>
            <a:r>
              <a:rPr lang="pl-PL" dirty="0"/>
              <a:t>Rim odkleja sylwetkę od tła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CA624-379F-A259-7E97-9BAC6DCB7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85D8B-8689-41C4-A01C-8EA642BD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80579" y="3541794"/>
            <a:ext cx="987919" cy="75546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22452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2976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12" name="Strzałka 112"/>
          <p:cNvCxnSpPr/>
          <p:nvPr/>
        </p:nvCxnSpPr>
        <p:spPr>
          <a:xfrm>
            <a:off x="8943262" y="3511567"/>
            <a:ext cx="1211642" cy="76524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3" name="Element 113"/>
          <p:cNvSpPr/>
          <p:nvPr/>
        </p:nvSpPr>
        <p:spPr>
          <a:xfrm>
            <a:off x="10168128" y="4224528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607040" y="4206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5" name="Strzałka 115"/>
          <p:cNvCxnSpPr/>
          <p:nvPr/>
        </p:nvCxnSpPr>
        <p:spPr>
          <a:xfrm flipV="1">
            <a:off x="8846244" y="2298809"/>
            <a:ext cx="512986" cy="666882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6" name="Element 116"/>
          <p:cNvSpPr/>
          <p:nvPr/>
        </p:nvSpPr>
        <p:spPr>
          <a:xfrm>
            <a:off x="9308592" y="19019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78408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Rim / back</a:t>
            </a:r>
          </a:p>
        </p:txBody>
      </p:sp>
    </p:spTree>
    <p:extLst>
      <p:ext uri="{BB962C8B-B14F-4D97-AF65-F5344CB8AC3E}">
        <p14:creationId xmlns:p14="http://schemas.microsoft.com/office/powerpoint/2010/main" val="2271283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9949-F01B-DD3C-EE56-87BCED881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Silhouette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F76F7-DF63-2D42-5CAE-97F22D80D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Jasna, świecąca obwódka</a:t>
            </a:r>
          </a:p>
          <a:p>
            <a:r>
              <a:rPr lang="pl-PL" dirty="0"/>
              <a:t>Ciemna postać</a:t>
            </a:r>
          </a:p>
          <a:p>
            <a:r>
              <a:rPr lang="pl-PL" dirty="0"/>
              <a:t>Zarysowane krawędzie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8F8BC7-2BF3-31C9-C943-9D6ECD61C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933C0-39ED-B5D8-28CE-2EA49282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 oświetlone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6217920" y="1417320"/>
            <a:ext cx="4754880" cy="457200"/>
          </a:xfrm>
          <a:prstGeom prst="rect">
            <a:avLst/>
          </a:prstGeom>
          <a:solidFill>
            <a:srgbClr val="E3B18D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Strzałka 110"/>
          <p:cNvCxnSpPr/>
          <p:nvPr/>
        </p:nvCxnSpPr>
        <p:spPr>
          <a:xfrm flipV="1">
            <a:off x="6546013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1" name="Element 111"/>
          <p:cNvSpPr/>
          <p:nvPr/>
        </p:nvSpPr>
        <p:spPr>
          <a:xfrm>
            <a:off x="619963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557784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cxnSp>
        <p:nvCxnSpPr>
          <p:cNvPr id="113" name="Strzałka 113"/>
          <p:cNvCxnSpPr/>
          <p:nvPr/>
        </p:nvCxnSpPr>
        <p:spPr>
          <a:xfrm>
            <a:off x="10300421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1058875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996696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sp>
        <p:nvSpPr>
          <p:cNvPr id="116" name="Element 116"/>
          <p:cNvSpPr/>
          <p:nvPr/>
        </p:nvSpPr>
        <p:spPr>
          <a:xfrm>
            <a:off x="5029200" y="306324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 na tło</a:t>
            </a:r>
          </a:p>
        </p:txBody>
      </p:sp>
      <p:sp>
        <p:nvSpPr>
          <p:cNvPr id="117" name="Element 117"/>
          <p:cNvSpPr/>
          <p:nvPr/>
        </p:nvSpPr>
        <p:spPr>
          <a:xfrm>
            <a:off x="9646920" y="37490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postać bez światła</a:t>
            </a:r>
          </a:p>
        </p:txBody>
      </p:sp>
    </p:spTree>
    <p:extLst>
      <p:ext uri="{BB962C8B-B14F-4D97-AF65-F5344CB8AC3E}">
        <p14:creationId xmlns:p14="http://schemas.microsoft.com/office/powerpoint/2010/main" val="2265442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F93DF-9464-1EBF-7BFD-B679DDA2E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Rembrandt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03A79-9CFB-91C2-B731-089A5C6FC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mocno z boku i z góry</a:t>
            </a:r>
          </a:p>
          <a:p>
            <a:r>
              <a:rPr lang="pl-PL" dirty="0"/>
              <a:t>Połowa twarzy w cieniu</a:t>
            </a:r>
          </a:p>
          <a:p>
            <a:r>
              <a:rPr lang="pl-PL" dirty="0"/>
              <a:t>Jasny trójkąt pod okiem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BD17D-2785-8D17-256F-DECF441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D46E0-CB2E-5CEF-BF44-7B85DC90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54251" y="3582800"/>
            <a:ext cx="1050149" cy="1050149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59028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6634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sp>
        <p:nvSpPr>
          <p:cNvPr id="112" name="Element 112"/>
          <p:cNvSpPr/>
          <p:nvPr/>
        </p:nvSpPr>
        <p:spPr>
          <a:xfrm>
            <a:off x="4754880" y="507492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~45° z boku i z góry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646920" y="31089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cień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178881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377440" cy="2103120"/>
          </a:xfrm>
          <a:prstGeom prst="triangle">
            <a:avLst/>
          </a:prstGeom>
          <a:noFill/>
          <a:ln w="381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7223760" y="2926080"/>
            <a:ext cx="5486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4800" b="1" dirty="0">
                <a:solidFill>
                  <a:srgbClr val="404040"/>
                </a:solidFill>
                <a:latin typeface="+mn-lt"/>
              </a:rPr>
              <a:t>!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10058400" y="2194560"/>
            <a:ext cx="0" cy="192024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 flipV="1">
            <a:off x="932688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1005840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058400" y="4114800"/>
            <a:ext cx="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9738360" y="1828800"/>
            <a:ext cx="640080" cy="457200"/>
          </a:xfrm>
          <a:prstGeom prst="round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784080" y="4663440"/>
            <a:ext cx="54864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statyw + obciążenie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309360" y="42976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uwaga na planie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Spójność wizualna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Powtarzalne światło</a:t>
            </a:r>
          </a:p>
          <a:p>
            <a:r>
              <a:rPr lang="pl-PL" dirty="0"/>
              <a:t>Stała kolorystyka</a:t>
            </a:r>
          </a:p>
          <a:p>
            <a:r>
              <a:rPr lang="pl-PL" dirty="0"/>
              <a:t>Podobna kompozycja</a:t>
            </a:r>
          </a:p>
          <a:p>
            <a:r>
              <a:rPr lang="pl-PL" dirty="0"/>
              <a:t>Rozpoznawalny styl marki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1737360"/>
            <a:ext cx="5120640" cy="32918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537960" y="205740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589520" y="219456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3600" b="1" dirty="0">
                <a:solidFill>
                  <a:srgbClr val="404040"/>
                </a:solidFill>
                <a:latin typeface="+mn-lt"/>
              </a:rPr>
              <a:t>Aa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492240" y="3291840"/>
            <a:ext cx="731520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60920" y="3291840"/>
            <a:ext cx="731520" cy="7315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8229600" y="3291840"/>
            <a:ext cx="731520" cy="73152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098280" y="3291840"/>
            <a:ext cx="731520" cy="731520"/>
          </a:xfrm>
          <a:prstGeom prst="rect">
            <a:avLst/>
          </a:prstGeom>
          <a:solidFill>
            <a:srgbClr val="FBF4EF"/>
          </a:solidFill>
          <a:ln w="127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3291840"/>
            <a:ext cx="731520" cy="73152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04120" y="224028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Linia 110"/>
          <p:cNvCxnSpPr/>
          <p:nvPr/>
        </p:nvCxnSpPr>
        <p:spPr>
          <a:xfrm>
            <a:off x="9509760" y="2468880"/>
            <a:ext cx="5486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11" name="Element 111"/>
          <p:cNvSpPr/>
          <p:nvPr/>
        </p:nvSpPr>
        <p:spPr>
          <a:xfrm>
            <a:off x="9418320" y="27432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8A8A8A"/>
                </a:solidFill>
                <a:latin typeface="+mn-lt"/>
              </a:rPr>
              <a:t>to samo światło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492240" y="4297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logo · font · paleta · światło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Kontrola ekspozycji</vt:lpstr>
      <vt:lpstr>Rodzaje światła</vt:lpstr>
      <vt:lpstr>Kierunek światła </vt:lpstr>
      <vt:lpstr> Soft light i hard light</vt:lpstr>
      <vt:lpstr>Modyfikatory</vt:lpstr>
      <vt:lpstr>Blenda</vt:lpstr>
      <vt:lpstr> Trzy źródła światła</vt:lpstr>
      <vt:lpstr>Najczęstsze błędy</vt:lpstr>
      <vt:lpstr>Praca z modelem</vt:lpstr>
      <vt:lpstr>Kontrast &amp; Negativ fill</vt:lpstr>
      <vt:lpstr>Jedna osoba i dwie osoby </vt:lpstr>
      <vt:lpstr> Produkt: odbicia i cienie </vt:lpstr>
      <vt:lpstr>Kąt światła przy produkcie </vt:lpstr>
      <vt:lpstr>Hero shot i storytelling&amp; Spójność wizualna </vt:lpstr>
      <vt:lpstr>Stopniowe odstawianie produktu &amp; Światło Wędrujące </vt:lpstr>
      <vt:lpstr>Rozumienie śwaitła naturalnego</vt:lpstr>
      <vt:lpstr>PowerPoint Presentation</vt:lpstr>
      <vt:lpstr> Klasyczny 3-punktowy (Key–Fill–Rim)</vt:lpstr>
      <vt:lpstr>Pełna Sylwetka (Silhouette)</vt:lpstr>
      <vt:lpstr>Rembrandt Lighting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192</cp:revision>
  <dcterms:created xsi:type="dcterms:W3CDTF">2026-10-22T11:13:38Z</dcterms:created>
  <dcterms:modified xsi:type="dcterms:W3CDTF">2026-10-22T18:42:24Z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